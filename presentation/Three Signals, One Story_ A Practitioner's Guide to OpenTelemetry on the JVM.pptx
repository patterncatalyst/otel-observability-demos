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5143500" cy="9144000"/>
  <p:embeddedFontLst>
    <p:embeddedFont>
      <p:font typeface="Roboto Mono"/>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E7236B-0D98-452A-BA4B-1F9DA05BC8B2}">
  <a:tblStyle styleId="{BAE7236B-0D98-452A-BA4B-1F9DA05BC8B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RobotoMono-bold.fntdata"/><Relationship Id="rId21" Type="http://schemas.openxmlformats.org/officeDocument/2006/relationships/slide" Target="slides/slide16.xml"/><Relationship Id="rId43" Type="http://schemas.openxmlformats.org/officeDocument/2006/relationships/font" Target="fonts/RobotoMono-regular.fntdata"/><Relationship Id="rId24" Type="http://schemas.openxmlformats.org/officeDocument/2006/relationships/slide" Target="slides/slide19.xml"/><Relationship Id="rId46" Type="http://schemas.openxmlformats.org/officeDocument/2006/relationships/font" Target="fonts/RobotoMono-boldItalic.fntdata"/><Relationship Id="rId23" Type="http://schemas.openxmlformats.org/officeDocument/2006/relationships/slide" Target="slides/slide18.xml"/><Relationship Id="rId45" Type="http://schemas.openxmlformats.org/officeDocument/2006/relationships/font" Target="fonts/RobotoMon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with the dots. The three signals — traces, metrics, logs — are the canonical taxonomy of observability. Most observability tooling treats them as separate problems. This talk argues they're one problem, and OpenTelemetry is the unification.</a:t>
            </a:r>
            <a:br>
              <a:rPr lang="en-US"/>
            </a:br>
            <a:br>
              <a:rPr lang="en-US"/>
            </a:br>
            <a:r>
              <a:rPr lang="en-US"/>
              <a:t>Quick intro: name, role, why I care about observability cost (not just observability).</a:t>
            </a:r>
            <a:br>
              <a:rPr lang="en-US"/>
            </a:br>
            <a:br>
              <a:rPr lang="en-US"/>
            </a:br>
            <a:r>
              <a:rPr lang="en-US"/>
              <a:t>Energy: warm, conversational. We have a lot to cover; don't open slowly.</a:t>
            </a:r>
            <a:br>
              <a:rPr lang="en-US"/>
            </a:br>
            <a:br>
              <a:rPr lang="en-US"/>
            </a:br>
            <a:r>
              <a:rPr lang="en-US"/>
              <a:t>Time check at this slide: 0:00 / 35 min.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columns: the problem, the pitch, the proof.</a:t>
            </a:r>
            <a:br>
              <a:rPr lang="en-US"/>
            </a:br>
            <a:br>
              <a:rPr lang="en-US"/>
            </a:br>
            <a:r>
              <a:rPr lang="en-US"/>
              <a:t>Don't read every bullet. Pick one from each column to anchor: "trace IDs don't reach the logs" (left) → "cross-signal correlation by trace_id" (middle) → "all three signals, one trace_id" (right). That's the throughline of the whole talk.</a:t>
            </a:r>
            <a:br>
              <a:rPr lang="en-US"/>
            </a:br>
            <a:br>
              <a:rPr lang="en-US"/>
            </a:br>
            <a:r>
              <a:rPr lang="en-US"/>
              <a:t>OpenTelemetry's promises are mostly true. The practitioner's question is: at what cost? That's what we'll measure.</a:t>
            </a:r>
            <a:br>
              <a:rPr lang="en-US"/>
            </a:br>
            <a:br>
              <a:rPr lang="en-US"/>
            </a:br>
            <a:r>
              <a:rPr lang="en-US"/>
              <a:t>[OPTIONAL: insert real-world story here — an outage you've seen where signals didn't correlate. 30s anecdote.]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History lesson</a:t>
            </a:r>
            <a:endParaRPr/>
          </a:p>
          <a:p>
            <a:pPr indent="-317500" lvl="0" marL="457200" rtl="0" algn="l">
              <a:spcBef>
                <a:spcPts val="0"/>
              </a:spcBef>
              <a:spcAft>
                <a:spcPts val="0"/>
              </a:spcAft>
              <a:buSzPts val="1400"/>
              <a:buAutoNum type="arabicPeriod"/>
            </a:pPr>
            <a:r>
              <a:rPr lang="en-US"/>
              <a:t>There’s no free lunch</a:t>
            </a:r>
            <a:endParaRPr/>
          </a:p>
          <a:p>
            <a:pPr indent="-317500" lvl="0" marL="457200" rtl="0" algn="l">
              <a:spcBef>
                <a:spcPts val="0"/>
              </a:spcBef>
              <a:spcAft>
                <a:spcPts val="0"/>
              </a:spcAft>
              <a:buSzPts val="1400"/>
              <a:buAutoNum type="arabicPeriod"/>
            </a:pPr>
            <a:r>
              <a:rPr lang="en-US"/>
              <a:t>All architecture decisions are least worst choice</a:t>
            </a:r>
            <a:endParaRPr/>
          </a:p>
          <a:p>
            <a:pPr indent="-317500" lvl="0" marL="457200" rtl="0" algn="l">
              <a:spcBef>
                <a:spcPts val="0"/>
              </a:spcBef>
              <a:spcAft>
                <a:spcPts val="0"/>
              </a:spcAft>
              <a:buSzPts val="1400"/>
              <a:buAutoNum type="arabicPeriod"/>
            </a:pPr>
            <a:r>
              <a:rPr lang="en-US"/>
              <a:t>There’s nothing we cannot make worse</a:t>
            </a:r>
            <a:endParaRPr/>
          </a:p>
          <a:p>
            <a:pPr indent="-317500" lvl="0" marL="457200" rtl="0" algn="l">
              <a:spcBef>
                <a:spcPts val="0"/>
              </a:spcBef>
              <a:spcAft>
                <a:spcPts val="0"/>
              </a:spcAft>
              <a:buSzPts val="1400"/>
              <a:buAutoNum type="arabicPeriod"/>
            </a:pPr>
            <a:r>
              <a:rPr lang="en-US"/>
              <a:t>All management is risk management</a:t>
            </a:r>
            <a:br>
              <a:rPr lang="en-US"/>
            </a:br>
            <a:br>
              <a:rPr lang="en-US"/>
            </a:br>
            <a:r>
              <a:rPr lang="en-US"/>
              <a:t>Time: ~2 min.</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Roadmap. Don't read all five — gesture down the list and call out: "this builds. We'll start with the foundation, the trace_id flowing through everything, and end somewhere most observability talks don't go: measuring what observability actually costs at startup."</a:t>
            </a:r>
            <a:br>
              <a:rPr lang="en-US"/>
            </a:br>
            <a:br>
              <a:rPr lang="en-US"/>
            </a:br>
            <a:r>
              <a:rPr lang="en-US"/>
              <a:t>Demos 01-04 are about correctness — making observability work. Demo 05 is about cost — what you pay for the work.</a:t>
            </a:r>
            <a:br>
              <a:rPr lang="en-US"/>
            </a:br>
            <a:br>
              <a:rPr lang="en-US"/>
            </a:br>
            <a:r>
              <a:rPr lang="en-US"/>
              <a:t>Reproducibility commitment: all five demos run on a laptop with podman. No cloud account, no credentials, no kubernetes cluster. The full Grafana/Tempo/Mimir/Loki/Collector stack is one container.</a:t>
            </a:r>
            <a:br>
              <a:rPr lang="en-US"/>
            </a:br>
            <a:br>
              <a:rPr lang="en-US"/>
            </a:br>
            <a:r>
              <a:rPr lang="en-US"/>
              <a:t>[OPTIONAL: show GitHub repo URL on screen briefly]</a:t>
            </a:r>
            <a:br>
              <a:rPr lang="en-US"/>
            </a:br>
            <a:br>
              <a:rPr lang="en-US"/>
            </a:br>
            <a:r>
              <a:rPr lang="en-US"/>
              <a:t>Time: ~3 min.</a:t>
            </a:r>
            <a:endParaRPr/>
          </a:p>
        </p:txBody>
      </p:sp>
      <p:sp>
        <p:nvSpPr>
          <p:cNvPr id="44" name="Google Shape;4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minutes here. Brief but make sure each color sticks — purple traces, amber metrics, cyan logs. These colors recur across the whole deck and on the dashboards we'll see in the demos.</a:t>
            </a:r>
            <a:br>
              <a:rPr lang="en-US"/>
            </a:br>
            <a:br>
              <a:rPr lang="en-US"/>
            </a:br>
            <a:r>
              <a:rPr lang="en-US"/>
              <a:t>Each signal has a strength and a failure mode:</a:t>
            </a:r>
            <a:br>
              <a:rPr lang="en-US"/>
            </a:br>
            <a:r>
              <a:rPr lang="en-US"/>
              <a:t>- Traces are amazing for finding bottlenecks but you can't keep all of them. Sampling is mandatory.</a:t>
            </a:r>
            <a:br>
              <a:rPr lang="en-US"/>
            </a:br>
            <a:r>
              <a:rPr lang="en-US"/>
              <a:t>- Metrics are cheap and great for alerts, but adding the wrong label to a metric can take down your TSDB. Demo 02 is the cardinality bomb.</a:t>
            </a:r>
            <a:br>
              <a:rPr lang="en-US"/>
            </a:br>
            <a:r>
              <a:rPr lang="en-US"/>
              <a:t>- Logs have the highest fidelity but the volume can crush your storage budget. </a:t>
            </a:r>
            <a:br>
              <a:rPr lang="en-US"/>
            </a:br>
            <a:br>
              <a:rPr lang="en-US"/>
            </a:br>
            <a:r>
              <a:rPr lang="en-US"/>
              <a:t>What we want is the strengths of all three correlated by one trace_id, with the cost trade-offs explicit.</a:t>
            </a:r>
            <a:br>
              <a:rPr lang="en-US"/>
            </a:br>
            <a:br>
              <a:rPr lang="en-US"/>
            </a:br>
            <a:r>
              <a:rPr lang="en-US"/>
              <a:t>Time: ~5 min.</a:t>
            </a:r>
            <a:endParaRPr/>
          </a:p>
        </p:txBody>
      </p:sp>
      <p:sp>
        <p:nvSpPr>
          <p:cNvPr id="79" name="Google Shape;7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b1bb68cb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g3db1bb68cb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left to right. The application doesn't change shape; it emits OTLP. From there, instrumentation choices vary: a Java agent that rewrites bytecode at startup, or an SDK linked into the app at compile time.</a:t>
            </a:r>
            <a:br>
              <a:rPr lang="en-US"/>
            </a:br>
            <a:br>
              <a:rPr lang="en-US"/>
            </a:br>
            <a:r>
              <a:rPr lang="en-US"/>
              <a:t>Both produce OTLP. OTLP is HTTP/protobuf or gRPC, port 4318 by convention. Protocol-level standardization is what makes vendor neutrality real — you can swap Tempo for Jaeger, Mimir for Cortex, Loki for Elasticsearch, without touching the application.</a:t>
            </a:r>
            <a:br>
              <a:rPr lang="en-US"/>
            </a:br>
            <a:br>
              <a:rPr lang="en-US"/>
            </a:br>
            <a:r>
              <a:rPr lang="en-US"/>
              <a:t>The Collector is the underrated piece. It's where you do filtering, sampling, aggregation, redaction, routing, format translation. Demo 02 and Demo 03 both live in the Collector.</a:t>
            </a:r>
            <a:br>
              <a:rPr lang="en-US"/>
            </a:br>
            <a:br>
              <a:rPr lang="en-US"/>
            </a:br>
            <a:r>
              <a:rPr lang="en-US"/>
              <a:t>Important context for the rest of the talk: as of November 2025, Spring Boot 4 ships a native OpenTelemetry starter. You no longer need the Java agent for Spring Boot apps — there's a real SDK alternative now. Demo 05 measures both.</a:t>
            </a:r>
            <a:br>
              <a:rPr lang="en-US"/>
            </a:br>
            <a:br>
              <a:rPr lang="en-US"/>
            </a:br>
            <a:r>
              <a:rPr lang="en-US"/>
              <a:t>Time: ~7 min.</a:t>
            </a:r>
            <a:endParaRPr/>
          </a:p>
        </p:txBody>
      </p:sp>
      <p:sp>
        <p:nvSpPr>
          <p:cNvPr id="114" name="Google Shape;114;g3db1bb68cb5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b1bb68cb5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g3db1bb68cb5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Three columns. Read the headers first — auto, manual, hybrid — and let the audience scan the pros and cons before you commit to a stance.</a:t>
            </a:r>
            <a:endParaRPr/>
          </a:p>
          <a:p>
            <a:pPr indent="0" lvl="0" marL="0" rtl="0" algn="l">
              <a:lnSpc>
                <a:spcPct val="115000"/>
              </a:lnSpc>
              <a:spcBef>
                <a:spcPts val="1200"/>
              </a:spcBef>
              <a:spcAft>
                <a:spcPts val="0"/>
              </a:spcAft>
              <a:buClr>
                <a:schemeClr val="dk1"/>
              </a:buClr>
              <a:buSzPts val="1100"/>
              <a:buFont typeface="Arial"/>
              <a:buNone/>
            </a:pPr>
            <a:r>
              <a:rPr lang="en-US"/>
              <a:t>Auto-instrumentation is the OpenTelemetry javaagent. One JVM flag, around 120 libraries instrumented automatically — Tomcat, Spring MVC, Hibernate, Kafka, JDBC. The trade-off is a measurable startup cost. We'll quantify it for one specific workload in Demo 05.</a:t>
            </a:r>
            <a:endParaRPr/>
          </a:p>
          <a:p>
            <a:pPr indent="0" lvl="0" marL="0" rtl="0" algn="l">
              <a:lnSpc>
                <a:spcPct val="115000"/>
              </a:lnSpc>
              <a:spcBef>
                <a:spcPts val="1200"/>
              </a:spcBef>
              <a:spcAft>
                <a:spcPts val="0"/>
              </a:spcAft>
              <a:buClr>
                <a:schemeClr val="dk1"/>
              </a:buClr>
              <a:buSzPts val="1100"/>
              <a:buFont typeface="Arial"/>
              <a:buNone/>
            </a:pPr>
            <a:r>
              <a:rPr lang="en-US"/>
              <a:t>Manual instrumentation gives you full control. You write the spans, you name them, you pick the attributes. Best for business-domain logic where the framework can't read your intent. Cost is ownership — every span is a thing you maintain.</a:t>
            </a:r>
            <a:endParaRPr/>
          </a:p>
          <a:p>
            <a:pPr indent="0" lvl="0" marL="0" rtl="0" algn="l">
              <a:lnSpc>
                <a:spcPct val="115000"/>
              </a:lnSpc>
              <a:spcBef>
                <a:spcPts val="1200"/>
              </a:spcBef>
              <a:spcAft>
                <a:spcPts val="0"/>
              </a:spcAft>
              <a:buClr>
                <a:schemeClr val="dk1"/>
              </a:buClr>
              <a:buSzPts val="1100"/>
              <a:buFont typeface="Arial"/>
              <a:buNone/>
            </a:pPr>
            <a:r>
              <a:rPr lang="en-US"/>
              <a:t>Hybrid is what most production teams converge on: agent for the framework seams, manual for the domain logic. The diagram calls out Micrometer Observation as Spring Boot's specific glue layer; Quarkus has an equivalent built into its extensions. Two systems, more configuration, but it's where the value is.</a:t>
            </a:r>
            <a:endParaRPr/>
          </a:p>
          <a:p>
            <a:pPr indent="0" lvl="0" marL="0" rtl="0" algn="l">
              <a:lnSpc>
                <a:spcPct val="115000"/>
              </a:lnSpc>
              <a:spcBef>
                <a:spcPts val="1200"/>
              </a:spcBef>
              <a:spcAft>
                <a:spcPts val="0"/>
              </a:spcAft>
              <a:buClr>
                <a:schemeClr val="dk1"/>
              </a:buClr>
              <a:buSzPts val="1100"/>
              <a:buFont typeface="Arial"/>
              <a:buNone/>
            </a:pPr>
            <a:r>
              <a:rPr lang="en-US"/>
              <a:t>Time: ~6 min (1 min for this slide).</a:t>
            </a:r>
            <a:endParaRPr/>
          </a:p>
          <a:p>
            <a:pPr indent="0" lvl="0" marL="0" rtl="0" algn="l">
              <a:spcBef>
                <a:spcPts val="1200"/>
              </a:spcBef>
              <a:spcAft>
                <a:spcPts val="0"/>
              </a:spcAft>
              <a:buNone/>
            </a:pPr>
            <a:r>
              <a:t/>
            </a:r>
            <a:endParaRPr/>
          </a:p>
        </p:txBody>
      </p:sp>
      <p:sp>
        <p:nvSpPr>
          <p:cNvPr id="126" name="Google Shape;126;g3db1bb68cb5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Stack overview. Grafana's `otel-lgtm` image is the underrated hero of this talk — Grafana plus Loki, Grafana plus Tempo, Grafana plus Mimir, all bundled. One container, ~600 MB.</a:t>
            </a:r>
            <a:br>
              <a:rPr lang="en-US"/>
            </a:br>
            <a:br>
              <a:rPr lang="en-US"/>
            </a:br>
            <a:r>
              <a:rPr lang="en-US"/>
              <a:t>Each demo runs in its own compose file with its own port range (3005, 3006, etc.) so I can leave one demo running while bringing up the next.</a:t>
            </a:r>
            <a:br>
              <a:rPr lang="en-US"/>
            </a:br>
            <a:br>
              <a:rPr lang="en-US"/>
            </a:br>
            <a:r>
              <a:rPr lang="en-US"/>
              <a:t>If anyone in the audience wants to follow along: clone the repo, `cd demo-01-three-signals`, `./demo.sh`. That's the entire on-ramp.</a:t>
            </a:r>
            <a:br>
              <a:rPr lang="en-US"/>
            </a:br>
            <a:br>
              <a:rPr lang="en-US"/>
            </a:br>
            <a:r>
              <a:rPr lang="en-US"/>
              <a:t>[SCREENSHOT placeholder: Grafana home page with the three datasources visible — Tempo, Mimir, Loki — to anchor the visual before we go live.]</a:t>
            </a:r>
            <a:br>
              <a:rPr lang="en-US"/>
            </a:br>
            <a:br>
              <a:rPr lang="en-US"/>
            </a:br>
            <a:r>
              <a:rPr lang="en-US"/>
              <a:t>Time: ~9 min. (Foundation done. Now the demos.)</a:t>
            </a:r>
            <a:endParaRPr/>
          </a:p>
        </p:txBody>
      </p:sp>
      <p:sp>
        <p:nvSpPr>
          <p:cNvPr id="136" name="Google Shape;13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b1bb68cb5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g3db1bb68cb5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Quick orientation. Read this diagram outside-in.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Outer container is podman — your laptop's container runtime. Two things run inside it: your Spring Boot application with the OpenTelemetry agent attached, and an </a:t>
            </a:r>
            <a:r>
              <a:rPr lang="en-US" sz="1100">
                <a:solidFill>
                  <a:srgbClr val="188038"/>
                </a:solidFill>
                <a:latin typeface="Roboto Mono"/>
                <a:ea typeface="Roboto Mono"/>
                <a:cs typeface="Roboto Mono"/>
                <a:sym typeface="Roboto Mono"/>
              </a:rPr>
              <a:t>otel-lgtm</a:t>
            </a:r>
            <a:r>
              <a:rPr lang="en-US" sz="1100">
                <a:latin typeface="Arial"/>
                <a:ea typeface="Arial"/>
                <a:cs typeface="Arial"/>
                <a:sym typeface="Arial"/>
              </a:rPr>
              <a:t> container that bundles everything else.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Inside </a:t>
            </a:r>
            <a:r>
              <a:rPr lang="en-US" sz="1100">
                <a:solidFill>
                  <a:srgbClr val="188038"/>
                </a:solidFill>
                <a:latin typeface="Roboto Mono"/>
                <a:ea typeface="Roboto Mono"/>
                <a:cs typeface="Roboto Mono"/>
                <a:sym typeface="Roboto Mono"/>
              </a:rPr>
              <a:t>otel-lgtm</a:t>
            </a:r>
            <a:r>
              <a:rPr lang="en-US" sz="1100">
                <a:latin typeface="Arial"/>
                <a:ea typeface="Arial"/>
                <a:cs typeface="Arial"/>
                <a:sym typeface="Arial"/>
              </a:rPr>
              <a:t>: an OpenTelemetry Collector with receivers, processors, and exporters. That's the box where Demos 02 and 03 do their work — cardinality stripping, tail sampling, and policy decisions all live in the Collector. Behind it: three signal-specific backends — Mimir for metrics, Loki for logs, Tempo for traces. In front of all of them: Grafana, with datasources and dashboards already provisioned, and the cross-signal links you saw in Demo 01.</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single most important point of this diagram: Grafana, three backends, Collector — that's </a:t>
            </a:r>
            <a:r>
              <a:rPr i="1" lang="en-US" sz="1100">
                <a:latin typeface="Arial"/>
                <a:ea typeface="Arial"/>
                <a:cs typeface="Arial"/>
                <a:sym typeface="Arial"/>
              </a:rPr>
              <a:t>one container.</a:t>
            </a: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docker.io/grafana/otel-lgtm:0.8.1</a:t>
            </a:r>
            <a:r>
              <a:rPr lang="en-US" sz="1100">
                <a:latin typeface="Arial"/>
                <a:ea typeface="Arial"/>
                <a:cs typeface="Arial"/>
                <a:sym typeface="Arial"/>
              </a:rPr>
              <a:t>. About 600 megabytes. Pull it once, run any demo.</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right-side panel has the access URLs and ports for when we go live.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Time: ~9 min (~1 min for this slide; foundation done).</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63" name="Google Shape;163;g3db1bb68cb5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Setup for Demo 01. The simplest demo, but it's the foundation everything else builds on.</a:t>
            </a:r>
            <a:br>
              <a:rPr lang="en-US"/>
            </a:br>
            <a:br>
              <a:rPr lang="en-US"/>
            </a:br>
            <a:r>
              <a:rPr lang="en-US"/>
              <a:t>Key concept: trace_id is a 128-bit identifier. The agent generates it for the inbound HTTP request and propagates it down through the call stack. Logback's MDC picks it up. Micrometer attaches it to metric exemplars.</a:t>
            </a:r>
            <a:br>
              <a:rPr lang="en-US"/>
            </a:br>
            <a:br>
              <a:rPr lang="en-US"/>
            </a:br>
            <a:r>
              <a:rPr lang="en-US"/>
              <a:t>What you're going to see: I hit the service with a single curl. Then in Grafana I find a slow trace in Tempo. From the trace, I jump to the logs for the same trace_id with one click. From the logs, I jump to a metric chart showing the same request's latency.</a:t>
            </a:r>
            <a:br>
              <a:rPr lang="en-US"/>
            </a:br>
            <a:br>
              <a:rPr lang="en-US"/>
            </a:br>
            <a:r>
              <a:rPr lang="en-US"/>
              <a:t>If this works, we have a unified observability platform. If it doesn't, we're back to grep across servers.</a:t>
            </a:r>
            <a:br>
              <a:rPr lang="en-US"/>
            </a:br>
            <a:br>
              <a:rPr lang="en-US"/>
            </a:br>
            <a:r>
              <a:rPr lang="en-US"/>
              <a:t>Time: ~10 min.</a:t>
            </a:r>
            <a:endParaRPr/>
          </a:p>
        </p:txBody>
      </p:sp>
      <p:sp>
        <p:nvSpPr>
          <p:cNvPr id="173" name="Google Shape;17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db1bb68cb5_0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3db1bb68cb5_0_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Setup for Demo 01. The simplest demo, but it's the foundation everything else builds on.</a:t>
            </a:r>
            <a:br>
              <a:rPr lang="en-US"/>
            </a:br>
            <a:br>
              <a:rPr lang="en-US"/>
            </a:br>
            <a:r>
              <a:rPr lang="en-US"/>
              <a:t>Key concept: trace_id is a 128-bit identifier. The agent generates it for the inbound HTTP request and propagates it down through the call stack. Logback's MDC picks it up. Micrometer attaches it to metric exemplars.</a:t>
            </a:r>
            <a:br>
              <a:rPr lang="en-US"/>
            </a:br>
            <a:br>
              <a:rPr lang="en-US"/>
            </a:br>
            <a:r>
              <a:rPr lang="en-US"/>
              <a:t>What you're going to see: I hit the service with a single curl. Then in Grafana I find a slow trace in Tempo. From the trace, I jump to the logs for the same trace_id with one click. From the logs, I jump to a metric chart showing the same request's latency.</a:t>
            </a:r>
            <a:br>
              <a:rPr lang="en-US"/>
            </a:br>
            <a:br>
              <a:rPr lang="en-US"/>
            </a:br>
            <a:r>
              <a:rPr lang="en-US"/>
              <a:t>If this works, we have a unified observability platform. If it doesn't, we're back to grep across servers.</a:t>
            </a:r>
            <a:br>
              <a:rPr lang="en-US"/>
            </a:br>
            <a:br>
              <a:rPr lang="en-US"/>
            </a:br>
            <a:r>
              <a:rPr lang="en-US"/>
              <a:t>Time: ~10 min.</a:t>
            </a:r>
            <a:endParaRPr/>
          </a:p>
        </p:txBody>
      </p:sp>
      <p:sp>
        <p:nvSpPr>
          <p:cNvPr id="185" name="Google Shape;185;g3db1bb68cb5_0_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DEMO. Estimate: 4 minutes.</a:t>
            </a:r>
            <a:br>
              <a:rPr lang="en-US"/>
            </a:br>
            <a:br>
              <a:rPr lang="en-US"/>
            </a:br>
            <a:r>
              <a:rPr lang="en-US"/>
              <a:t>Demo flow:</a:t>
            </a:r>
            <a:br>
              <a:rPr lang="en-US"/>
            </a:br>
            <a:r>
              <a:rPr lang="en-US"/>
              <a:t>1. `./demo.sh` brings up the service + lgtm + Collector. Wait for green checkmarks.</a:t>
            </a:r>
            <a:br>
              <a:rPr lang="en-US"/>
            </a:br>
            <a:r>
              <a:rPr lang="en-US"/>
              <a:t>2. Hit `/api/hello` 3-4 times in the terminal. Show response.</a:t>
            </a:r>
            <a:br>
              <a:rPr lang="en-US"/>
            </a:br>
            <a:r>
              <a:rPr lang="en-US"/>
              <a:t>3. Open Grafana (localhost:3001). Show the dashboard.</a:t>
            </a:r>
            <a:br>
              <a:rPr lang="en-US"/>
            </a:br>
            <a:r>
              <a:rPr lang="en-US"/>
              <a:t>4. Pick a trace in Tempo. Show the span tree. Highlight trace_id.</a:t>
            </a:r>
            <a:br>
              <a:rPr lang="en-US"/>
            </a:br>
            <a:r>
              <a:rPr lang="en-US"/>
              <a:t>5. Click "Logs for this trace" → Loki shows correlated log lines.</a:t>
            </a:r>
            <a:br>
              <a:rPr lang="en-US"/>
            </a:br>
            <a:r>
              <a:rPr lang="en-US"/>
              <a:t>6. Click on a metric exemplar dot → jumps back to the trace.</a:t>
            </a:r>
            <a:br>
              <a:rPr lang="en-US"/>
            </a:br>
            <a:br>
              <a:rPr lang="en-US"/>
            </a:br>
            <a:r>
              <a:rPr lang="en-US"/>
              <a:t>If something fails:</a:t>
            </a:r>
            <a:br>
              <a:rPr lang="en-US"/>
            </a:br>
            <a:r>
              <a:rPr lang="en-US"/>
              <a:t>- Service didn't come up: `podman logs demo01-app | tail -30`</a:t>
            </a:r>
            <a:br>
              <a:rPr lang="en-US"/>
            </a:br>
            <a:r>
              <a:rPr lang="en-US"/>
              <a:t>- Grafana datasource red: wait 60s, refresh; provisioning is async</a:t>
            </a:r>
            <a:br>
              <a:rPr lang="en-US"/>
            </a:br>
            <a:r>
              <a:rPr lang="en-US"/>
              <a:t>- No traces yet: send 5 more requests, the Collector batches</a:t>
            </a:r>
            <a:br>
              <a:rPr lang="en-US"/>
            </a:br>
            <a:br>
              <a:rPr lang="en-US"/>
            </a:br>
            <a:r>
              <a:rPr lang="en-US"/>
              <a:t>Fallback: pre-recorded screencap on USB stick if everything is on fire.</a:t>
            </a:r>
            <a:br>
              <a:rPr lang="en-US"/>
            </a:br>
            <a:br>
              <a:rPr lang="en-US"/>
            </a:br>
            <a:r>
              <a:rPr lang="en-US"/>
              <a:t>[SCREENSHOT placeholder: Grafana trace view with logs panel below — backup in case the live demo fails.]</a:t>
            </a:r>
            <a:endParaRPr/>
          </a:p>
        </p:txBody>
      </p:sp>
      <p:sp>
        <p:nvSpPr>
          <p:cNvPr id="196" name="Google Shape;19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After the live demo, take 30 seconds here to anchor the takeaway: correlation is a *platform* property. You can't bolt it on after an incident.</a:t>
            </a:r>
            <a:br>
              <a:rPr lang="en-US"/>
            </a:br>
            <a:br>
              <a:rPr lang="en-US"/>
            </a:br>
            <a:r>
              <a:rPr lang="en-US"/>
              <a:t>Foreshadow Demo 05: the agent that made all this work has a runtime cost we'll measure later.</a:t>
            </a:r>
            <a:br>
              <a:rPr lang="en-US"/>
            </a:br>
            <a:br>
              <a:rPr lang="en-US"/>
            </a:br>
            <a:r>
              <a:rPr lang="en-US"/>
              <a:t>Foreshadow Demos 02 and 03: the Collector that we just glossed over is where the next two demos live.</a:t>
            </a:r>
            <a:br>
              <a:rPr lang="en-US"/>
            </a:br>
            <a:br>
              <a:rPr lang="en-US"/>
            </a:br>
            <a:r>
              <a:rPr lang="en-US"/>
              <a:t>Time: ~14 min.</a:t>
            </a:r>
            <a:endParaRPr/>
          </a:p>
        </p:txBody>
      </p:sp>
      <p:sp>
        <p:nvSpPr>
          <p:cNvPr id="204" name="Google Shape;20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b1bb68cb5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g3db1bb68cb5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Question I get every time I give this talk: "But we already use Prometheus — does OpenTelemetry replace it?" Short answer: no. Long answer is this diagram.</a:t>
            </a:r>
            <a:endParaRPr/>
          </a:p>
          <a:p>
            <a:pPr indent="0" lvl="0" marL="0" rtl="0" algn="l">
              <a:lnSpc>
                <a:spcPct val="115000"/>
              </a:lnSpc>
              <a:spcBef>
                <a:spcPts val="1200"/>
              </a:spcBef>
              <a:spcAft>
                <a:spcPts val="0"/>
              </a:spcAft>
              <a:buClr>
                <a:schemeClr val="dk1"/>
              </a:buClr>
              <a:buSzPts val="1100"/>
              <a:buFont typeface="Arial"/>
              <a:buNone/>
            </a:pPr>
            <a:r>
              <a:rPr lang="en-US"/>
              <a:t>Prometheus is a pull-based time-series database with a battle-tested query language and a model that fits single-zone deployments well. It's also cardinality-bounded, which Demo 02 in a moment makes very real. Most teams have years of PromQL muscle memory and dashboards built on it.</a:t>
            </a:r>
            <a:endParaRPr/>
          </a:p>
          <a:p>
            <a:pPr indent="0" lvl="0" marL="0" rtl="0" algn="l">
              <a:lnSpc>
                <a:spcPct val="115000"/>
              </a:lnSpc>
              <a:spcBef>
                <a:spcPts val="1200"/>
              </a:spcBef>
              <a:spcAft>
                <a:spcPts val="0"/>
              </a:spcAft>
              <a:buClr>
                <a:schemeClr val="dk1"/>
              </a:buClr>
              <a:buSzPts val="1100"/>
              <a:buFont typeface="Arial"/>
              <a:buNone/>
            </a:pPr>
            <a:r>
              <a:rPr lang="en-US"/>
              <a:t>OpenTelemetry is push-based via OTLP, multi-signal — metrics, logs, and traces — vendor-neutral, with semantic conventions that travel across services. Different model, different strengths.</a:t>
            </a:r>
            <a:endParaRPr/>
          </a:p>
          <a:p>
            <a:pPr indent="0" lvl="0" marL="0" rtl="0" algn="l">
              <a:lnSpc>
                <a:spcPct val="115000"/>
              </a:lnSpc>
              <a:spcBef>
                <a:spcPts val="1200"/>
              </a:spcBef>
              <a:spcAft>
                <a:spcPts val="0"/>
              </a:spcAft>
              <a:buClr>
                <a:schemeClr val="dk1"/>
              </a:buClr>
              <a:buSzPts val="1100"/>
              <a:buFont typeface="Arial"/>
              <a:buNone/>
            </a:pPr>
            <a:r>
              <a:rPr lang="en-US"/>
              <a:t>The OTel Collector is the bridge. It can scrape your existing Prometheus endpoints and translate to OTLP, or accept OTLP and "remote_write" ("write metrics out to a Prometheus-compatible storage backend") to a Prometheus-compatible TSDB. Both directions work.</a:t>
            </a:r>
            <a:endParaRPr/>
          </a:p>
          <a:p>
            <a:pPr indent="0" lvl="0" marL="0" rtl="0" algn="l">
              <a:lnSpc>
                <a:spcPct val="115000"/>
              </a:lnSpc>
              <a:spcBef>
                <a:spcPts val="1200"/>
              </a:spcBef>
              <a:spcAft>
                <a:spcPts val="0"/>
              </a:spcAft>
              <a:buClr>
                <a:schemeClr val="dk1"/>
              </a:buClr>
              <a:buSzPts val="1100"/>
              <a:buFont typeface="Arial"/>
              <a:buNone/>
            </a:pPr>
            <a:r>
              <a:rPr lang="en-US"/>
              <a:t>The right framing isn't "OTel vs Prometheus" — it's AND, not OR. Most production deployments run both. The Collector lets them coexist.</a:t>
            </a:r>
            <a:endParaRPr/>
          </a:p>
          <a:p>
            <a:pPr indent="0" lvl="0" marL="0" rtl="0" algn="l">
              <a:lnSpc>
                <a:spcPct val="115000"/>
              </a:lnSpc>
              <a:spcBef>
                <a:spcPts val="1200"/>
              </a:spcBef>
              <a:spcAft>
                <a:spcPts val="0"/>
              </a:spcAft>
              <a:buClr>
                <a:schemeClr val="dk1"/>
              </a:buClr>
              <a:buSzPts val="1100"/>
              <a:buFont typeface="Arial"/>
              <a:buNone/>
            </a:pPr>
            <a:r>
              <a:rPr lang="en-US"/>
              <a:t>Time: ~13 min (~1 min for this slide).</a:t>
            </a:r>
            <a:endParaRPr/>
          </a:p>
          <a:p>
            <a:pPr indent="0" lvl="0" marL="0" rtl="0" algn="l">
              <a:spcBef>
                <a:spcPts val="1200"/>
              </a:spcBef>
              <a:spcAft>
                <a:spcPts val="0"/>
              </a:spcAft>
              <a:buNone/>
            </a:pPr>
            <a:r>
              <a:t/>
            </a:r>
            <a:endParaRPr/>
          </a:p>
        </p:txBody>
      </p:sp>
      <p:sp>
        <p:nvSpPr>
          <p:cNvPr id="216" name="Google Shape;216;g3db1bb68cb5_0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02 setup. The trap: you have a metric `http_requests_total`. You add a label `user_id` because it sounded useful in standup. Now your metric has one time series per user. Active users? That's your series count. TSDB falls over at 10M series; many fall over at 1M.</a:t>
            </a:r>
            <a:br>
              <a:rPr lang="en-US"/>
            </a:br>
            <a:br>
              <a:rPr lang="en-US"/>
            </a:br>
            <a:r>
              <a:rPr lang="en-US"/>
              <a:t>What we'll see live: an app that emits a metric with bounded labels (~100 series). Then we flip a feature flag that adds user_id as a label. Watch series count climb in real time.</a:t>
            </a:r>
            <a:br>
              <a:rPr lang="en-US"/>
            </a:br>
            <a:br>
              <a:rPr lang="en-US"/>
            </a:br>
            <a:r>
              <a:rPr lang="en-US"/>
              <a:t>Then we watch the Collector's `transform` processor strip the offending label before it reaches Mimir. Same problem, fixed at the right architectural layer.</a:t>
            </a:r>
            <a:br>
              <a:rPr lang="en-US"/>
            </a:br>
            <a:br>
              <a:rPr lang="en-US"/>
            </a:br>
            <a:r>
              <a:rPr lang="en-US"/>
              <a:t>Time: ~14 min.</a:t>
            </a:r>
            <a:endParaRPr/>
          </a:p>
        </p:txBody>
      </p:sp>
      <p:sp>
        <p:nvSpPr>
          <p:cNvPr id="225" name="Google Shape;22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DEMO. Estimate: 3-4 minutes.</a:t>
            </a:r>
            <a:br>
              <a:rPr lang="en-US"/>
            </a:br>
            <a:br>
              <a:rPr lang="en-US"/>
            </a:br>
            <a:r>
              <a:rPr lang="en-US"/>
              <a:t>Demo flow:</a:t>
            </a:r>
            <a:br>
              <a:rPr lang="en-US"/>
            </a:br>
            <a:r>
              <a:rPr lang="en-US"/>
              <a:t>1. `./demo.sh` brings up the stack and starts low-card load (100 unique requests).</a:t>
            </a:r>
            <a:br>
              <a:rPr lang="en-US"/>
            </a:br>
            <a:r>
              <a:rPr lang="en-US"/>
              <a:t>2. Show Mimir's series count metric: ~100 series. Stable.</a:t>
            </a:r>
            <a:br>
              <a:rPr lang="en-US"/>
            </a:br>
            <a:r>
              <a:rPr lang="en-US"/>
              <a:t>3. Send a `POST /toggle-user-label` to flip the feature flag.</a:t>
            </a:r>
            <a:br>
              <a:rPr lang="en-US"/>
            </a:br>
            <a:r>
              <a:rPr lang="en-US"/>
              <a:t>4. Send 10,000 requests with unique user IDs. Watch series count climb.</a:t>
            </a:r>
            <a:br>
              <a:rPr lang="en-US"/>
            </a:br>
            <a:r>
              <a:rPr lang="en-US"/>
              <a:t>5. Mimir starts complaining about scrape limits.</a:t>
            </a:r>
            <a:br>
              <a:rPr lang="en-US"/>
            </a:br>
            <a:r>
              <a:rPr lang="en-US"/>
              <a:t>6. Apply the Collector config that strips `user_id` label. Reload.</a:t>
            </a:r>
            <a:br>
              <a:rPr lang="en-US"/>
            </a:br>
            <a:r>
              <a:rPr lang="en-US"/>
              <a:t>7. Series count plateaus. Crisis averted.</a:t>
            </a:r>
            <a:br>
              <a:rPr lang="en-US"/>
            </a:br>
            <a:br>
              <a:rPr lang="en-US"/>
            </a:br>
            <a:r>
              <a:rPr lang="en-US"/>
              <a:t>Pacing: drive sustained traffic for 90+ seconds before pivoting. Internal scrape interval is 60s — need 2 samples for rate() to look right.</a:t>
            </a:r>
            <a:br>
              <a:rPr lang="en-US"/>
            </a:br>
            <a:br>
              <a:rPr lang="en-US"/>
            </a:br>
            <a:r>
              <a:rPr lang="en-US"/>
              <a:t>[SCREENSHOT placeholder: Mimir series count graph showing the climb-and-plateau pattern.]</a:t>
            </a:r>
            <a:endParaRPr/>
          </a:p>
        </p:txBody>
      </p:sp>
      <p:sp>
        <p:nvSpPr>
          <p:cNvPr id="237" name="Google Shape;23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Recap. The lesson is architectural, not technical: high-cardinality data is for traces, where it's queryable. Metrics are for aggregates.</a:t>
            </a:r>
            <a:br>
              <a:rPr lang="en-US"/>
            </a:br>
            <a:br>
              <a:rPr lang="en-US"/>
            </a:br>
            <a:r>
              <a:rPr lang="en-US"/>
              <a:t>The Collector pattern matters: enforce the limit at the edge of your platform, not in the storage layer at 3 AM.</a:t>
            </a:r>
            <a:br>
              <a:rPr lang="en-US"/>
            </a:br>
            <a:br>
              <a:rPr lang="en-US"/>
            </a:br>
            <a:r>
              <a:rPr lang="en-US"/>
              <a:t>Time: ~18 min.</a:t>
            </a:r>
            <a:endParaRPr/>
          </a:p>
        </p:txBody>
      </p:sp>
      <p:sp>
        <p:nvSpPr>
          <p:cNvPr id="245" name="Google Shape;24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03 setup. The problem: at scale you can't keep every trace. Head sampling ("keep 10% randomly") is cheap but stupid — you might drop the slow requests and keep all the fast ones.</a:t>
            </a:r>
            <a:br>
              <a:rPr lang="en-US"/>
            </a:br>
            <a:br>
              <a:rPr lang="en-US"/>
            </a:br>
            <a:r>
              <a:rPr lang="en-US"/>
              <a:t>Tail sampling waits until the trace completes, then decides based on properties: was it slow? Did it error? Did it touch a sensitive endpoint? Keep all the interesting ones, drop a fraction of the boring ones.</a:t>
            </a:r>
            <a:br>
              <a:rPr lang="en-US"/>
            </a:br>
            <a:br>
              <a:rPr lang="en-US"/>
            </a:br>
            <a:r>
              <a:rPr lang="en-US"/>
              <a:t>The cost: tail sampling needs the full trace in memory. The Collector buffers spans for 30-60 seconds. That's the trade-off.</a:t>
            </a:r>
            <a:br>
              <a:rPr lang="en-US"/>
            </a:br>
            <a:br>
              <a:rPr lang="en-US"/>
            </a:br>
            <a:r>
              <a:rPr lang="en-US"/>
              <a:t>Time: ~18 min.</a:t>
            </a:r>
            <a:endParaRPr/>
          </a:p>
        </p:txBody>
      </p:sp>
      <p:sp>
        <p:nvSpPr>
          <p:cNvPr id="257" name="Google Shape;25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db1bb68cb5_0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db1bb68cb5_0_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b="1" lang="en-US" sz="1100">
                <a:latin typeface="Arial"/>
                <a:ea typeface="Arial"/>
                <a:cs typeface="Arial"/>
                <a:sym typeface="Arial"/>
              </a:rPr>
              <a:t>The fundamental question of sampling: when do you decide what to keep?</a:t>
            </a:r>
            <a:endParaRPr b="1" sz="1100">
              <a:latin typeface="Arial"/>
              <a:ea typeface="Arial"/>
              <a:cs typeface="Arial"/>
              <a:sym typeface="Arial"/>
            </a:endParaRPr>
          </a:p>
          <a:p>
            <a:pPr indent="0" lvl="0" marL="0" rtl="0" algn="l">
              <a:lnSpc>
                <a:spcPct val="115000"/>
              </a:lnSpc>
              <a:spcBef>
                <a:spcPts val="1200"/>
              </a:spcBef>
              <a:spcAft>
                <a:spcPts val="0"/>
              </a:spcAft>
              <a:buSzPts val="1100"/>
              <a:buNone/>
            </a:pPr>
            <a:r>
              <a:rPr b="1" lang="en-US" sz="1100">
                <a:latin typeface="Arial"/>
                <a:ea typeface="Arial"/>
                <a:cs typeface="Arial"/>
                <a:sym typeface="Arial"/>
              </a:rPr>
              <a:t>Head sampling decides at the start, before the trace even runs. The application generates a random number, compares it to a configured ratio, and either keeps the trace or drops it. It's cheap, predictable, and stateless. The downside is in the diagram: it's blind to outcome. You might drop the one error trace you needed to debug an incident. Random sampling treats every request as equal, but in production, slow and erroring requests are more valuable than fast successful ones.</a:t>
            </a:r>
            <a:endParaRPr b="1" sz="1100">
              <a:latin typeface="Arial"/>
              <a:ea typeface="Arial"/>
              <a:cs typeface="Arial"/>
              <a:sym typeface="Arial"/>
            </a:endParaRPr>
          </a:p>
          <a:p>
            <a:pPr indent="0" lvl="0" marL="0" rtl="0" algn="l">
              <a:lnSpc>
                <a:spcPct val="115000"/>
              </a:lnSpc>
              <a:spcBef>
                <a:spcPts val="1200"/>
              </a:spcBef>
              <a:spcAft>
                <a:spcPts val="0"/>
              </a:spcAft>
              <a:buSzPts val="1100"/>
              <a:buNone/>
            </a:pPr>
            <a:r>
              <a:rPr b="1" lang="en-US" sz="1100">
                <a:latin typeface="Arial"/>
                <a:ea typeface="Arial"/>
                <a:cs typeface="Arial"/>
                <a:sym typeface="Arial"/>
              </a:rPr>
              <a:t>Tail sampling moves the decision to the Collector, after the trace has completed. The application sends 100% of traces. The Collector buffers each trace until all spans arrive, then applies policies: keep all errors, keep all slow requests, keep a small percentage of the rest. The cost is Collector RAM and configuration complexity, but the policies are smart.</a:t>
            </a:r>
            <a:endParaRPr b="1" sz="1100">
              <a:latin typeface="Arial"/>
              <a:ea typeface="Arial"/>
              <a:cs typeface="Arial"/>
              <a:sym typeface="Arial"/>
            </a:endParaRPr>
          </a:p>
          <a:p>
            <a:pPr indent="0" lvl="0" marL="0" rtl="0" algn="l">
              <a:lnSpc>
                <a:spcPct val="115000"/>
              </a:lnSpc>
              <a:spcBef>
                <a:spcPts val="1200"/>
              </a:spcBef>
              <a:spcAft>
                <a:spcPts val="0"/>
              </a:spcAft>
              <a:buSzPts val="1100"/>
              <a:buNone/>
            </a:pPr>
            <a:r>
              <a:rPr b="1" lang="en-US" sz="1100">
                <a:latin typeface="Arial"/>
                <a:ea typeface="Arial"/>
                <a:cs typeface="Arial"/>
                <a:sym typeface="Arial"/>
              </a:rPr>
              <a:t>The production answer at the bottom of the diagram is what most teams converge on: probabilistic sampling at the app to prevent the Collector from drowning, plus tail sampling at a Collector gateway to make smart decisions about what survives. Layered, not either-or.</a:t>
            </a:r>
            <a:endParaRPr b="1" sz="1100">
              <a:latin typeface="Arial"/>
              <a:ea typeface="Arial"/>
              <a:cs typeface="Arial"/>
              <a:sym typeface="Arial"/>
            </a:endParaRPr>
          </a:p>
          <a:p>
            <a:pPr indent="0" lvl="0" marL="0" rtl="0" algn="l">
              <a:lnSpc>
                <a:spcPct val="115000"/>
              </a:lnSpc>
              <a:spcBef>
                <a:spcPts val="1200"/>
              </a:spcBef>
              <a:spcAft>
                <a:spcPts val="0"/>
              </a:spcAft>
              <a:buSzPts val="1100"/>
              <a:buNone/>
            </a:pPr>
            <a:r>
              <a:rPr b="1" lang="en-US" sz="1100">
                <a:latin typeface="Arial"/>
                <a:ea typeface="Arial"/>
                <a:cs typeface="Arial"/>
                <a:sym typeface="Arial"/>
              </a:rPr>
              <a:t>Demo 03 shows the tail sampling pattern in isolation. Watch for: traces appearing 30-60 seconds after they complete, because the Collector is buffering. That's the trade-off in action.</a:t>
            </a:r>
            <a:endParaRPr b="1" sz="1100">
              <a:latin typeface="Arial"/>
              <a:ea typeface="Arial"/>
              <a:cs typeface="Arial"/>
              <a:sym typeface="Arial"/>
            </a:endParaRPr>
          </a:p>
          <a:p>
            <a:pPr indent="0" lvl="0" marL="0" rtl="0" algn="l">
              <a:lnSpc>
                <a:spcPct val="115000"/>
              </a:lnSpc>
              <a:spcBef>
                <a:spcPts val="1200"/>
              </a:spcBef>
              <a:spcAft>
                <a:spcPts val="0"/>
              </a:spcAft>
              <a:buSzPts val="1100"/>
              <a:buNone/>
            </a:pPr>
            <a:r>
              <a:rPr b="1" lang="en-US" sz="1100">
                <a:latin typeface="Arial"/>
                <a:ea typeface="Arial"/>
                <a:cs typeface="Arial"/>
                <a:sym typeface="Arial"/>
              </a:rPr>
              <a:t>Time: ~17 min (~1 min for this slide).</a:t>
            </a:r>
            <a:endParaRPr b="1" sz="1100">
              <a:latin typeface="Arial"/>
              <a:ea typeface="Arial"/>
              <a:cs typeface="Arial"/>
              <a:sym typeface="Arial"/>
            </a:endParaRPr>
          </a:p>
          <a:p>
            <a:pPr indent="0" lvl="0" marL="0" rtl="0" algn="l">
              <a:spcBef>
                <a:spcPts val="1200"/>
              </a:spcBef>
              <a:spcAft>
                <a:spcPts val="0"/>
              </a:spcAft>
              <a:buSzPts val="1100"/>
              <a:buNone/>
            </a:pPr>
            <a:r>
              <a:t/>
            </a:r>
            <a:endParaRPr b="1"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The bottom line is a real takeaway, not a throwaway.</a:t>
            </a:r>
            <a:r>
              <a:rPr lang="en-US" sz="1100">
                <a:latin typeface="Arial"/>
                <a:ea typeface="Arial"/>
                <a:cs typeface="Arial"/>
                <a:sym typeface="Arial"/>
              </a:rPr>
              <a:t> "parentbased_traceidratio at app + tail_sampling at Collector gateway" is a layered approach that combines both — the app does cheap probabilistic sampling on its own (so the Collector isn't drowning in 100% of every trace), and the Collector does smart policy-based filtering on whatever survived. This is a more nuanced position than "head bad, tail good" which a lot of OTel introductions simplify to. I'll make sure the speaker notes preserve this nuance — it's exactly the kind of practitioner-grounded content the CFP rewards.</a:t>
            </a:r>
            <a:endParaRPr sz="1100">
              <a:latin typeface="Arial"/>
              <a:ea typeface="Arial"/>
              <a:cs typeface="Arial"/>
              <a:sym typeface="Arial"/>
            </a:endParaRPr>
          </a:p>
          <a:p>
            <a:pPr indent="0" lvl="0" marL="0" rtl="0" algn="l">
              <a:spcBef>
                <a:spcPts val="0"/>
              </a:spcBef>
              <a:spcAft>
                <a:spcPts val="0"/>
              </a:spcAft>
              <a:buSzPts val="1100"/>
              <a:buNone/>
            </a:pPr>
            <a:r>
              <a:rPr b="1" lang="en-US" sz="1100">
                <a:latin typeface="Arial"/>
                <a:ea typeface="Arial"/>
                <a:cs typeface="Arial"/>
                <a:sym typeface="Arial"/>
              </a:rPr>
              <a:t>The "5%" and "1s" are specific values from the demo's own config.</a:t>
            </a:r>
            <a:r>
              <a:rPr lang="en-US" sz="1100">
                <a:latin typeface="Arial"/>
                <a:ea typeface="Arial"/>
                <a:cs typeface="Arial"/>
                <a:sym typeface="Arial"/>
              </a:rPr>
              <a:t> Unlike diagram 09's "5-10%" — which was a generic claim about agent overhead — these numbers are operational policy choices documented in the actual </a:t>
            </a:r>
            <a:r>
              <a:rPr lang="en-US" sz="1100">
                <a:solidFill>
                  <a:srgbClr val="188038"/>
                </a:solidFill>
                <a:latin typeface="Roboto Mono"/>
                <a:ea typeface="Roboto Mono"/>
                <a:cs typeface="Roboto Mono"/>
                <a:sym typeface="Roboto Mono"/>
              </a:rPr>
              <a:t>collector-config.yaml</a:t>
            </a:r>
            <a:r>
              <a:rPr lang="en-US" sz="1100">
                <a:latin typeface="Arial"/>
                <a:ea typeface="Arial"/>
                <a:cs typeface="Arial"/>
                <a:sym typeface="Arial"/>
              </a:rPr>
              <a:t>. They're not contested or environment-dependent. They're saying: "here's what our demo configures." I'd leave them in the diagram. The speaker notes will frame them as "configurable policies" without implying they're universal.</a:t>
            </a:r>
            <a:endParaRPr sz="1100">
              <a:latin typeface="Arial"/>
              <a:ea typeface="Arial"/>
              <a:cs typeface="Arial"/>
              <a:sym typeface="Arial"/>
            </a:endParaRPr>
          </a:p>
          <a:p>
            <a:pPr indent="0" lvl="0" marL="0" rtl="0" algn="l">
              <a:spcBef>
                <a:spcPts val="0"/>
              </a:spcBef>
              <a:spcAft>
                <a:spcPts val="0"/>
              </a:spcAft>
              <a:buSzPts val="1100"/>
              <a:buNone/>
            </a:pPr>
            <a:r>
              <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b="1" lang="en-US" sz="1100">
                <a:latin typeface="Arial"/>
                <a:ea typeface="Arial"/>
                <a:cs typeface="Arial"/>
                <a:sym typeface="Arial"/>
              </a:rPr>
              <a:t>Note 1 — "parentbased_traceidratio" is jargon.</a:t>
            </a:r>
            <a:r>
              <a:rPr lang="en-US" sz="1100">
                <a:latin typeface="Arial"/>
                <a:ea typeface="Arial"/>
                <a:cs typeface="Arial"/>
                <a:sym typeface="Arial"/>
              </a:rPr>
              <a:t> The diagram includes it because it's the OTel SDK config name. Audience members who haven't done sampling work won't recognize it. The speaker notes call it "probabilistic sampling at the app" instead — accessible, accurate enough.</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b="1" lang="en-US" sz="1100">
                <a:latin typeface="Arial"/>
                <a:ea typeface="Arial"/>
                <a:cs typeface="Arial"/>
                <a:sym typeface="Arial"/>
              </a:rPr>
              <a:t>Note 2 — the "30-60 seconds" buffer window.</a:t>
            </a:r>
            <a:r>
              <a:rPr lang="en-US" sz="1100">
                <a:latin typeface="Arial"/>
                <a:ea typeface="Arial"/>
                <a:cs typeface="Arial"/>
                <a:sym typeface="Arial"/>
              </a:rPr>
              <a:t> This is environment-dependent (Collector config, trace duration distribution). I included it generically in the speaker notes because it's something the audience will observe during the demo and might wonder about. If you want to soften that, change "30-60 seconds" to "tens of seconds".</a:t>
            </a:r>
            <a:endParaRPr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0"/>
              </a:spcBef>
              <a:spcAft>
                <a:spcPts val="0"/>
              </a:spcAft>
              <a:buNone/>
            </a:pPr>
            <a:r>
              <a:t/>
            </a:r>
            <a:endParaRPr/>
          </a:p>
        </p:txBody>
      </p:sp>
      <p:sp>
        <p:nvSpPr>
          <p:cNvPr id="269" name="Google Shape;269;g3db1bb68cb5_0_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DEMO. Estimate: 3-4 minutes.</a:t>
            </a:r>
            <a:br>
              <a:rPr lang="en-US"/>
            </a:br>
            <a:br>
              <a:rPr lang="en-US"/>
            </a:br>
            <a:r>
              <a:rPr lang="en-US"/>
              <a:t>Demo flow:</a:t>
            </a:r>
            <a:br>
              <a:rPr lang="en-US"/>
            </a:br>
            <a:r>
              <a:rPr lang="en-US"/>
              <a:t>1. `./demo.sh` brings up Collector with tail_sampling configured.</a:t>
            </a:r>
            <a:br>
              <a:rPr lang="en-US"/>
            </a:br>
            <a:r>
              <a:rPr lang="en-US"/>
              <a:t>2. Show the policy in collector-config.yaml: 100% slow + errors, 1% fast successes.</a:t>
            </a:r>
            <a:br>
              <a:rPr lang="en-US"/>
            </a:br>
            <a:r>
              <a:rPr lang="en-US"/>
              <a:t>3. Run load: 95% fast/successful, 5% slow or erroring.</a:t>
            </a:r>
            <a:br>
              <a:rPr lang="en-US"/>
            </a:br>
            <a:r>
              <a:rPr lang="en-US"/>
              <a:t>4. Tempo trace count: total ingested vs. total kept.</a:t>
            </a:r>
            <a:br>
              <a:rPr lang="en-US"/>
            </a:br>
            <a:r>
              <a:rPr lang="en-US"/>
              <a:t>5. Spot-check that all the slow traces are present, and ~1% of fast ones.</a:t>
            </a:r>
            <a:br>
              <a:rPr lang="en-US"/>
            </a:br>
            <a:br>
              <a:rPr lang="en-US"/>
            </a:br>
            <a:r>
              <a:rPr lang="en-US"/>
              <a:t>Watch the latency: traces appear in Tempo ~30s after they complete (the buffer window). Don't pivot too fast or it looks like nothing's happening.</a:t>
            </a:r>
            <a:br>
              <a:rPr lang="en-US"/>
            </a:br>
            <a:br>
              <a:rPr lang="en-US"/>
            </a:br>
            <a:r>
              <a:rPr lang="en-US"/>
              <a:t>[SCREENSHOT placeholder: Collector dashboard showing total received vs. total exported, with the policy decision breakdown.]</a:t>
            </a:r>
            <a:endParaRPr/>
          </a:p>
        </p:txBody>
      </p:sp>
      <p:sp>
        <p:nvSpPr>
          <p:cNvPr id="280" name="Google Shape;28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Recap.</a:t>
            </a:r>
            <a:br>
              <a:rPr lang="en-US"/>
            </a:br>
            <a:br>
              <a:rPr lang="en-US"/>
            </a:br>
            <a:r>
              <a:rPr lang="en-US"/>
              <a:t>The mental model: the Collector becomes a circuit breaker for your observability data. You decide what survives. The application doesn't have to know.</a:t>
            </a:r>
            <a:br>
              <a:rPr lang="en-US"/>
            </a:br>
            <a:br>
              <a:rPr lang="en-US"/>
            </a:br>
            <a:r>
              <a:rPr lang="en-US"/>
              <a:t>Time: ~22 min.</a:t>
            </a:r>
            <a:endParaRPr/>
          </a:p>
        </p:txBody>
      </p:sp>
      <p:sp>
        <p:nvSpPr>
          <p:cNvPr id="288" name="Google Shape;28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04 setup. JVM metrics are the test case where observability moves from "nice to have" to "how do you debug production at all."</a:t>
            </a:r>
            <a:br>
              <a:rPr lang="en-US"/>
            </a:br>
            <a:br>
              <a:rPr lang="en-US"/>
            </a:br>
            <a:r>
              <a:rPr lang="en-US"/>
              <a:t>What we'll show: same app, same load, three different garbage collectors. Each leaves a different shape on the dashboard. You can identify the GC from the chart without being told.</a:t>
            </a:r>
            <a:br>
              <a:rPr lang="en-US"/>
            </a:br>
            <a:br>
              <a:rPr lang="en-US"/>
            </a:br>
            <a:r>
              <a:rPr lang="en-US"/>
              <a:t>Why it matters: GC choice is an operational decision that you can verify with telemetry. Don't pick a GC because of a blog post; pick it because you measured it in your environment.</a:t>
            </a:r>
            <a:br>
              <a:rPr lang="en-US"/>
            </a:br>
            <a:br>
              <a:rPr lang="en-US"/>
            </a:br>
            <a:r>
              <a:rPr lang="en-US"/>
              <a:t>Time: ~22 min.</a:t>
            </a:r>
            <a:endParaRPr/>
          </a:p>
        </p:txBody>
      </p:sp>
      <p:sp>
        <p:nvSpPr>
          <p:cNvPr id="300" name="Google Shape;30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db1bb68cb5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g3db1bb68cb5_0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diagram's structure (a timeline of HTTP request spans, with GC pause events overlaid, and a latency chart underneath) is showing the same wall-clock window through three signals at once. The 50ms G1 pause sits in the middle of an HTTP span, and the p99 latency line ticks up at exactly that moment. Cause-and-effect made visible.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100">
                <a:latin typeface="Arial"/>
                <a:ea typeface="Arial"/>
                <a:cs typeface="Arial"/>
                <a:sym typeface="Arial"/>
              </a:rPr>
              <a:t>"Observability sees ACROSS the JVM/app boundary" — this is what unified observability </a:t>
            </a:r>
            <a:r>
              <a:rPr i="1" lang="en-US" sz="1100">
                <a:latin typeface="Arial"/>
                <a:ea typeface="Arial"/>
                <a:cs typeface="Arial"/>
                <a:sym typeface="Arial"/>
              </a:rPr>
              <a:t>is</a:t>
            </a:r>
            <a:r>
              <a:rPr lang="en-US" sz="1100">
                <a:latin typeface="Arial"/>
                <a:ea typeface="Arial"/>
                <a:cs typeface="Arial"/>
                <a:sym typeface="Arial"/>
              </a:rPr>
              <a:t>. GC happens below the application; HTTP requests happen above; tracing is the only signal that can show you the seam between them. </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rPr b="1" lang="en-US" sz="1100">
                <a:latin typeface="Arial"/>
                <a:ea typeface="Arial"/>
                <a:cs typeface="Arial"/>
                <a:sym typeface="Arial"/>
              </a:rPr>
              <a:t>The "5ms" repeated four times with one "50ms G1" in the middle</a:t>
            </a:r>
            <a:r>
              <a:rPr lang="en-US" sz="1100">
                <a:latin typeface="Arial"/>
                <a:ea typeface="Arial"/>
                <a:cs typeface="Arial"/>
                <a:sym typeface="Arial"/>
              </a:rPr>
              <a:t> is the diagram's most powerful visual move. Four normal requests, one slow one. The slow one isn't slow because the application is slow — it's slow because the JVM stopped the world. Without the GC overlay, this would look like a random latency spike. With it, the cause is obvious. </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Stay with this diagram for a moment — it's doing more work than it looks.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Three signals stacked on the same timeline. The top row is HTTP request spans — five requests, four of them around 5 milliseconds, one of them suddenly 50 milliseconds. Without context, that fifth request looks like a random latency spike. The application code is identical. The database call is identical.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middle row tells you why. A G1 garbage collector pause happened during that exact request. Stop-the-world. The JVM paused everything for 50 milliseconds, and the request thread paused with it. The application didn't get slower. The runtime stopped.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bottom row shows the consequence at the metric layer — p99 latency ticks up in the same window.</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One event. Three signals. Each shows it differently.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is what unified observability buys you: visibility across the JVM-application boundary. GC isn't application code, but it absolutely affects application latency. Without the JVM signal layer, that 50-millisecond request is a mystery. With it, the cause is obvious before the alert page goes out.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Demo 04 shows this on real dashboards under three different garbage collectors. Each leaves a different shape. Once you've seen the shapes, you can read your own dashboards.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Time: ~22 min (~1 min for this slide).</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312" name="Google Shape;312;g3db1bb68cb5_0_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DEMO. Estimate: 4 minutes.</a:t>
            </a:r>
            <a:br>
              <a:rPr lang="en-US"/>
            </a:br>
            <a:br>
              <a:rPr lang="en-US"/>
            </a:br>
            <a:r>
              <a:rPr lang="en-US"/>
              <a:t>Demo flow:</a:t>
            </a:r>
            <a:br>
              <a:rPr lang="en-US"/>
            </a:br>
            <a:r>
              <a:rPr lang="en-US"/>
              <a:t>1. `./demo.sh` runs the same app three times, swapping the GC flag each time.</a:t>
            </a:r>
            <a:br>
              <a:rPr lang="en-US"/>
            </a:br>
            <a:r>
              <a:rPr lang="en-US"/>
              <a:t>2. After each run, Grafana dashboard shows: heap usage, GC frequency, pause durations.</a:t>
            </a:r>
            <a:br>
              <a:rPr lang="en-US"/>
            </a:br>
            <a:r>
              <a:rPr lang="en-US"/>
              <a:t>3. Side-by-side comparison panel at the end.</a:t>
            </a:r>
            <a:br>
              <a:rPr lang="en-US"/>
            </a:br>
            <a:r>
              <a:rPr lang="en-US"/>
              <a:t>4. Point out the visible differences: G1 has occasional 50-100ms pauses, Shenandoah and ZGC stay under 10ms.</a:t>
            </a:r>
            <a:br>
              <a:rPr lang="en-US"/>
            </a:br>
            <a:br>
              <a:rPr lang="en-US"/>
            </a:br>
            <a:r>
              <a:rPr lang="en-US"/>
              <a:t>Pre-restart Grafana 60+ seconds before showing the dashboard — provisioning is async after the container reports started.</a:t>
            </a:r>
            <a:br>
              <a:rPr lang="en-US"/>
            </a:br>
            <a:br>
              <a:rPr lang="en-US"/>
            </a:br>
            <a:r>
              <a:rPr lang="en-US"/>
              <a:t>Hard browser refresh (Ctrl+Shift+R) after switching dashboards — Grafana caches panel definitions.</a:t>
            </a:r>
            <a:br>
              <a:rPr lang="en-US"/>
            </a:br>
            <a:br>
              <a:rPr lang="en-US"/>
            </a:br>
            <a:r>
              <a:rPr lang="en-US"/>
              <a:t>[SCREENSHOT placeholder: Three-GC comparison dashboard at end of demo, showing distinct pause profiles.]</a:t>
            </a:r>
            <a:endParaRPr/>
          </a:p>
        </p:txBody>
      </p:sp>
      <p:sp>
        <p:nvSpPr>
          <p:cNvPr id="323" name="Google Shape;32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Recap. The point is empirical: don't guess about GC. Measure.</a:t>
            </a:r>
            <a:br>
              <a:rPr lang="en-US"/>
            </a:br>
            <a:br>
              <a:rPr lang="en-US"/>
            </a:br>
            <a:r>
              <a:rPr lang="en-US"/>
              <a:t>Note for accuracy (we verified this in prep): UBI9 OpenJDK ergonomically picks G1 by default on every variant we tested (17, 21, 25; both builder and runtime). Shenandoah is *available* — Red Hat compiles it in — it's just not selected by JVM ergonomics. One flag activates it.</a:t>
            </a:r>
            <a:br>
              <a:rPr lang="en-US"/>
            </a:br>
            <a:br>
              <a:rPr lang="en-US"/>
            </a:br>
            <a:r>
              <a:rPr lang="en-US"/>
              <a:t>Time: ~26 min.</a:t>
            </a:r>
            <a:endParaRPr/>
          </a:p>
        </p:txBody>
      </p:sp>
      <p:sp>
        <p:nvSpPr>
          <p:cNvPr id="331" name="Google Shape;33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problem: a typical Spring Boot app on JDK 21 took 5-8 seconds to boot. That's fine for long-running services, but it's an eternity for serverless or scale-from-zero workloads.</a:t>
            </a:r>
            <a:br>
              <a:rPr lang="en-US"/>
            </a:br>
            <a:br>
              <a:rPr lang="en-US"/>
            </a:br>
            <a:r>
              <a:rPr lang="en-US"/>
              <a:t>Project Leyden is the JDK's response. Started years ago, productized in JDK 24/25. The big shipped feature is JEP 514 — AOT cache. Cache classloading work and JIT profiles to disk during a training run; reuse them at startup.</a:t>
            </a:r>
            <a:br>
              <a:rPr lang="en-US"/>
            </a:br>
            <a:br>
              <a:rPr lang="en-US"/>
            </a:br>
            <a:r>
              <a:rPr lang="en-US"/>
              <a:t>Spring Boot 4 also has its own AOT layer that pre-computes bean factory state at build time. Combined, they should reduce startup substantially.</a:t>
            </a:r>
            <a:br>
              <a:rPr lang="en-US"/>
            </a:br>
            <a:br>
              <a:rPr lang="en-US"/>
            </a:br>
            <a:r>
              <a:rPr lang="en-US"/>
              <a:t>We're going to measure exactly how much.</a:t>
            </a:r>
            <a:br>
              <a:rPr lang="en-US"/>
            </a:br>
            <a:br>
              <a:rPr lang="en-US"/>
            </a:br>
            <a:r>
              <a:rPr lang="en-US"/>
              <a:t>Time: ~26 min.</a:t>
            </a:r>
            <a:endParaRPr/>
          </a:p>
        </p:txBody>
      </p:sp>
      <p:sp>
        <p:nvSpPr>
          <p:cNvPr id="343" name="Google Shape;34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pipeline. Four Docker stages.</a:t>
            </a:r>
            <a:br>
              <a:rPr lang="en-US"/>
            </a:br>
            <a:br>
              <a:rPr lang="en-US"/>
            </a:br>
            <a:r>
              <a:rPr lang="en-US"/>
              <a:t>1. Build: standard mvn package, produces Spring Boot fat JAR.</a:t>
            </a:r>
            <a:br>
              <a:rPr lang="en-US"/>
            </a:br>
            <a:r>
              <a:rPr lang="en-US"/>
              <a:t>2. Extract: Spring Boot's tools jarmode unpacks the fat JAR into a flat layout. The JDK's AOT cache can't see classes inside nested JARs through Spring Boot's custom classloader — extracting first solves that.</a:t>
            </a:r>
            <a:br>
              <a:rPr lang="en-US"/>
            </a:br>
            <a:r>
              <a:rPr lang="en-US"/>
              <a:t>3. Cache: boot the extracted app with -XX:AOTCacheOutput. Use spring.context.exit=onRefresh to exit cleanly right after Spring's bean factory is populated. That clean exit is what triggers the cache write. Result: ~120 MB binary cache.</a:t>
            </a:r>
            <a:br>
              <a:rPr lang="en-US"/>
            </a:br>
            <a:r>
              <a:rPr lang="en-US"/>
              <a:t>4. Runtime: ship extracted layout + cache. Launch with -XX:AOTCache=app.aot.</a:t>
            </a:r>
            <a:br>
              <a:rPr lang="en-US"/>
            </a:br>
            <a:br>
              <a:rPr lang="en-US"/>
            </a:br>
            <a:r>
              <a:rPr lang="en-US"/>
              <a:t>We landed on this design after a lot of trial and error. Piotr Minkowski's writeup from March 2026 was the breakthrough — the onRefresh trick is the key piece most online tutorials miss.</a:t>
            </a:r>
            <a:br>
              <a:rPr lang="en-US"/>
            </a:br>
            <a:br>
              <a:rPr lang="en-US"/>
            </a:br>
            <a:r>
              <a:rPr lang="en-US"/>
              <a:t>Quarkus does this entirely differently — we'll get to that in two slides.</a:t>
            </a:r>
            <a:br>
              <a:rPr lang="en-US"/>
            </a:br>
            <a:br>
              <a:rPr lang="en-US"/>
            </a:br>
            <a:r>
              <a:rPr lang="en-US"/>
              <a:t>[DIAGRAM placeholder: a fuller pipeline diagram showing the JVM that does the training match the JVM that runs the cache. We hit a real bug here where Temurin-trained caches were rejected by Red Hat OpenJDK at runtime.]</a:t>
            </a:r>
            <a:br>
              <a:rPr lang="en-US"/>
            </a:br>
            <a:br>
              <a:rPr lang="en-US"/>
            </a:br>
            <a:r>
              <a:rPr lang="en-US"/>
              <a:t>Time: ~28 min.</a:t>
            </a:r>
            <a:endParaRPr/>
          </a:p>
        </p:txBody>
      </p:sp>
      <p:sp>
        <p:nvSpPr>
          <p:cNvPr id="360" name="Google Shape;36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DEMO. This is the headline. Estimate: 5 minutes.</a:t>
            </a:r>
            <a:br>
              <a:rPr lang="en-US"/>
            </a:br>
            <a:br>
              <a:rPr lang="en-US"/>
            </a:br>
            <a:r>
              <a:rPr lang="en-US"/>
              <a:t>Demo flow:</a:t>
            </a:r>
            <a:br>
              <a:rPr lang="en-US"/>
            </a:br>
            <a:r>
              <a:rPr lang="en-US"/>
              <a:t>1. `./demo.sh time-all` runs 24 cold starts (3 per variant, 8 variants).</a:t>
            </a:r>
            <a:br>
              <a:rPr lang="en-US"/>
            </a:br>
            <a:r>
              <a:rPr lang="en-US"/>
              <a:t>2. Talk while it runs — explain what each variant tests:</a:t>
            </a:r>
            <a:br>
              <a:rPr lang="en-US"/>
            </a:br>
            <a:r>
              <a:rPr lang="en-US"/>
              <a:t>   - Spring Classic + agent</a:t>
            </a:r>
            <a:br>
              <a:rPr lang="en-US"/>
            </a:br>
            <a:r>
              <a:rPr lang="en-US"/>
              <a:t>   - Spring Classic + SDK telemetry (Spring Boot 4's new opentelemetry starter)</a:t>
            </a:r>
            <a:br>
              <a:rPr lang="en-US"/>
            </a:br>
            <a:r>
              <a:rPr lang="en-US"/>
              <a:t>   - Spring Classic, no telemetry (control)</a:t>
            </a:r>
            <a:br>
              <a:rPr lang="en-US"/>
            </a:br>
            <a:r>
              <a:rPr lang="en-US"/>
              <a:t>   - Spring AOT + agent</a:t>
            </a:r>
            <a:br>
              <a:rPr lang="en-US"/>
            </a:br>
            <a:r>
              <a:rPr lang="en-US"/>
              <a:t>   - Spring AOT + SDK</a:t>
            </a:r>
            <a:br>
              <a:rPr lang="en-US"/>
            </a:br>
            <a:r>
              <a:rPr lang="en-US"/>
              <a:t>   - Spring AOT, no telemetry</a:t>
            </a:r>
            <a:br>
              <a:rPr lang="en-US"/>
            </a:br>
            <a:r>
              <a:rPr lang="en-US"/>
              <a:t>   - Quarkus baseline (no telemetry)</a:t>
            </a:r>
            <a:br>
              <a:rPr lang="en-US"/>
            </a:br>
            <a:r>
              <a:rPr lang="en-US"/>
              <a:t>   - Quarkus + Leyden (no telemetry)</a:t>
            </a:r>
            <a:br>
              <a:rPr lang="en-US"/>
            </a:br>
            <a:r>
              <a:rPr lang="en-US"/>
              <a:t>3. Final cross-framework table prints automatically.</a:t>
            </a:r>
            <a:br>
              <a:rPr lang="en-US"/>
            </a:br>
            <a:br>
              <a:rPr lang="en-US"/>
            </a:br>
            <a:r>
              <a:rPr lang="en-US"/>
              <a:t>Pacing: this takes ~10 minutes to run. Talk during the runs. Show the running terminal as the medians come in. The drama is the contrast between Spring Boot's slow Classic and Quarkus's tiny Leyden.</a:t>
            </a:r>
            <a:br>
              <a:rPr lang="en-US"/>
            </a:br>
            <a:br>
              <a:rPr lang="en-US"/>
            </a:br>
            <a:r>
              <a:rPr lang="en-US"/>
              <a:t>If something fails: we have pre-recorded numbers in TALK-NOTES.md. The rebuild fallback is to skip live and go to the next slide with the pre-baked table.</a:t>
            </a:r>
            <a:endParaRPr/>
          </a:p>
        </p:txBody>
      </p:sp>
      <p:sp>
        <p:nvSpPr>
          <p:cNvPr id="390" name="Google Shape;39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Money slide #1 — Spring Boot 4 telemetry comparison.</a:t>
            </a:r>
            <a:br>
              <a:rPr lang="en-US"/>
            </a:br>
            <a:br>
              <a:rPr lang="en-US"/>
            </a:br>
            <a:r>
              <a:rPr lang="en-US"/>
              <a:t>Read the table left to right, top to bottom. Then the three callouts below.</a:t>
            </a:r>
            <a:br>
              <a:rPr lang="en-US"/>
            </a:br>
            <a:br>
              <a:rPr lang="en-US"/>
            </a:br>
            <a:r>
              <a:rPr lang="en-US"/>
              <a:t>Key talking points:</a:t>
            </a:r>
            <a:br>
              <a:rPr lang="en-US"/>
            </a:br>
            <a:r>
              <a:rPr lang="en-US"/>
              <a:t>- Agent costs ~750ms regardless of whether AOT is on. This is consistent runtime instrumentation overhead.</a:t>
            </a:r>
            <a:br>
              <a:rPr lang="en-US"/>
            </a:br>
            <a:r>
              <a:rPr lang="en-US"/>
              <a:t>- SDK is essentially free. Spring Boot 4's new OpenTelemetry starter shipped November 2025; it's the modern answer.</a:t>
            </a:r>
            <a:br>
              <a:rPr lang="en-US"/>
            </a:br>
            <a:r>
              <a:rPr lang="en-US"/>
              <a:t>- AOT cache saves ~700ms (~18%). Real, measurable, but modest. Nothing like the dramatic numbers you may have read about.</a:t>
            </a:r>
            <a:br>
              <a:rPr lang="en-US"/>
            </a:br>
            <a:br>
              <a:rPr lang="en-US"/>
            </a:br>
            <a:r>
              <a:rPr lang="en-US"/>
              <a:t>The 18% number is honest. AOT cache speeds classloading. JPA initialization is mostly post-classloading work — connection pool setup, schema introspection, entity metamodel. AOT can't accelerate any of that.</a:t>
            </a:r>
            <a:br>
              <a:rPr lang="en-US"/>
            </a:br>
            <a:br>
              <a:rPr lang="en-US"/>
            </a:br>
            <a:r>
              <a:rPr lang="en-US"/>
              <a:t>This is the realistic Spring Boot 4 production picture. Now — same JDK, same Leyden flag, different framework. Watch what happens.</a:t>
            </a:r>
            <a:br>
              <a:rPr lang="en-US"/>
            </a:br>
            <a:br>
              <a:rPr lang="en-US"/>
            </a:br>
            <a:r>
              <a:rPr lang="en-US"/>
              <a:t>Time: ~32 min.</a:t>
            </a:r>
            <a:endParaRPr/>
          </a:p>
        </p:txBody>
      </p:sp>
      <p:sp>
        <p:nvSpPr>
          <p:cNvPr id="398" name="Google Shape;39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Money slide #2 — and the talk's actual punchline.</a:t>
            </a:r>
            <a:br>
              <a:rPr lang="en-US"/>
            </a:br>
            <a:br>
              <a:rPr lang="en-US"/>
            </a:br>
            <a:r>
              <a:rPr lang="en-US"/>
              <a:t>Same JDK 25. Same -XX:AOTCache flag. Same Project Leyden underneath. Two side-by-side cards.</a:t>
            </a:r>
            <a:br>
              <a:rPr lang="en-US"/>
            </a:br>
            <a:br>
              <a:rPr lang="en-US"/>
            </a:br>
            <a:r>
              <a:rPr lang="en-US"/>
              <a:t>Spring Boot 4: 3954ms baseline → 3252ms with AOT. Saves about 700ms, ~18%.</a:t>
            </a:r>
            <a:br>
              <a:rPr lang="en-US"/>
            </a:br>
            <a:r>
              <a:rPr lang="en-US"/>
              <a:t>Quarkus 3.33: 787ms baseline → 181ms with AOT. Saves about 600ms, ~77%.</a:t>
            </a:r>
            <a:br>
              <a:rPr lang="en-US"/>
            </a:br>
            <a:br>
              <a:rPr lang="en-US"/>
            </a:br>
            <a:r>
              <a:rPr lang="en-US"/>
              <a:t>Two findings worth pausing on:</a:t>
            </a:r>
            <a:br>
              <a:rPr lang="en-US"/>
            </a:br>
            <a:r>
              <a:rPr lang="en-US"/>
              <a:t>1. Quarkus's BASELINE is faster than Spring Boot WITH AOT. Quarkus, no flags, beats fully optimized Spring Boot at startup.</a:t>
            </a:r>
            <a:br>
              <a:rPr lang="en-US"/>
            </a:br>
            <a:r>
              <a:rPr lang="en-US"/>
              <a:t>2. Same flag, very different leverage. The reason isn't Leyden — it's framework architecture.</a:t>
            </a:r>
            <a:br>
              <a:rPr lang="en-US"/>
            </a:br>
            <a:br>
              <a:rPr lang="en-US"/>
            </a:br>
            <a:r>
              <a:rPr lang="en-US"/>
              <a:t>Spring Boot does its bean discovery, autoconfiguration evaluation, and JPA initialization at runtime. AOT cache only helps with classloading; the rest can't be cached.</a:t>
            </a:r>
            <a:br>
              <a:rPr lang="en-US"/>
            </a:br>
            <a:br>
              <a:rPr lang="en-US"/>
            </a:br>
            <a:r>
              <a:rPr lang="en-US"/>
              <a:t>Quarkus does almost all of that at BUILD time. The application that boots is mostly pre-baked. AOT cache amplifies an already-fast startup.</a:t>
            </a:r>
            <a:br>
              <a:rPr lang="en-US"/>
            </a:br>
            <a:br>
              <a:rPr lang="en-US"/>
            </a:br>
            <a:r>
              <a:rPr lang="en-US"/>
              <a:t>Takeaway: AOT cache is a JVM feature. How much it helps depends on what your framework does at startup. Your framework, not your vendor, is the cold-start lever.</a:t>
            </a:r>
            <a:br>
              <a:rPr lang="en-US"/>
            </a:br>
            <a:br>
              <a:rPr lang="en-US"/>
            </a:br>
            <a:r>
              <a:rPr lang="en-US"/>
              <a:t>[OPTIONAL: 30s on the implications. If your workload is serverless, this picks the framework. If it's long-running, the agent tax disappears in 5 minutes anyway.]</a:t>
            </a:r>
            <a:br>
              <a:rPr lang="en-US"/>
            </a:br>
            <a:br>
              <a:rPr lang="en-US"/>
            </a:br>
            <a:r>
              <a:rPr lang="en-US"/>
              <a:t>Time: ~33 min.</a:t>
            </a:r>
            <a:endParaRPr/>
          </a:p>
        </p:txBody>
      </p:sp>
      <p:sp>
        <p:nvSpPr>
          <p:cNvPr id="420" name="Google Shape;42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conclusion of Demo 05. Big text, dark slide — let it breathe.</a:t>
            </a:r>
            <a:br>
              <a:rPr lang="en-US"/>
            </a:br>
            <a:br>
              <a:rPr lang="en-US"/>
            </a:br>
            <a:r>
              <a:rPr lang="en-US"/>
              <a:t>This is where I hand the audience an actual decision-making framework, not just numbers. The agent vs SDK question used to be theological — "agents are easier, SDKs are cleaner." Now it's empirical: the agent costs about 750ms, the SDK is free. That cost matters or it doesn't, depending on whether you cold-start often.</a:t>
            </a:r>
            <a:br>
              <a:rPr lang="en-US"/>
            </a:br>
            <a:br>
              <a:rPr lang="en-US"/>
            </a:br>
            <a:r>
              <a:rPr lang="en-US"/>
              <a:t>Long-running services: 750ms doesn't matter. The agent's runtime overhead is also negligible after warmup. Use the agent. Less code change.</a:t>
            </a:r>
            <a:br>
              <a:rPr lang="en-US"/>
            </a:br>
            <a:br>
              <a:rPr lang="en-US"/>
            </a:br>
            <a:r>
              <a:rPr lang="en-US"/>
              <a:t>Serverless / scale-from-zero / cold-scaling Kubernetes: 750ms is everything. Use the SDK starter. Modernize your tooling.</a:t>
            </a:r>
            <a:br>
              <a:rPr lang="en-US"/>
            </a:br>
            <a:br>
              <a:rPr lang="en-US"/>
            </a:br>
            <a:r>
              <a:rPr lang="en-US"/>
              <a:t>And if cold-scale really matters, look at Quarkus. Same Leyden, 4x the leverage.</a:t>
            </a:r>
            <a:br>
              <a:rPr lang="en-US"/>
            </a:br>
            <a:br>
              <a:rPr lang="en-US"/>
            </a:br>
            <a:r>
              <a:rPr lang="en-US"/>
              <a:t>Time: ~34 min. Heading into close.</a:t>
            </a:r>
            <a:endParaRPr/>
          </a:p>
        </p:txBody>
      </p:sp>
      <p:sp>
        <p:nvSpPr>
          <p:cNvPr id="445" name="Google Shape;44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summary. Three things you can take to your team Monday morning.</a:t>
            </a:r>
            <a:br>
              <a:rPr lang="en-US"/>
            </a:br>
            <a:br>
              <a:rPr lang="en-US"/>
            </a:br>
            <a:r>
              <a:rPr lang="en-US"/>
              <a:t>Each takeaway maps to a demo:</a:t>
            </a:r>
            <a:br>
              <a:rPr lang="en-US"/>
            </a:br>
            <a:r>
              <a:rPr lang="en-US"/>
              <a:t>1. Correlation: Demo 01</a:t>
            </a:r>
            <a:br>
              <a:rPr lang="en-US"/>
            </a:br>
            <a:r>
              <a:rPr lang="en-US"/>
              <a:t>2. Cardinality: Demo 02 (and the principle from Demo 03)</a:t>
            </a:r>
            <a:br>
              <a:rPr lang="en-US"/>
            </a:br>
            <a:r>
              <a:rPr lang="en-US"/>
              <a:t>3. Telemetry-to-workload: Demo 05</a:t>
            </a:r>
            <a:br>
              <a:rPr lang="en-US"/>
            </a:br>
            <a:br>
              <a:rPr lang="en-US"/>
            </a:br>
            <a:r>
              <a:rPr lang="en-US"/>
              <a:t>Don't read the long descriptions. Just announce the three titles and let the audience read the details. Confidence in delivery here is more important than coverage.</a:t>
            </a:r>
            <a:br>
              <a:rPr lang="en-US"/>
            </a:br>
            <a:br>
              <a:rPr lang="en-US"/>
            </a:br>
            <a:r>
              <a:rPr lang="en-US"/>
              <a:t>Time: ~35 min.</a:t>
            </a:r>
            <a:endParaRPr/>
          </a:p>
        </p:txBody>
      </p:sp>
      <p:sp>
        <p:nvSpPr>
          <p:cNvPr id="453" name="Google Shape;45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Resources slide. Don't read the URLs. Just point to the repo URL at the top. "Everything I showed today is in this repo. Clone it, run any demo, send me a PR."</a:t>
            </a:r>
            <a:br>
              <a:rPr lang="en-US"/>
            </a:br>
            <a:br>
              <a:rPr lang="en-US"/>
            </a:br>
            <a:r>
              <a:rPr lang="en-US"/>
              <a:t>[OPTIONAL: have a QR code for the GitHub URL. Many in the audience won't be able to type a URL from a slide while listening.]</a:t>
            </a:r>
            <a:br>
              <a:rPr lang="en-US"/>
            </a:br>
            <a:br>
              <a:rPr lang="en-US"/>
            </a:br>
            <a:r>
              <a:rPr lang="en-US"/>
              <a:t>Time: ~35 min.</a:t>
            </a:r>
            <a:endParaRPr/>
          </a:p>
        </p:txBody>
      </p:sp>
      <p:sp>
        <p:nvSpPr>
          <p:cNvPr id="473" name="Google Shape;47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Q&amp;A. Common questions to anticipate:</a:t>
            </a:r>
            <a:br>
              <a:rPr lang="en-US"/>
            </a:br>
            <a:br>
              <a:rPr lang="en-US"/>
            </a:br>
            <a:r>
              <a:rPr lang="en-US"/>
              <a:t>Q: "Doesn't GraalVM native image beat both of these?"</a:t>
            </a:r>
            <a:br>
              <a:rPr lang="en-US"/>
            </a:br>
            <a:r>
              <a:rPr lang="en-US"/>
              <a:t>A: Yes — for cold start. Native image is ~50ms. Trade-off: build is 5-10 min, no JFR, restricted reflection, no dynamic class loading. Different commitment level. If cold start is the only metric, go native.</a:t>
            </a:r>
            <a:br>
              <a:rPr lang="en-US"/>
            </a:br>
            <a:br>
              <a:rPr lang="en-US"/>
            </a:br>
            <a:r>
              <a:rPr lang="en-US"/>
              <a:t>Q: "Why not use the OTel agent with Quarkus?"</a:t>
            </a:r>
            <a:br>
              <a:rPr lang="en-US"/>
            </a:br>
            <a:r>
              <a:rPr lang="en-US"/>
              <a:t>A: You can. Quarkus has native OTel support though — `quarkus-opentelemetry` extension. SDK approach with Quarkus's build-time wiring is the canonical pattern.</a:t>
            </a:r>
            <a:br>
              <a:rPr lang="en-US"/>
            </a:br>
            <a:br>
              <a:rPr lang="en-US"/>
            </a:br>
            <a:r>
              <a:rPr lang="en-US"/>
              <a:t>Q: "What about Micronaut?"</a:t>
            </a:r>
            <a:br>
              <a:rPr lang="en-US"/>
            </a:br>
            <a:r>
              <a:rPr lang="en-US"/>
              <a:t>A: Same family as Quarkus — build-time wiring framework. I'd expect similar AOT cache numbers. Haven't tested, would love to see a PR with measurements.</a:t>
            </a:r>
            <a:br>
              <a:rPr lang="en-US"/>
            </a:br>
            <a:br>
              <a:rPr lang="en-US"/>
            </a:br>
            <a:r>
              <a:rPr lang="en-US"/>
              <a:t>Q: "How representative is your JPA app?"</a:t>
            </a:r>
            <a:br>
              <a:rPr lang="en-US"/>
            </a:br>
            <a:r>
              <a:rPr lang="en-US"/>
              <a:t>A: It's a deliberate medium-weight app: H2 + 1 JPA repository + 6 entities + REST + actuator + scheduler. Smaller apps see less Spring Boot AOT savings; larger apps see more. Quarkus relative numbers are stable across app size.</a:t>
            </a:r>
            <a:br>
              <a:rPr lang="en-US"/>
            </a:br>
            <a:br>
              <a:rPr lang="en-US"/>
            </a:br>
            <a:r>
              <a:rPr lang="en-US"/>
              <a:t>Q: "Does this matter for non-cold-start workloads?"</a:t>
            </a:r>
            <a:br>
              <a:rPr lang="en-US"/>
            </a:br>
            <a:r>
              <a:rPr lang="en-US"/>
              <a:t>A: Less so. The agent tax doesn't compound for long-running services. AOT cache memory savings (resident set size) are still real, but startup latency is the headline.</a:t>
            </a:r>
            <a:br>
              <a:rPr lang="en-US"/>
            </a:br>
            <a:br>
              <a:rPr lang="en-US"/>
            </a:br>
            <a:r>
              <a:rPr lang="en-US"/>
              <a:t>If no questions: thank, repo URL, off.</a:t>
            </a:r>
            <a:endParaRPr/>
          </a:p>
        </p:txBody>
      </p:sp>
      <p:sp>
        <p:nvSpPr>
          <p:cNvPr id="493" name="Google Shape;493;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Bonus slide — only show if there's time and someone asks about GC.</a:t>
            </a:r>
            <a:br>
              <a:rPr lang="en-US"/>
            </a:br>
            <a:br>
              <a:rPr lang="en-US"/>
            </a:br>
            <a:r>
              <a:rPr lang="en-US"/>
              <a:t>The honest framing: UBI9 OpenJDK ergonomically picks G1, on every variant we tested (17, 21, 25; both builder and runtime images). G1 is the JVM's default for server-class machines.</a:t>
            </a:r>
            <a:br>
              <a:rPr lang="en-US"/>
            </a:br>
            <a:br>
              <a:rPr lang="en-US"/>
            </a:br>
            <a:r>
              <a:rPr lang="en-US"/>
              <a:t>Shenandoah is *available* — Red Hat compiles it in — it's just not selected by the JVM's ergonomics. One flag activates it. Worth knowing about for low-pause workloads.</a:t>
            </a:r>
            <a:br>
              <a:rPr lang="en-US"/>
            </a:br>
            <a:br>
              <a:rPr lang="en-US"/>
            </a:br>
            <a:r>
              <a:rPr lang="en-US"/>
              <a:t>Don't use this slide if I'm tight on time. The Demo 04 recap covered the substance.</a:t>
            </a:r>
            <a:endParaRPr/>
          </a:p>
        </p:txBody>
      </p:sp>
      <p:sp>
        <p:nvSpPr>
          <p:cNvPr id="504" name="Google Shape;50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db1bb68cb5_0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g3db1bb68cb5_0_1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Bonus slide — only show if there's time and someone asks about GC.</a:t>
            </a:r>
            <a:br>
              <a:rPr lang="en-US"/>
            </a:br>
            <a:br>
              <a:rPr lang="en-US"/>
            </a:br>
            <a:r>
              <a:rPr lang="en-US"/>
              <a:t>The honest framing: UBI9 OpenJDK ergonomically picks G1, on every variant we tested (17, 21, 25; both builder and runtime images). G1 is the JVM's default for server-class machines.</a:t>
            </a:r>
            <a:br>
              <a:rPr lang="en-US"/>
            </a:br>
            <a:br>
              <a:rPr lang="en-US"/>
            </a:br>
            <a:r>
              <a:rPr lang="en-US"/>
              <a:t>Shenandoah is *available* — Red Hat compiles it in — it's just not selected by the JVM's ergonomics. One flag activates it. Worth knowing about for low-pause workloads.</a:t>
            </a:r>
            <a:br>
              <a:rPr lang="en-US"/>
            </a:br>
            <a:br>
              <a:rPr lang="en-US"/>
            </a:br>
            <a:r>
              <a:rPr lang="en-US"/>
              <a:t>Don't use this slide if I'm tight on time. The Demo 04 recap covered the substance.</a:t>
            </a:r>
            <a:endParaRPr/>
          </a:p>
        </p:txBody>
      </p:sp>
      <p:sp>
        <p:nvSpPr>
          <p:cNvPr id="525" name="Google Shape;525;g3db1bb68cb5_0_1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Bonus slide — show only if there's time, otherwise it's in the repo README.</a:t>
            </a:r>
            <a:br>
              <a:rPr lang="en-US"/>
            </a:br>
            <a:br>
              <a:rPr lang="en-US"/>
            </a:br>
            <a:r>
              <a:rPr lang="en-US"/>
              <a:t>The point: clone, cd, ./demo.sh. Five commands and you have everything I just showed running on your laptop.</a:t>
            </a:r>
            <a:br>
              <a:rPr lang="en-US"/>
            </a:br>
            <a:br>
              <a:rPr lang="en-US"/>
            </a:br>
            <a:r>
              <a:rPr lang="en-US"/>
              <a:t>Common questions about prereqs:</a:t>
            </a:r>
            <a:br>
              <a:rPr lang="en-US"/>
            </a:br>
            <a:r>
              <a:rPr lang="en-US"/>
              <a:t>- Does it work on macOS? Probably; podman runs on macOS but I haven't tested.</a:t>
            </a:r>
            <a:br>
              <a:rPr lang="en-US"/>
            </a:br>
            <a:r>
              <a:rPr lang="en-US"/>
              <a:t>- Does it work on Windows? Probably with WSL2; not tested.</a:t>
            </a:r>
            <a:br>
              <a:rPr lang="en-US"/>
            </a:br>
            <a:r>
              <a:rPr lang="en-US"/>
              <a:t>- Why podman not Docker? Personal preference. The compose files should work in both.</a:t>
            </a:r>
            <a:endParaRPr/>
          </a:p>
        </p:txBody>
      </p:sp>
      <p:sp>
        <p:nvSpPr>
          <p:cNvPr id="536" name="Google Shape;53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db1bb68cb5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g3db1bb68cb5_0_1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Bonus slide — show only if there's time, otherwise it's in the repo README.</a:t>
            </a:r>
            <a:br>
              <a:rPr lang="en-US"/>
            </a:br>
            <a:br>
              <a:rPr lang="en-US"/>
            </a:br>
            <a:r>
              <a:rPr lang="en-US"/>
              <a:t>The point: clone, cd, ./demo.sh. Five commands and you have everything I just showed running on your laptop.</a:t>
            </a:r>
            <a:br>
              <a:rPr lang="en-US"/>
            </a:br>
            <a:br>
              <a:rPr lang="en-US"/>
            </a:br>
            <a:r>
              <a:rPr lang="en-US"/>
              <a:t>Common questions about prereqs:</a:t>
            </a:r>
            <a:br>
              <a:rPr lang="en-US"/>
            </a:br>
            <a:r>
              <a:rPr lang="en-US"/>
              <a:t>- Does it work on macOS? Probably; podman runs on macOS but I haven't tested.</a:t>
            </a:r>
            <a:br>
              <a:rPr lang="en-US"/>
            </a:br>
            <a:r>
              <a:rPr lang="en-US"/>
              <a:t>- Does it work on Windows? Probably with WSL2; not tested.</a:t>
            </a:r>
            <a:br>
              <a:rPr lang="en-US"/>
            </a:br>
            <a:r>
              <a:rPr lang="en-US"/>
              <a:t>- Why podman not Docker? Personal preference. The compose files should work in both.</a:t>
            </a:r>
            <a:endParaRPr/>
          </a:p>
        </p:txBody>
      </p:sp>
      <p:sp>
        <p:nvSpPr>
          <p:cNvPr id="548" name="Google Shape;548;g3db1bb68cb5_0_1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patterncatalyst/otel-observability-demo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github.com/patterncatalyst/otel-observability-demo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 name="Shape 15"/>
        <p:cNvGrpSpPr/>
        <p:nvPr/>
      </p:nvGrpSpPr>
      <p:grpSpPr>
        <a:xfrm>
          <a:off x="0" y="0"/>
          <a:ext cx="0" cy="0"/>
          <a:chOff x="0" y="0"/>
          <a:chExt cx="0" cy="0"/>
        </a:xfrm>
      </p:grpSpPr>
      <p:sp>
        <p:nvSpPr>
          <p:cNvPr id="16" name="Google Shape;16;p3"/>
          <p:cNvSpPr/>
          <p:nvPr/>
        </p:nvSpPr>
        <p:spPr>
          <a:xfrm>
            <a:off x="4114800" y="1097280"/>
            <a:ext cx="365760" cy="365760"/>
          </a:xfrm>
          <a:prstGeom prst="ellipse">
            <a:avLst/>
          </a:pr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4572000" y="1097280"/>
            <a:ext cx="365760" cy="36576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029200" y="1097280"/>
            <a:ext cx="365760" cy="365760"/>
          </a:xfrm>
          <a:prstGeom prst="ellipse">
            <a:avLst/>
          </a:pr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457200" y="1737360"/>
            <a:ext cx="82296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5400"/>
              <a:buFont typeface="Calibri"/>
              <a:buNone/>
            </a:pPr>
            <a:r>
              <a:rPr b="1" i="0" lang="en-US" sz="5400" u="none" cap="none" strike="noStrike">
                <a:solidFill>
                  <a:srgbClr val="F8FAFC"/>
                </a:solidFill>
                <a:latin typeface="Calibri"/>
                <a:ea typeface="Calibri"/>
                <a:cs typeface="Calibri"/>
                <a:sym typeface="Calibri"/>
              </a:rPr>
              <a:t>Three Signals,</a:t>
            </a:r>
            <a:endParaRPr b="0" i="0" sz="5400" u="none" cap="none" strike="noStrike">
              <a:solidFill>
                <a:schemeClr val="dk1"/>
              </a:solidFill>
              <a:latin typeface="Calibri"/>
              <a:ea typeface="Calibri"/>
              <a:cs typeface="Calibri"/>
              <a:sym typeface="Calibri"/>
            </a:endParaRPr>
          </a:p>
        </p:txBody>
      </p:sp>
      <p:sp>
        <p:nvSpPr>
          <p:cNvPr id="20" name="Google Shape;20;p3"/>
          <p:cNvSpPr/>
          <p:nvPr/>
        </p:nvSpPr>
        <p:spPr>
          <a:xfrm>
            <a:off x="457200" y="2468880"/>
            <a:ext cx="82296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5400"/>
              <a:buFont typeface="Calibri"/>
              <a:buNone/>
            </a:pPr>
            <a:r>
              <a:rPr b="1" i="0" lang="en-US" sz="5400" u="none" cap="none" strike="noStrike">
                <a:solidFill>
                  <a:srgbClr val="14B8A6"/>
                </a:solidFill>
                <a:latin typeface="Calibri"/>
                <a:ea typeface="Calibri"/>
                <a:cs typeface="Calibri"/>
                <a:sym typeface="Calibri"/>
              </a:rPr>
              <a:t>One Story</a:t>
            </a:r>
            <a:endParaRPr b="0" i="0" sz="5400" u="none" cap="none" strike="noStrike">
              <a:solidFill>
                <a:schemeClr val="dk1"/>
              </a:solidFill>
              <a:latin typeface="Calibri"/>
              <a:ea typeface="Calibri"/>
              <a:cs typeface="Calibri"/>
              <a:sym typeface="Calibri"/>
            </a:endParaRPr>
          </a:p>
        </p:txBody>
      </p:sp>
      <p:sp>
        <p:nvSpPr>
          <p:cNvPr id="21" name="Google Shape;21;p3"/>
          <p:cNvSpPr/>
          <p:nvPr/>
        </p:nvSpPr>
        <p:spPr>
          <a:xfrm>
            <a:off x="457200" y="3383280"/>
            <a:ext cx="8229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800"/>
              <a:buFont typeface="Calibri"/>
              <a:buNone/>
            </a:pPr>
            <a:r>
              <a:rPr i="1" lang="en-US" sz="1800">
                <a:solidFill>
                  <a:srgbClr val="F8FAFC"/>
                </a:solidFill>
                <a:latin typeface="Calibri"/>
                <a:ea typeface="Calibri"/>
                <a:cs typeface="Calibri"/>
                <a:sym typeface="Calibri"/>
              </a:rPr>
              <a:t>A Practitioner's Guide to OpenTelemetry on the JVM (Spring Boot Edition)</a:t>
            </a:r>
            <a:endParaRPr b="0" i="0" sz="1800" u="none" cap="none" strike="noStrike">
              <a:solidFill>
                <a:schemeClr val="dk1"/>
              </a:solidFill>
              <a:latin typeface="Calibri"/>
              <a:ea typeface="Calibri"/>
              <a:cs typeface="Calibri"/>
              <a:sym typeface="Calibri"/>
            </a:endParaRPr>
          </a:p>
        </p:txBody>
      </p:sp>
      <p:sp>
        <p:nvSpPr>
          <p:cNvPr id="22" name="Google Shape;22;p3"/>
          <p:cNvSpPr/>
          <p:nvPr/>
        </p:nvSpPr>
        <p:spPr>
          <a:xfrm>
            <a:off x="457200" y="438912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Robert Sedor - Chief Architect</a:t>
            </a:r>
            <a:r>
              <a:rPr b="0" i="0" lang="en-US" sz="1200" u="none" cap="none" strike="noStrike">
                <a:solidFill>
                  <a:srgbClr val="64748B"/>
                </a:solidFill>
                <a:latin typeface="Calibri"/>
                <a:ea typeface="Calibri"/>
                <a:cs typeface="Calibri"/>
                <a:sym typeface="Calibri"/>
              </a:rPr>
              <a:t>  ·  </a:t>
            </a:r>
            <a:r>
              <a:rPr lang="en-US" sz="1200">
                <a:solidFill>
                  <a:srgbClr val="64748B"/>
                </a:solidFill>
                <a:latin typeface="Calibri"/>
                <a:ea typeface="Calibri"/>
                <a:cs typeface="Calibri"/>
                <a:sym typeface="Calibri"/>
              </a:rPr>
              <a:t>Paychex</a:t>
            </a:r>
            <a:r>
              <a:rPr b="0" i="0" lang="en-US" sz="1200" u="none" cap="none" strike="noStrike">
                <a:solidFill>
                  <a:srgbClr val="64748B"/>
                </a:solidFill>
                <a:latin typeface="Calibri"/>
                <a:ea typeface="Calibri"/>
                <a:cs typeface="Calibri"/>
                <a:sym typeface="Calibri"/>
              </a:rPr>
              <a:t>  ·  </a:t>
            </a:r>
            <a:r>
              <a:rPr lang="en-US" sz="1200">
                <a:solidFill>
                  <a:srgbClr val="64748B"/>
                </a:solidFill>
                <a:latin typeface="Calibri"/>
                <a:ea typeface="Calibri"/>
                <a:cs typeface="Calibri"/>
                <a:sym typeface="Calibri"/>
              </a:rPr>
              <a:t>5 May 2026</a:t>
            </a:r>
            <a:endParaRPr b="0" i="0" sz="1200" u="none" cap="none" strike="noStrike">
              <a:solidFill>
                <a:schemeClr val="dk1"/>
              </a:solidFill>
              <a:latin typeface="Calibri"/>
              <a:ea typeface="Calibri"/>
              <a:cs typeface="Calibri"/>
              <a:sym typeface="Calibri"/>
            </a:endParaRPr>
          </a:p>
        </p:txBody>
      </p:sp>
      <p:sp>
        <p:nvSpPr>
          <p:cNvPr id="23" name="Google Shape;23;p3"/>
          <p:cNvSpPr/>
          <p:nvPr/>
        </p:nvSpPr>
        <p:spPr>
          <a:xfrm>
            <a:off x="457200" y="4591095"/>
            <a:ext cx="8229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lang="en-US" sz="1200" u="sng">
                <a:solidFill>
                  <a:schemeClr val="hlink"/>
                </a:solidFill>
                <a:latin typeface="Calibri"/>
                <a:ea typeface="Calibri"/>
                <a:cs typeface="Calibri"/>
                <a:sym typeface="Calibri"/>
                <a:hlinkClick r:id="rId3"/>
              </a:rPr>
              <a:t>https://github.com/patterncatalyst/otel-observability-demos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 name="Shape 28"/>
        <p:cNvGrpSpPr/>
        <p:nvPr/>
      </p:nvGrpSpPr>
      <p:grpSpPr>
        <a:xfrm>
          <a:off x="0" y="0"/>
          <a:ext cx="0" cy="0"/>
          <a:chOff x="0" y="0"/>
          <a:chExt cx="0" cy="0"/>
        </a:xfrm>
      </p:grpSpPr>
      <p:sp>
        <p:nvSpPr>
          <p:cNvPr id="29" name="Google Shape;29;p4"/>
          <p:cNvSpPr/>
          <p:nvPr/>
        </p:nvSpPr>
        <p:spPr>
          <a:xfrm>
            <a:off x="457200" y="3657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600"/>
              <a:buFont typeface="Calibri"/>
              <a:buNone/>
            </a:pPr>
            <a:r>
              <a:rPr b="1" i="0" lang="en-US" sz="3600" u="none" cap="none" strike="noStrike">
                <a:solidFill>
                  <a:srgbClr val="0F172A"/>
                </a:solidFill>
                <a:latin typeface="Calibri"/>
                <a:ea typeface="Calibri"/>
                <a:cs typeface="Calibri"/>
                <a:sym typeface="Calibri"/>
              </a:rPr>
              <a:t>Why Unified Observability?</a:t>
            </a:r>
            <a:endParaRPr b="0" i="0" sz="3600" u="none" cap="none" strike="noStrike">
              <a:solidFill>
                <a:schemeClr val="dk1"/>
              </a:solidFill>
              <a:latin typeface="Calibri"/>
              <a:ea typeface="Calibri"/>
              <a:cs typeface="Calibri"/>
              <a:sym typeface="Calibri"/>
            </a:endParaRPr>
          </a:p>
        </p:txBody>
      </p:sp>
      <p:sp>
        <p:nvSpPr>
          <p:cNvPr id="30" name="Google Shape;30;p4"/>
          <p:cNvSpPr/>
          <p:nvPr/>
        </p:nvSpPr>
        <p:spPr>
          <a:xfrm>
            <a:off x="457200" y="1280160"/>
            <a:ext cx="2651760" cy="3108960"/>
          </a:xfrm>
          <a:prstGeom prst="rect">
            <a:avLst/>
          </a:prstGeom>
          <a:solidFill>
            <a:srgbClr val="FE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640080" y="1417320"/>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400"/>
              <a:buFont typeface="Calibri"/>
              <a:buNone/>
            </a:pPr>
            <a:r>
              <a:rPr b="1" i="0" lang="en-US" sz="1400" u="none" cap="none" strike="noStrike">
                <a:solidFill>
                  <a:srgbClr val="DC2626"/>
                </a:solidFill>
                <a:latin typeface="Calibri"/>
                <a:ea typeface="Calibri"/>
                <a:cs typeface="Calibri"/>
                <a:sym typeface="Calibri"/>
              </a:rPr>
              <a:t>Symptoms today</a:t>
            </a:r>
            <a:endParaRPr b="0" i="0" sz="1400" u="none" cap="none" strike="noStrike">
              <a:solidFill>
                <a:schemeClr val="dk1"/>
              </a:solidFill>
              <a:latin typeface="Calibri"/>
              <a:ea typeface="Calibri"/>
              <a:cs typeface="Calibri"/>
              <a:sym typeface="Calibri"/>
            </a:endParaRPr>
          </a:p>
        </p:txBody>
      </p:sp>
      <p:sp>
        <p:nvSpPr>
          <p:cNvPr id="32" name="Google Shape;32;p4"/>
          <p:cNvSpPr/>
          <p:nvPr/>
        </p:nvSpPr>
        <p:spPr>
          <a:xfrm>
            <a:off x="563950" y="1828800"/>
            <a:ext cx="2400300" cy="2469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0F172A"/>
              </a:buClr>
              <a:buSzPts val="1200"/>
              <a:buFont typeface="Calibri"/>
              <a:buChar char="•"/>
            </a:pPr>
            <a:r>
              <a:rPr b="0" i="0" lang="en-US" sz="1200" u="none" cap="none" strike="noStrike">
                <a:solidFill>
                  <a:srgbClr val="0F172A"/>
                </a:solidFill>
                <a:latin typeface="Calibri"/>
                <a:ea typeface="Calibri"/>
                <a:cs typeface="Calibri"/>
                <a:sym typeface="Calibri"/>
              </a:rPr>
              <a:t>Fragmented tooling per signal</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200"/>
              <a:buFont typeface="Calibri"/>
              <a:buChar char="•"/>
            </a:pPr>
            <a:r>
              <a:rPr b="0" i="0" lang="en-US" sz="1200" u="none" cap="none" strike="noStrike">
                <a:solidFill>
                  <a:srgbClr val="0F172A"/>
                </a:solidFill>
                <a:latin typeface="Calibri"/>
                <a:ea typeface="Calibri"/>
                <a:cs typeface="Calibri"/>
                <a:sym typeface="Calibri"/>
              </a:rPr>
              <a:t>Vendor lock-in for each layer</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200"/>
              <a:buFont typeface="Calibri"/>
              <a:buChar char="•"/>
            </a:pPr>
            <a:r>
              <a:rPr b="0" i="0" lang="en-US" sz="1200" u="none" cap="none" strike="noStrike">
                <a:solidFill>
                  <a:srgbClr val="0F172A"/>
                </a:solidFill>
                <a:latin typeface="Calibri"/>
                <a:ea typeface="Calibri"/>
                <a:cs typeface="Calibri"/>
                <a:sym typeface="Calibri"/>
              </a:rPr>
              <a:t>Trace IDs don't reach the logs</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200"/>
              <a:buFont typeface="Calibri"/>
              <a:buChar char="•"/>
            </a:pPr>
            <a:r>
              <a:rPr b="0" i="0" lang="en-US" sz="1200" u="none" cap="none" strike="noStrike">
                <a:solidFill>
                  <a:srgbClr val="0F172A"/>
                </a:solidFill>
                <a:latin typeface="Calibri"/>
                <a:ea typeface="Calibri"/>
                <a:cs typeface="Calibri"/>
                <a:sym typeface="Calibri"/>
              </a:rPr>
              <a:t>Cardinality bombs in production</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200"/>
              <a:buFont typeface="Calibri"/>
              <a:buChar char="•"/>
            </a:pPr>
            <a:r>
              <a:rPr b="0" i="0" lang="en-US" sz="1200" u="none" cap="none" strike="noStrike">
                <a:solidFill>
                  <a:srgbClr val="0F172A"/>
                </a:solidFill>
                <a:latin typeface="Calibri"/>
                <a:ea typeface="Calibri"/>
                <a:cs typeface="Calibri"/>
                <a:sym typeface="Calibri"/>
              </a:rPr>
              <a:t>GC pauses you only see post-mortem</a:t>
            </a:r>
            <a:endParaRPr b="0" i="0" sz="1200" u="none" cap="none" strike="noStrike">
              <a:solidFill>
                <a:schemeClr val="dk1"/>
              </a:solidFill>
              <a:latin typeface="Calibri"/>
              <a:ea typeface="Calibri"/>
              <a:cs typeface="Calibri"/>
              <a:sym typeface="Calibri"/>
            </a:endParaRPr>
          </a:p>
        </p:txBody>
      </p:sp>
      <p:sp>
        <p:nvSpPr>
          <p:cNvPr id="33" name="Google Shape;33;p4"/>
          <p:cNvSpPr/>
          <p:nvPr/>
        </p:nvSpPr>
        <p:spPr>
          <a:xfrm>
            <a:off x="3246120" y="1280160"/>
            <a:ext cx="2651760" cy="3108960"/>
          </a:xfrm>
          <a:prstGeom prst="rect">
            <a:avLst/>
          </a:prstGeom>
          <a:solidFill>
            <a:srgbClr val="FFF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3429000" y="1417320"/>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400"/>
              <a:buFont typeface="Calibri"/>
              <a:buNone/>
            </a:pPr>
            <a:r>
              <a:rPr b="1" i="0" lang="en-US" sz="1400" u="none" cap="none" strike="noStrike">
                <a:solidFill>
                  <a:srgbClr val="F59E0B"/>
                </a:solidFill>
                <a:latin typeface="Calibri"/>
                <a:ea typeface="Calibri"/>
                <a:cs typeface="Calibri"/>
                <a:sym typeface="Calibri"/>
              </a:rPr>
              <a:t>OpenTelemetry promises</a:t>
            </a:r>
            <a:endParaRPr b="0" i="0" sz="1400" u="none" cap="none" strike="noStrike">
              <a:solidFill>
                <a:schemeClr val="dk1"/>
              </a:solidFill>
              <a:latin typeface="Calibri"/>
              <a:ea typeface="Calibri"/>
              <a:cs typeface="Calibri"/>
              <a:sym typeface="Calibri"/>
            </a:endParaRPr>
          </a:p>
        </p:txBody>
      </p:sp>
      <p:sp>
        <p:nvSpPr>
          <p:cNvPr id="35" name="Google Shape;35;p4"/>
          <p:cNvSpPr/>
          <p:nvPr/>
        </p:nvSpPr>
        <p:spPr>
          <a:xfrm>
            <a:off x="3379551" y="1828800"/>
            <a:ext cx="2400300" cy="2469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0F172A"/>
              </a:buClr>
              <a:buSzPts val="1200"/>
              <a:buFont typeface="Calibri"/>
              <a:buChar char="•"/>
            </a:pPr>
            <a:r>
              <a:rPr b="0" i="0" lang="en-US" sz="1200" u="none" cap="none" strike="noStrike">
                <a:solidFill>
                  <a:srgbClr val="0F172A"/>
                </a:solidFill>
                <a:latin typeface="Calibri"/>
                <a:ea typeface="Calibri"/>
                <a:cs typeface="Calibri"/>
                <a:sym typeface="Calibri"/>
              </a:rPr>
              <a:t>One vendor-neutral protocol (OTLP)</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200"/>
              <a:buFont typeface="Calibri"/>
              <a:buChar char="•"/>
            </a:pPr>
            <a:r>
              <a:rPr b="0" i="0" lang="en-US" sz="1200" u="none" cap="none" strike="noStrike">
                <a:solidFill>
                  <a:srgbClr val="0F172A"/>
                </a:solidFill>
                <a:latin typeface="Calibri"/>
                <a:ea typeface="Calibri"/>
                <a:cs typeface="Calibri"/>
                <a:sym typeface="Calibri"/>
              </a:rPr>
              <a:t>Auto-instrumentation across libraries</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200"/>
              <a:buFont typeface="Calibri"/>
              <a:buChar char="•"/>
            </a:pPr>
            <a:r>
              <a:rPr b="0" i="0" lang="en-US" sz="1200" u="none" cap="none" strike="noStrike">
                <a:solidFill>
                  <a:srgbClr val="0F172A"/>
                </a:solidFill>
                <a:latin typeface="Calibri"/>
                <a:ea typeface="Calibri"/>
                <a:cs typeface="Calibri"/>
                <a:sym typeface="Calibri"/>
              </a:rPr>
              <a:t>Cross-signal correlation by trace_id</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200"/>
              <a:buFont typeface="Calibri"/>
              <a:buChar char="•"/>
            </a:pPr>
            <a:r>
              <a:rPr b="0" i="0" lang="en-US" sz="1200" u="none" cap="none" strike="noStrike">
                <a:solidFill>
                  <a:srgbClr val="0F172A"/>
                </a:solidFill>
                <a:latin typeface="Calibri"/>
                <a:ea typeface="Calibri"/>
                <a:cs typeface="Calibri"/>
                <a:sym typeface="Calibri"/>
              </a:rPr>
              <a:t>Pluggable processing in the Collector</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200"/>
              <a:buFont typeface="Calibri"/>
              <a:buChar char="•"/>
            </a:pPr>
            <a:r>
              <a:rPr b="0" i="0" lang="en-US" sz="1200" u="none" cap="none" strike="noStrike">
                <a:solidFill>
                  <a:srgbClr val="0F172A"/>
                </a:solidFill>
                <a:latin typeface="Calibri"/>
                <a:ea typeface="Calibri"/>
                <a:cs typeface="Calibri"/>
                <a:sym typeface="Calibri"/>
              </a:rPr>
              <a:t>Consistent semantic conventions</a:t>
            </a:r>
            <a:endParaRPr b="0" i="0" sz="1200" u="none" cap="none" strike="noStrike">
              <a:solidFill>
                <a:schemeClr val="dk1"/>
              </a:solidFill>
              <a:latin typeface="Calibri"/>
              <a:ea typeface="Calibri"/>
              <a:cs typeface="Calibri"/>
              <a:sym typeface="Calibri"/>
            </a:endParaRPr>
          </a:p>
        </p:txBody>
      </p:sp>
      <p:sp>
        <p:nvSpPr>
          <p:cNvPr id="36" name="Google Shape;36;p4"/>
          <p:cNvSpPr/>
          <p:nvPr/>
        </p:nvSpPr>
        <p:spPr>
          <a:xfrm>
            <a:off x="6035040" y="1280160"/>
            <a:ext cx="2651760" cy="3108960"/>
          </a:xfrm>
          <a:prstGeom prst="rect">
            <a:avLst/>
          </a:prstGeom>
          <a:solidFill>
            <a:srgbClr val="F0FD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6217920" y="1417320"/>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400"/>
              <a:buFont typeface="Calibri"/>
              <a:buNone/>
            </a:pPr>
            <a:r>
              <a:rPr b="1" i="0" lang="en-US" sz="1400" u="none" cap="none" strike="noStrike">
                <a:solidFill>
                  <a:srgbClr val="0D9488"/>
                </a:solidFill>
                <a:latin typeface="Calibri"/>
                <a:ea typeface="Calibri"/>
                <a:cs typeface="Calibri"/>
                <a:sym typeface="Calibri"/>
              </a:rPr>
              <a:t>What we'll prove</a:t>
            </a:r>
            <a:endParaRPr b="0" i="0" sz="1400" u="none" cap="none" strike="noStrike">
              <a:solidFill>
                <a:schemeClr val="dk1"/>
              </a:solidFill>
              <a:latin typeface="Calibri"/>
              <a:ea typeface="Calibri"/>
              <a:cs typeface="Calibri"/>
              <a:sym typeface="Calibri"/>
            </a:endParaRPr>
          </a:p>
        </p:txBody>
      </p:sp>
      <p:sp>
        <p:nvSpPr>
          <p:cNvPr id="38" name="Google Shape;38;p4"/>
          <p:cNvSpPr/>
          <p:nvPr/>
        </p:nvSpPr>
        <p:spPr>
          <a:xfrm>
            <a:off x="6195153" y="1828800"/>
            <a:ext cx="2400300" cy="2469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0F172A"/>
              </a:buClr>
              <a:buSzPts val="1200"/>
              <a:buFont typeface="Calibri"/>
              <a:buChar char="•"/>
            </a:pPr>
            <a:r>
              <a:rPr b="0" i="0" lang="en-US" sz="1200" u="none" cap="none" strike="noStrike">
                <a:solidFill>
                  <a:srgbClr val="0F172A"/>
                </a:solidFill>
                <a:latin typeface="Calibri"/>
                <a:ea typeface="Calibri"/>
                <a:cs typeface="Calibri"/>
                <a:sym typeface="Calibri"/>
              </a:rPr>
              <a:t>All three signals, one trace_id</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200"/>
              <a:buFont typeface="Calibri"/>
              <a:buChar char="•"/>
            </a:pPr>
            <a:r>
              <a:rPr b="0" i="0" lang="en-US" sz="1200" u="none" cap="none" strike="noStrike">
                <a:solidFill>
                  <a:srgbClr val="0F172A"/>
                </a:solidFill>
                <a:latin typeface="Calibri"/>
                <a:ea typeface="Calibri"/>
                <a:cs typeface="Calibri"/>
                <a:sym typeface="Calibri"/>
              </a:rPr>
              <a:t>Cardinality is taming, not magic</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200"/>
              <a:buFont typeface="Calibri"/>
              <a:buChar char="•"/>
            </a:pPr>
            <a:r>
              <a:rPr b="0" i="0" lang="en-US" sz="1200" u="none" cap="none" strike="noStrike">
                <a:solidFill>
                  <a:srgbClr val="0F172A"/>
                </a:solidFill>
                <a:latin typeface="Calibri"/>
                <a:ea typeface="Calibri"/>
                <a:cs typeface="Calibri"/>
                <a:sym typeface="Calibri"/>
              </a:rPr>
              <a:t>Tail sampling keeps the interesting</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200"/>
              <a:buFont typeface="Calibri"/>
              <a:buChar char="•"/>
            </a:pPr>
            <a:r>
              <a:rPr b="0" i="0" lang="en-US" sz="1200" u="none" cap="none" strike="noStrike">
                <a:solidFill>
                  <a:srgbClr val="0F172A"/>
                </a:solidFill>
                <a:latin typeface="Calibri"/>
                <a:ea typeface="Calibri"/>
                <a:cs typeface="Calibri"/>
                <a:sym typeface="Calibri"/>
              </a:rPr>
              <a:t>GC choice has visible operational shape</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200"/>
              <a:buFont typeface="Calibri"/>
              <a:buChar char="•"/>
            </a:pPr>
            <a:r>
              <a:rPr b="0" i="0" lang="en-US" sz="1200" u="none" cap="none" strike="noStrike">
                <a:solidFill>
                  <a:srgbClr val="0F172A"/>
                </a:solidFill>
                <a:latin typeface="Calibri"/>
                <a:ea typeface="Calibri"/>
                <a:cs typeface="Calibri"/>
                <a:sym typeface="Calibri"/>
              </a:rPr>
              <a:t>Cold start: agent vs SDK is real</a:t>
            </a:r>
            <a:endParaRPr b="0" i="0" sz="1200" u="none" cap="none" strike="noStrike">
              <a:solidFill>
                <a:schemeClr val="dk1"/>
              </a:solidFill>
              <a:latin typeface="Calibri"/>
              <a:ea typeface="Calibri"/>
              <a:cs typeface="Calibri"/>
              <a:sym typeface="Calibri"/>
            </a:endParaRPr>
          </a:p>
        </p:txBody>
      </p:sp>
      <p:sp>
        <p:nvSpPr>
          <p:cNvPr id="39" name="Google Shape;39;p4"/>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40" name="Google Shape;40;p4"/>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 name="Shape 45"/>
        <p:cNvGrpSpPr/>
        <p:nvPr/>
      </p:nvGrpSpPr>
      <p:grpSpPr>
        <a:xfrm>
          <a:off x="0" y="0"/>
          <a:ext cx="0" cy="0"/>
          <a:chOff x="0" y="0"/>
          <a:chExt cx="0" cy="0"/>
        </a:xfrm>
      </p:grpSpPr>
      <p:sp>
        <p:nvSpPr>
          <p:cNvPr id="46" name="Google Shape;46;p5"/>
          <p:cNvSpPr/>
          <p:nvPr/>
        </p:nvSpPr>
        <p:spPr>
          <a:xfrm>
            <a:off x="457200" y="3657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600"/>
              <a:buFont typeface="Calibri"/>
              <a:buNone/>
            </a:pPr>
            <a:r>
              <a:rPr b="1" i="0" lang="en-US" sz="3600" u="none" cap="none" strike="noStrike">
                <a:solidFill>
                  <a:srgbClr val="0F172A"/>
                </a:solidFill>
                <a:latin typeface="Calibri"/>
                <a:ea typeface="Calibri"/>
                <a:cs typeface="Calibri"/>
                <a:sym typeface="Calibri"/>
              </a:rPr>
              <a:t>Five Demos</a:t>
            </a:r>
            <a:r>
              <a:rPr b="1" lang="en-US" sz="3600">
                <a:solidFill>
                  <a:srgbClr val="0F172A"/>
                </a:solidFill>
                <a:latin typeface="Calibri"/>
                <a:ea typeface="Calibri"/>
                <a:cs typeface="Calibri"/>
                <a:sym typeface="Calibri"/>
              </a:rPr>
              <a:t>, The Three Signals</a:t>
            </a:r>
            <a:endParaRPr b="0" i="0" sz="3600" u="none" cap="none" strike="noStrike">
              <a:solidFill>
                <a:schemeClr val="dk1"/>
              </a:solidFill>
              <a:latin typeface="Calibri"/>
              <a:ea typeface="Calibri"/>
              <a:cs typeface="Calibri"/>
              <a:sym typeface="Calibri"/>
            </a:endParaRPr>
          </a:p>
        </p:txBody>
      </p:sp>
      <p:sp>
        <p:nvSpPr>
          <p:cNvPr id="47" name="Google Shape;47;p5"/>
          <p:cNvSpPr/>
          <p:nvPr/>
        </p:nvSpPr>
        <p:spPr>
          <a:xfrm>
            <a:off x="457200" y="91440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Each demo runs end-to-end on a single laptop. Code on GitHub.</a:t>
            </a:r>
            <a:endParaRPr b="0" i="0" sz="1400" u="none" cap="none" strike="noStrike">
              <a:solidFill>
                <a:schemeClr val="dk1"/>
              </a:solidFill>
              <a:latin typeface="Calibri"/>
              <a:ea typeface="Calibri"/>
              <a:cs typeface="Calibri"/>
              <a:sym typeface="Calibri"/>
            </a:endParaRPr>
          </a:p>
        </p:txBody>
      </p:sp>
      <p:sp>
        <p:nvSpPr>
          <p:cNvPr id="48" name="Google Shape;48;p5"/>
          <p:cNvSpPr/>
          <p:nvPr/>
        </p:nvSpPr>
        <p:spPr>
          <a:xfrm>
            <a:off x="457200" y="1417320"/>
            <a:ext cx="8229600" cy="566928"/>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457200" y="1417320"/>
            <a:ext cx="73152" cy="566928"/>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640080" y="1417320"/>
            <a:ext cx="6400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2200"/>
              <a:buFont typeface="Calibri"/>
              <a:buNone/>
            </a:pPr>
            <a:r>
              <a:rPr b="1" i="0" lang="en-US" sz="2200" u="none" cap="none" strike="noStrike">
                <a:solidFill>
                  <a:srgbClr val="0D9488"/>
                </a:solidFill>
                <a:latin typeface="Calibri"/>
                <a:ea typeface="Calibri"/>
                <a:cs typeface="Calibri"/>
                <a:sym typeface="Calibri"/>
              </a:rPr>
              <a:t>01</a:t>
            </a:r>
            <a:endParaRPr b="0" i="0" sz="2200" u="none" cap="none" strike="noStrike">
              <a:solidFill>
                <a:schemeClr val="dk1"/>
              </a:solidFill>
              <a:latin typeface="Calibri"/>
              <a:ea typeface="Calibri"/>
              <a:cs typeface="Calibri"/>
              <a:sym typeface="Calibri"/>
            </a:endParaRPr>
          </a:p>
        </p:txBody>
      </p:sp>
      <p:sp>
        <p:nvSpPr>
          <p:cNvPr id="51" name="Google Shape;51;p5"/>
          <p:cNvSpPr/>
          <p:nvPr/>
        </p:nvSpPr>
        <p:spPr>
          <a:xfrm>
            <a:off x="1371600" y="1417320"/>
            <a:ext cx="34747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Three Signals, One Story</a:t>
            </a:r>
            <a:endParaRPr b="0" i="0" sz="1600" u="none" cap="none" strike="noStrike">
              <a:solidFill>
                <a:schemeClr val="dk1"/>
              </a:solidFill>
              <a:latin typeface="Calibri"/>
              <a:ea typeface="Calibri"/>
              <a:cs typeface="Calibri"/>
              <a:sym typeface="Calibri"/>
            </a:endParaRPr>
          </a:p>
        </p:txBody>
      </p:sp>
      <p:sp>
        <p:nvSpPr>
          <p:cNvPr id="52" name="Google Shape;52;p5"/>
          <p:cNvSpPr/>
          <p:nvPr/>
        </p:nvSpPr>
        <p:spPr>
          <a:xfrm>
            <a:off x="4937760" y="1417320"/>
            <a:ext cx="3657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trace_id flows across traces, metrics, logs</a:t>
            </a:r>
            <a:endParaRPr b="0" i="0" sz="1300" u="none" cap="none" strike="noStrike">
              <a:solidFill>
                <a:schemeClr val="dk1"/>
              </a:solidFill>
              <a:latin typeface="Calibri"/>
              <a:ea typeface="Calibri"/>
              <a:cs typeface="Calibri"/>
              <a:sym typeface="Calibri"/>
            </a:endParaRPr>
          </a:p>
        </p:txBody>
      </p:sp>
      <p:sp>
        <p:nvSpPr>
          <p:cNvPr id="53" name="Google Shape;53;p5"/>
          <p:cNvSpPr/>
          <p:nvPr/>
        </p:nvSpPr>
        <p:spPr>
          <a:xfrm>
            <a:off x="457200" y="2093976"/>
            <a:ext cx="8229600" cy="566928"/>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457200" y="2093976"/>
            <a:ext cx="73152" cy="566928"/>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640080" y="2093976"/>
            <a:ext cx="6400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2200"/>
              <a:buFont typeface="Calibri"/>
              <a:buNone/>
            </a:pPr>
            <a:r>
              <a:rPr b="1" i="0" lang="en-US" sz="2200" u="none" cap="none" strike="noStrike">
                <a:solidFill>
                  <a:srgbClr val="F59E0B"/>
                </a:solidFill>
                <a:latin typeface="Calibri"/>
                <a:ea typeface="Calibri"/>
                <a:cs typeface="Calibri"/>
                <a:sym typeface="Calibri"/>
              </a:rPr>
              <a:t>02</a:t>
            </a:r>
            <a:endParaRPr b="0" i="0" sz="2200" u="none" cap="none" strike="noStrike">
              <a:solidFill>
                <a:schemeClr val="dk1"/>
              </a:solidFill>
              <a:latin typeface="Calibri"/>
              <a:ea typeface="Calibri"/>
              <a:cs typeface="Calibri"/>
              <a:sym typeface="Calibri"/>
            </a:endParaRPr>
          </a:p>
        </p:txBody>
      </p:sp>
      <p:sp>
        <p:nvSpPr>
          <p:cNvPr id="56" name="Google Shape;56;p5"/>
          <p:cNvSpPr/>
          <p:nvPr/>
        </p:nvSpPr>
        <p:spPr>
          <a:xfrm>
            <a:off x="1371600" y="2093976"/>
            <a:ext cx="34747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The Cardinality Bomb</a:t>
            </a:r>
            <a:endParaRPr b="0" i="0" sz="1600" u="none" cap="none" strike="noStrike">
              <a:solidFill>
                <a:schemeClr val="dk1"/>
              </a:solidFill>
              <a:latin typeface="Calibri"/>
              <a:ea typeface="Calibri"/>
              <a:cs typeface="Calibri"/>
              <a:sym typeface="Calibri"/>
            </a:endParaRPr>
          </a:p>
        </p:txBody>
      </p:sp>
      <p:sp>
        <p:nvSpPr>
          <p:cNvPr id="57" name="Google Shape;57;p5"/>
          <p:cNvSpPr/>
          <p:nvPr/>
        </p:nvSpPr>
        <p:spPr>
          <a:xfrm>
            <a:off x="4937760" y="2093976"/>
            <a:ext cx="3657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when labels explode and what to do about it</a:t>
            </a:r>
            <a:endParaRPr b="0" i="0" sz="1300" u="none" cap="none" strike="noStrike">
              <a:solidFill>
                <a:schemeClr val="dk1"/>
              </a:solidFill>
              <a:latin typeface="Calibri"/>
              <a:ea typeface="Calibri"/>
              <a:cs typeface="Calibri"/>
              <a:sym typeface="Calibri"/>
            </a:endParaRPr>
          </a:p>
        </p:txBody>
      </p:sp>
      <p:sp>
        <p:nvSpPr>
          <p:cNvPr id="58" name="Google Shape;58;p5"/>
          <p:cNvSpPr/>
          <p:nvPr/>
        </p:nvSpPr>
        <p:spPr>
          <a:xfrm>
            <a:off x="457200" y="2770632"/>
            <a:ext cx="8229600" cy="566928"/>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457200" y="2770632"/>
            <a:ext cx="73152" cy="566928"/>
          </a:xfrm>
          <a:prstGeom prst="rect">
            <a:avLst/>
          </a:pr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640080" y="2770632"/>
            <a:ext cx="6400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5CF6"/>
              </a:buClr>
              <a:buSzPts val="2200"/>
              <a:buFont typeface="Calibri"/>
              <a:buNone/>
            </a:pPr>
            <a:r>
              <a:rPr b="1" i="0" lang="en-US" sz="2200" u="none" cap="none" strike="noStrike">
                <a:solidFill>
                  <a:srgbClr val="8B5CF6"/>
                </a:solidFill>
                <a:latin typeface="Calibri"/>
                <a:ea typeface="Calibri"/>
                <a:cs typeface="Calibri"/>
                <a:sym typeface="Calibri"/>
              </a:rPr>
              <a:t>03</a:t>
            </a:r>
            <a:endParaRPr b="0" i="0" sz="2200" u="none" cap="none" strike="noStrike">
              <a:solidFill>
                <a:schemeClr val="dk1"/>
              </a:solidFill>
              <a:latin typeface="Calibri"/>
              <a:ea typeface="Calibri"/>
              <a:cs typeface="Calibri"/>
              <a:sym typeface="Calibri"/>
            </a:endParaRPr>
          </a:p>
        </p:txBody>
      </p:sp>
      <p:sp>
        <p:nvSpPr>
          <p:cNvPr id="61" name="Google Shape;61;p5"/>
          <p:cNvSpPr/>
          <p:nvPr/>
        </p:nvSpPr>
        <p:spPr>
          <a:xfrm>
            <a:off x="1371600" y="2770632"/>
            <a:ext cx="34747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Tail Sampling</a:t>
            </a:r>
            <a:endParaRPr b="0" i="0" sz="1600" u="none" cap="none" strike="noStrike">
              <a:solidFill>
                <a:schemeClr val="dk1"/>
              </a:solidFill>
              <a:latin typeface="Calibri"/>
              <a:ea typeface="Calibri"/>
              <a:cs typeface="Calibri"/>
              <a:sym typeface="Calibri"/>
            </a:endParaRPr>
          </a:p>
        </p:txBody>
      </p:sp>
      <p:sp>
        <p:nvSpPr>
          <p:cNvPr id="62" name="Google Shape;62;p5"/>
          <p:cNvSpPr/>
          <p:nvPr/>
        </p:nvSpPr>
        <p:spPr>
          <a:xfrm>
            <a:off x="4937760" y="2770632"/>
            <a:ext cx="3657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keep what's interesting, discard the rest</a:t>
            </a:r>
            <a:endParaRPr b="0" i="0" sz="1300" u="none" cap="none" strike="noStrike">
              <a:solidFill>
                <a:schemeClr val="dk1"/>
              </a:solidFill>
              <a:latin typeface="Calibri"/>
              <a:ea typeface="Calibri"/>
              <a:cs typeface="Calibri"/>
              <a:sym typeface="Calibri"/>
            </a:endParaRPr>
          </a:p>
        </p:txBody>
      </p:sp>
      <p:sp>
        <p:nvSpPr>
          <p:cNvPr id="63" name="Google Shape;63;p5"/>
          <p:cNvSpPr/>
          <p:nvPr/>
        </p:nvSpPr>
        <p:spPr>
          <a:xfrm>
            <a:off x="457200" y="3447288"/>
            <a:ext cx="8229600" cy="566928"/>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457200" y="3447288"/>
            <a:ext cx="73152" cy="566928"/>
          </a:xfrm>
          <a:prstGeom prst="rect">
            <a:avLst/>
          </a:pr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640080" y="3447288"/>
            <a:ext cx="6400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B6D4"/>
              </a:buClr>
              <a:buSzPts val="2200"/>
              <a:buFont typeface="Calibri"/>
              <a:buNone/>
            </a:pPr>
            <a:r>
              <a:rPr b="1" i="0" lang="en-US" sz="2200" u="none" cap="none" strike="noStrike">
                <a:solidFill>
                  <a:srgbClr val="06B6D4"/>
                </a:solidFill>
                <a:latin typeface="Calibri"/>
                <a:ea typeface="Calibri"/>
                <a:cs typeface="Calibri"/>
                <a:sym typeface="Calibri"/>
              </a:rPr>
              <a:t>04</a:t>
            </a:r>
            <a:endParaRPr b="0" i="0" sz="2200" u="none" cap="none" strike="noStrike">
              <a:solidFill>
                <a:schemeClr val="dk1"/>
              </a:solidFill>
              <a:latin typeface="Calibri"/>
              <a:ea typeface="Calibri"/>
              <a:cs typeface="Calibri"/>
              <a:sym typeface="Calibri"/>
            </a:endParaRPr>
          </a:p>
        </p:txBody>
      </p:sp>
      <p:sp>
        <p:nvSpPr>
          <p:cNvPr id="66" name="Google Shape;66;p5"/>
          <p:cNvSpPr/>
          <p:nvPr/>
        </p:nvSpPr>
        <p:spPr>
          <a:xfrm>
            <a:off x="1371600" y="3447288"/>
            <a:ext cx="34747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JVM Metrics &amp; GC Stories</a:t>
            </a:r>
            <a:endParaRPr b="0" i="0" sz="1600" u="none" cap="none" strike="noStrike">
              <a:solidFill>
                <a:schemeClr val="dk1"/>
              </a:solidFill>
              <a:latin typeface="Calibri"/>
              <a:ea typeface="Calibri"/>
              <a:cs typeface="Calibri"/>
              <a:sym typeface="Calibri"/>
            </a:endParaRPr>
          </a:p>
        </p:txBody>
      </p:sp>
      <p:sp>
        <p:nvSpPr>
          <p:cNvPr id="67" name="Google Shape;67;p5"/>
          <p:cNvSpPr/>
          <p:nvPr/>
        </p:nvSpPr>
        <p:spPr>
          <a:xfrm>
            <a:off x="4937760" y="3447288"/>
            <a:ext cx="3657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Shenandoah, G1, ZGC: each has visible shape</a:t>
            </a:r>
            <a:endParaRPr b="0" i="0" sz="1300" u="none" cap="none" strike="noStrike">
              <a:solidFill>
                <a:schemeClr val="dk1"/>
              </a:solidFill>
              <a:latin typeface="Calibri"/>
              <a:ea typeface="Calibri"/>
              <a:cs typeface="Calibri"/>
              <a:sym typeface="Calibri"/>
            </a:endParaRPr>
          </a:p>
        </p:txBody>
      </p:sp>
      <p:sp>
        <p:nvSpPr>
          <p:cNvPr id="68" name="Google Shape;68;p5"/>
          <p:cNvSpPr/>
          <p:nvPr/>
        </p:nvSpPr>
        <p:spPr>
          <a:xfrm>
            <a:off x="457200" y="4123944"/>
            <a:ext cx="8229600" cy="566928"/>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457200" y="4123944"/>
            <a:ext cx="73152" cy="566928"/>
          </a:xfrm>
          <a:prstGeom prst="rect">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640080" y="4123944"/>
            <a:ext cx="6400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2200"/>
              <a:buFont typeface="Calibri"/>
              <a:buNone/>
            </a:pPr>
            <a:r>
              <a:rPr b="1" i="0" lang="en-US" sz="2200" u="none" cap="none" strike="noStrike">
                <a:solidFill>
                  <a:srgbClr val="DC2626"/>
                </a:solidFill>
                <a:latin typeface="Calibri"/>
                <a:ea typeface="Calibri"/>
                <a:cs typeface="Calibri"/>
                <a:sym typeface="Calibri"/>
              </a:rPr>
              <a:t>05</a:t>
            </a:r>
            <a:endParaRPr b="0" i="0" sz="2200" u="none" cap="none" strike="noStrike">
              <a:solidFill>
                <a:schemeClr val="dk1"/>
              </a:solidFill>
              <a:latin typeface="Calibri"/>
              <a:ea typeface="Calibri"/>
              <a:cs typeface="Calibri"/>
              <a:sym typeface="Calibri"/>
            </a:endParaRPr>
          </a:p>
        </p:txBody>
      </p:sp>
      <p:sp>
        <p:nvSpPr>
          <p:cNvPr id="71" name="Google Shape;71;p5"/>
          <p:cNvSpPr/>
          <p:nvPr/>
        </p:nvSpPr>
        <p:spPr>
          <a:xfrm>
            <a:off x="1371600" y="4123944"/>
            <a:ext cx="34747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Cold Start: Frameworks Compared</a:t>
            </a:r>
            <a:endParaRPr b="0" i="0" sz="1600" u="none" cap="none" strike="noStrike">
              <a:solidFill>
                <a:schemeClr val="dk1"/>
              </a:solidFill>
              <a:latin typeface="Calibri"/>
              <a:ea typeface="Calibri"/>
              <a:cs typeface="Calibri"/>
              <a:sym typeface="Calibri"/>
            </a:endParaRPr>
          </a:p>
        </p:txBody>
      </p:sp>
      <p:sp>
        <p:nvSpPr>
          <p:cNvPr id="72" name="Google Shape;72;p5"/>
          <p:cNvSpPr/>
          <p:nvPr/>
        </p:nvSpPr>
        <p:spPr>
          <a:xfrm>
            <a:off x="4937760" y="4123944"/>
            <a:ext cx="3657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Spring Boot 4 vs Quarkus, same JDK + Leyden</a:t>
            </a:r>
            <a:endParaRPr b="0" i="0" sz="1300" u="none" cap="none" strike="noStrike">
              <a:solidFill>
                <a:schemeClr val="dk1"/>
              </a:solidFill>
              <a:latin typeface="Calibri"/>
              <a:ea typeface="Calibri"/>
              <a:cs typeface="Calibri"/>
              <a:sym typeface="Calibri"/>
            </a:endParaRPr>
          </a:p>
        </p:txBody>
      </p:sp>
      <p:sp>
        <p:nvSpPr>
          <p:cNvPr id="73" name="Google Shape;73;p5"/>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74" name="Google Shape;74;p5"/>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75" name="Google Shape;75;p5"/>
          <p:cNvSpPr/>
          <p:nvPr/>
        </p:nvSpPr>
        <p:spPr>
          <a:xfrm>
            <a:off x="457200" y="4754933"/>
            <a:ext cx="8229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lang="en-US" sz="1200" u="sng">
                <a:solidFill>
                  <a:schemeClr val="hlink"/>
                </a:solidFill>
                <a:latin typeface="Calibri"/>
                <a:ea typeface="Calibri"/>
                <a:cs typeface="Calibri"/>
                <a:sym typeface="Calibri"/>
                <a:hlinkClick r:id="rId3"/>
              </a:rPr>
              <a:t>https://github.com/patterncatalyst/otel-observability-demos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6"/>
          <p:cNvSpPr/>
          <p:nvPr/>
        </p:nvSpPr>
        <p:spPr>
          <a:xfrm>
            <a:off x="457200" y="3657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600"/>
              <a:buFont typeface="Calibri"/>
              <a:buNone/>
            </a:pPr>
            <a:r>
              <a:rPr b="1" i="0" lang="en-US" sz="3600" u="none" cap="none" strike="noStrike">
                <a:solidFill>
                  <a:srgbClr val="0F172A"/>
                </a:solidFill>
                <a:latin typeface="Calibri"/>
                <a:ea typeface="Calibri"/>
                <a:cs typeface="Calibri"/>
                <a:sym typeface="Calibri"/>
              </a:rPr>
              <a:t>The Three Signals</a:t>
            </a:r>
            <a:endParaRPr b="0" i="0" sz="3600" u="none" cap="none" strike="noStrike">
              <a:solidFill>
                <a:schemeClr val="dk1"/>
              </a:solidFill>
              <a:latin typeface="Calibri"/>
              <a:ea typeface="Calibri"/>
              <a:cs typeface="Calibri"/>
              <a:sym typeface="Calibri"/>
            </a:endParaRPr>
          </a:p>
        </p:txBody>
      </p:sp>
      <p:sp>
        <p:nvSpPr>
          <p:cNvPr id="82" name="Google Shape;82;p6"/>
          <p:cNvSpPr/>
          <p:nvPr/>
        </p:nvSpPr>
        <p:spPr>
          <a:xfrm>
            <a:off x="457200" y="1188720"/>
            <a:ext cx="2697480" cy="457200"/>
          </a:xfrm>
          <a:prstGeom prst="rect">
            <a:avLst/>
          </a:pr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p:nvPr/>
        </p:nvSpPr>
        <p:spPr>
          <a:xfrm>
            <a:off x="640080" y="1234440"/>
            <a:ext cx="2331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Traces</a:t>
            </a:r>
            <a:endParaRPr b="0" i="0" sz="1800" u="none" cap="none" strike="noStrike">
              <a:solidFill>
                <a:schemeClr val="dk1"/>
              </a:solidFill>
              <a:latin typeface="Calibri"/>
              <a:ea typeface="Calibri"/>
              <a:cs typeface="Calibri"/>
              <a:sym typeface="Calibri"/>
            </a:endParaRPr>
          </a:p>
        </p:txBody>
      </p:sp>
      <p:sp>
        <p:nvSpPr>
          <p:cNvPr id="84" name="Google Shape;84;p6"/>
          <p:cNvSpPr/>
          <p:nvPr/>
        </p:nvSpPr>
        <p:spPr>
          <a:xfrm>
            <a:off x="457200" y="1645920"/>
            <a:ext cx="2697480" cy="292608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640080" y="1783080"/>
            <a:ext cx="2331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0" i="1" lang="en-US" sz="1300" u="none" cap="none" strike="noStrike">
                <a:solidFill>
                  <a:srgbClr val="0F172A"/>
                </a:solidFill>
                <a:latin typeface="Calibri"/>
                <a:ea typeface="Calibri"/>
                <a:cs typeface="Calibri"/>
                <a:sym typeface="Calibri"/>
              </a:rPr>
              <a:t>Causal chains across services</a:t>
            </a:r>
            <a:endParaRPr b="0" i="0" sz="1300" u="none" cap="none" strike="noStrike">
              <a:solidFill>
                <a:schemeClr val="dk1"/>
              </a:solidFill>
              <a:latin typeface="Calibri"/>
              <a:ea typeface="Calibri"/>
              <a:cs typeface="Calibri"/>
              <a:sym typeface="Calibri"/>
            </a:endParaRPr>
          </a:p>
        </p:txBody>
      </p:sp>
      <p:sp>
        <p:nvSpPr>
          <p:cNvPr id="86" name="Google Shape;86;p6"/>
          <p:cNvSpPr/>
          <p:nvPr/>
        </p:nvSpPr>
        <p:spPr>
          <a:xfrm>
            <a:off x="640080" y="2240280"/>
            <a:ext cx="2331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onsolas"/>
              <a:buNone/>
            </a:pPr>
            <a:r>
              <a:rPr b="0" i="0" lang="en-US" sz="1100" u="none" cap="none" strike="noStrike">
                <a:solidFill>
                  <a:srgbClr val="64748B"/>
                </a:solidFill>
                <a:latin typeface="Consolas"/>
                <a:ea typeface="Consolas"/>
                <a:cs typeface="Consolas"/>
                <a:sym typeface="Consolas"/>
              </a:rPr>
              <a:t>Hello → User Service → DB</a:t>
            </a:r>
            <a:endParaRPr b="0" i="0" sz="1100" u="none" cap="none" strike="noStrike">
              <a:solidFill>
                <a:schemeClr val="dk1"/>
              </a:solidFill>
              <a:latin typeface="Calibri"/>
              <a:ea typeface="Calibri"/>
              <a:cs typeface="Calibri"/>
              <a:sym typeface="Calibri"/>
            </a:endParaRPr>
          </a:p>
        </p:txBody>
      </p:sp>
      <p:sp>
        <p:nvSpPr>
          <p:cNvPr id="87" name="Google Shape;87;p6"/>
          <p:cNvSpPr/>
          <p:nvPr/>
        </p:nvSpPr>
        <p:spPr>
          <a:xfrm>
            <a:off x="640080" y="2743200"/>
            <a:ext cx="2331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Calibri"/>
              <a:buNone/>
            </a:pPr>
            <a:r>
              <a:rPr b="1" i="0" lang="en-US" sz="1000" u="none" cap="none" strike="noStrike">
                <a:solidFill>
                  <a:srgbClr val="0D9488"/>
                </a:solidFill>
                <a:latin typeface="Calibri"/>
                <a:ea typeface="Calibri"/>
                <a:cs typeface="Calibri"/>
                <a:sym typeface="Calibri"/>
              </a:rPr>
              <a:t>Strength</a:t>
            </a:r>
            <a:endParaRPr b="0" i="0" sz="1000" u="none" cap="none" strike="noStrike">
              <a:solidFill>
                <a:schemeClr val="dk1"/>
              </a:solidFill>
              <a:latin typeface="Calibri"/>
              <a:ea typeface="Calibri"/>
              <a:cs typeface="Calibri"/>
              <a:sym typeface="Calibri"/>
            </a:endParaRPr>
          </a:p>
        </p:txBody>
      </p:sp>
      <p:sp>
        <p:nvSpPr>
          <p:cNvPr id="88" name="Google Shape;88;p6"/>
          <p:cNvSpPr/>
          <p:nvPr/>
        </p:nvSpPr>
        <p:spPr>
          <a:xfrm>
            <a:off x="640080" y="2971800"/>
            <a:ext cx="2331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Find the bottleneck, see latency</a:t>
            </a:r>
            <a:endParaRPr b="0" i="0" sz="1200" u="none" cap="none" strike="noStrike">
              <a:solidFill>
                <a:schemeClr val="dk1"/>
              </a:solidFill>
              <a:latin typeface="Calibri"/>
              <a:ea typeface="Calibri"/>
              <a:cs typeface="Calibri"/>
              <a:sym typeface="Calibri"/>
            </a:endParaRPr>
          </a:p>
        </p:txBody>
      </p:sp>
      <p:sp>
        <p:nvSpPr>
          <p:cNvPr id="89" name="Google Shape;89;p6"/>
          <p:cNvSpPr/>
          <p:nvPr/>
        </p:nvSpPr>
        <p:spPr>
          <a:xfrm>
            <a:off x="640080" y="3520440"/>
            <a:ext cx="2331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1" i="0" lang="en-US" sz="1000" u="none" cap="none" strike="noStrike">
                <a:solidFill>
                  <a:srgbClr val="DC2626"/>
                </a:solidFill>
                <a:latin typeface="Calibri"/>
                <a:ea typeface="Calibri"/>
                <a:cs typeface="Calibri"/>
                <a:sym typeface="Calibri"/>
              </a:rPr>
              <a:t>Watch out</a:t>
            </a:r>
            <a:endParaRPr b="0" i="0" sz="1000" u="none" cap="none" strike="noStrike">
              <a:solidFill>
                <a:schemeClr val="dk1"/>
              </a:solidFill>
              <a:latin typeface="Calibri"/>
              <a:ea typeface="Calibri"/>
              <a:cs typeface="Calibri"/>
              <a:sym typeface="Calibri"/>
            </a:endParaRPr>
          </a:p>
        </p:txBody>
      </p:sp>
      <p:sp>
        <p:nvSpPr>
          <p:cNvPr id="90" name="Google Shape;90;p6"/>
          <p:cNvSpPr/>
          <p:nvPr/>
        </p:nvSpPr>
        <p:spPr>
          <a:xfrm>
            <a:off x="640080" y="3749040"/>
            <a:ext cx="2331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Sampling is essential at scale</a:t>
            </a:r>
            <a:endParaRPr b="0" i="0" sz="1200" u="none" cap="none" strike="noStrike">
              <a:solidFill>
                <a:schemeClr val="dk1"/>
              </a:solidFill>
              <a:latin typeface="Calibri"/>
              <a:ea typeface="Calibri"/>
              <a:cs typeface="Calibri"/>
              <a:sym typeface="Calibri"/>
            </a:endParaRPr>
          </a:p>
        </p:txBody>
      </p:sp>
      <p:sp>
        <p:nvSpPr>
          <p:cNvPr id="91" name="Google Shape;91;p6"/>
          <p:cNvSpPr/>
          <p:nvPr/>
        </p:nvSpPr>
        <p:spPr>
          <a:xfrm>
            <a:off x="3291840" y="1188720"/>
            <a:ext cx="2697480" cy="4572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3474720" y="1234440"/>
            <a:ext cx="2331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Metrics</a:t>
            </a:r>
            <a:endParaRPr b="0" i="0" sz="1800" u="none" cap="none" strike="noStrike">
              <a:solidFill>
                <a:schemeClr val="dk1"/>
              </a:solidFill>
              <a:latin typeface="Calibri"/>
              <a:ea typeface="Calibri"/>
              <a:cs typeface="Calibri"/>
              <a:sym typeface="Calibri"/>
            </a:endParaRPr>
          </a:p>
        </p:txBody>
      </p:sp>
      <p:sp>
        <p:nvSpPr>
          <p:cNvPr id="93" name="Google Shape;93;p6"/>
          <p:cNvSpPr/>
          <p:nvPr/>
        </p:nvSpPr>
        <p:spPr>
          <a:xfrm>
            <a:off x="3291840" y="1645920"/>
            <a:ext cx="2697480" cy="292608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3474720" y="1783080"/>
            <a:ext cx="2331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0" i="1" lang="en-US" sz="1300" u="none" cap="none" strike="noStrike">
                <a:solidFill>
                  <a:srgbClr val="0F172A"/>
                </a:solidFill>
                <a:latin typeface="Calibri"/>
                <a:ea typeface="Calibri"/>
                <a:cs typeface="Calibri"/>
                <a:sym typeface="Calibri"/>
              </a:rPr>
              <a:t>Aggregated time-series counters</a:t>
            </a:r>
            <a:endParaRPr b="0" i="0" sz="1300" u="none" cap="none" strike="noStrike">
              <a:solidFill>
                <a:schemeClr val="dk1"/>
              </a:solidFill>
              <a:latin typeface="Calibri"/>
              <a:ea typeface="Calibri"/>
              <a:cs typeface="Calibri"/>
              <a:sym typeface="Calibri"/>
            </a:endParaRPr>
          </a:p>
        </p:txBody>
      </p:sp>
      <p:sp>
        <p:nvSpPr>
          <p:cNvPr id="95" name="Google Shape;95;p6"/>
          <p:cNvSpPr/>
          <p:nvPr/>
        </p:nvSpPr>
        <p:spPr>
          <a:xfrm>
            <a:off x="3474720" y="2240280"/>
            <a:ext cx="2331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onsolas"/>
              <a:buNone/>
            </a:pPr>
            <a:r>
              <a:rPr b="0" i="0" lang="en-US" sz="1100" u="none" cap="none" strike="noStrike">
                <a:solidFill>
                  <a:srgbClr val="64748B"/>
                </a:solidFill>
                <a:latin typeface="Consolas"/>
                <a:ea typeface="Consolas"/>
                <a:cs typeface="Consolas"/>
                <a:sym typeface="Consolas"/>
              </a:rPr>
              <a:t>http_requests_total{status=200}</a:t>
            </a:r>
            <a:endParaRPr b="0" i="0" sz="1100" u="none" cap="none" strike="noStrike">
              <a:solidFill>
                <a:schemeClr val="dk1"/>
              </a:solidFill>
              <a:latin typeface="Calibri"/>
              <a:ea typeface="Calibri"/>
              <a:cs typeface="Calibri"/>
              <a:sym typeface="Calibri"/>
            </a:endParaRPr>
          </a:p>
        </p:txBody>
      </p:sp>
      <p:sp>
        <p:nvSpPr>
          <p:cNvPr id="96" name="Google Shape;96;p6"/>
          <p:cNvSpPr/>
          <p:nvPr/>
        </p:nvSpPr>
        <p:spPr>
          <a:xfrm>
            <a:off x="3474720" y="2743200"/>
            <a:ext cx="2331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Calibri"/>
              <a:buNone/>
            </a:pPr>
            <a:r>
              <a:rPr b="1" i="0" lang="en-US" sz="1000" u="none" cap="none" strike="noStrike">
                <a:solidFill>
                  <a:srgbClr val="0D9488"/>
                </a:solidFill>
                <a:latin typeface="Calibri"/>
                <a:ea typeface="Calibri"/>
                <a:cs typeface="Calibri"/>
                <a:sym typeface="Calibri"/>
              </a:rPr>
              <a:t>Strength</a:t>
            </a:r>
            <a:endParaRPr b="0" i="0" sz="1000" u="none" cap="none" strike="noStrike">
              <a:solidFill>
                <a:schemeClr val="dk1"/>
              </a:solidFill>
              <a:latin typeface="Calibri"/>
              <a:ea typeface="Calibri"/>
              <a:cs typeface="Calibri"/>
              <a:sym typeface="Calibri"/>
            </a:endParaRPr>
          </a:p>
        </p:txBody>
      </p:sp>
      <p:sp>
        <p:nvSpPr>
          <p:cNvPr id="97" name="Google Shape;97;p6"/>
          <p:cNvSpPr/>
          <p:nvPr/>
        </p:nvSpPr>
        <p:spPr>
          <a:xfrm>
            <a:off x="3474720" y="2971800"/>
            <a:ext cx="2331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Cheap to store, easy to alert</a:t>
            </a:r>
            <a:endParaRPr b="0" i="0" sz="1200" u="none" cap="none" strike="noStrike">
              <a:solidFill>
                <a:schemeClr val="dk1"/>
              </a:solidFill>
              <a:latin typeface="Calibri"/>
              <a:ea typeface="Calibri"/>
              <a:cs typeface="Calibri"/>
              <a:sym typeface="Calibri"/>
            </a:endParaRPr>
          </a:p>
        </p:txBody>
      </p:sp>
      <p:sp>
        <p:nvSpPr>
          <p:cNvPr id="98" name="Google Shape;98;p6"/>
          <p:cNvSpPr/>
          <p:nvPr/>
        </p:nvSpPr>
        <p:spPr>
          <a:xfrm>
            <a:off x="3474720" y="3520440"/>
            <a:ext cx="2331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1" i="0" lang="en-US" sz="1000" u="none" cap="none" strike="noStrike">
                <a:solidFill>
                  <a:srgbClr val="DC2626"/>
                </a:solidFill>
                <a:latin typeface="Calibri"/>
                <a:ea typeface="Calibri"/>
                <a:cs typeface="Calibri"/>
                <a:sym typeface="Calibri"/>
              </a:rPr>
              <a:t>Watch out</a:t>
            </a:r>
            <a:endParaRPr b="0" i="0" sz="1000" u="none" cap="none" strike="noStrike">
              <a:solidFill>
                <a:schemeClr val="dk1"/>
              </a:solidFill>
              <a:latin typeface="Calibri"/>
              <a:ea typeface="Calibri"/>
              <a:cs typeface="Calibri"/>
              <a:sym typeface="Calibri"/>
            </a:endParaRPr>
          </a:p>
        </p:txBody>
      </p:sp>
      <p:sp>
        <p:nvSpPr>
          <p:cNvPr id="99" name="Google Shape;99;p6"/>
          <p:cNvSpPr/>
          <p:nvPr/>
        </p:nvSpPr>
        <p:spPr>
          <a:xfrm>
            <a:off x="3474720" y="3749040"/>
            <a:ext cx="2331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Cardinality bombs are real</a:t>
            </a:r>
            <a:endParaRPr b="0" i="0" sz="1200" u="none" cap="none" strike="noStrike">
              <a:solidFill>
                <a:schemeClr val="dk1"/>
              </a:solidFill>
              <a:latin typeface="Calibri"/>
              <a:ea typeface="Calibri"/>
              <a:cs typeface="Calibri"/>
              <a:sym typeface="Calibri"/>
            </a:endParaRPr>
          </a:p>
        </p:txBody>
      </p:sp>
      <p:sp>
        <p:nvSpPr>
          <p:cNvPr id="100" name="Google Shape;100;p6"/>
          <p:cNvSpPr/>
          <p:nvPr/>
        </p:nvSpPr>
        <p:spPr>
          <a:xfrm>
            <a:off x="6126480" y="1188720"/>
            <a:ext cx="2697480" cy="457200"/>
          </a:xfrm>
          <a:prstGeom prst="rect">
            <a:avLst/>
          </a:pr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6309360" y="1234440"/>
            <a:ext cx="2331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Logs</a:t>
            </a:r>
            <a:endParaRPr b="0" i="0" sz="1800" u="none" cap="none" strike="noStrike">
              <a:solidFill>
                <a:schemeClr val="dk1"/>
              </a:solidFill>
              <a:latin typeface="Calibri"/>
              <a:ea typeface="Calibri"/>
              <a:cs typeface="Calibri"/>
              <a:sym typeface="Calibri"/>
            </a:endParaRPr>
          </a:p>
        </p:txBody>
      </p:sp>
      <p:sp>
        <p:nvSpPr>
          <p:cNvPr id="102" name="Google Shape;102;p6"/>
          <p:cNvSpPr/>
          <p:nvPr/>
        </p:nvSpPr>
        <p:spPr>
          <a:xfrm>
            <a:off x="6126480" y="1645920"/>
            <a:ext cx="2697480" cy="292608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6309360" y="1783080"/>
            <a:ext cx="2331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0" i="1" lang="en-US" sz="1300" u="none" cap="none" strike="noStrike">
                <a:solidFill>
                  <a:srgbClr val="0F172A"/>
                </a:solidFill>
                <a:latin typeface="Calibri"/>
                <a:ea typeface="Calibri"/>
                <a:cs typeface="Calibri"/>
                <a:sym typeface="Calibri"/>
              </a:rPr>
              <a:t>Discrete events with context</a:t>
            </a:r>
            <a:endParaRPr b="0" i="0" sz="1300" u="none" cap="none" strike="noStrike">
              <a:solidFill>
                <a:schemeClr val="dk1"/>
              </a:solidFill>
              <a:latin typeface="Calibri"/>
              <a:ea typeface="Calibri"/>
              <a:cs typeface="Calibri"/>
              <a:sym typeface="Calibri"/>
            </a:endParaRPr>
          </a:p>
        </p:txBody>
      </p:sp>
      <p:sp>
        <p:nvSpPr>
          <p:cNvPr id="104" name="Google Shape;104;p6"/>
          <p:cNvSpPr/>
          <p:nvPr/>
        </p:nvSpPr>
        <p:spPr>
          <a:xfrm>
            <a:off x="6309360" y="2240280"/>
            <a:ext cx="2331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onsolas"/>
              <a:buNone/>
            </a:pPr>
            <a:r>
              <a:rPr b="0" i="0" lang="en-US" sz="1100" u="none" cap="none" strike="noStrike">
                <a:solidFill>
                  <a:srgbClr val="64748B"/>
                </a:solidFill>
                <a:latin typeface="Consolas"/>
                <a:ea typeface="Consolas"/>
                <a:cs typeface="Consolas"/>
                <a:sym typeface="Consolas"/>
              </a:rPr>
              <a:t>INFO  HikariPool started</a:t>
            </a:r>
            <a:endParaRPr b="0" i="0" sz="1100" u="none" cap="none" strike="noStrike">
              <a:solidFill>
                <a:schemeClr val="dk1"/>
              </a:solidFill>
              <a:latin typeface="Calibri"/>
              <a:ea typeface="Calibri"/>
              <a:cs typeface="Calibri"/>
              <a:sym typeface="Calibri"/>
            </a:endParaRPr>
          </a:p>
        </p:txBody>
      </p:sp>
      <p:sp>
        <p:nvSpPr>
          <p:cNvPr id="105" name="Google Shape;105;p6"/>
          <p:cNvSpPr/>
          <p:nvPr/>
        </p:nvSpPr>
        <p:spPr>
          <a:xfrm>
            <a:off x="6309360" y="2743200"/>
            <a:ext cx="2331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Calibri"/>
              <a:buNone/>
            </a:pPr>
            <a:r>
              <a:rPr b="1" i="0" lang="en-US" sz="1000" u="none" cap="none" strike="noStrike">
                <a:solidFill>
                  <a:srgbClr val="0D9488"/>
                </a:solidFill>
                <a:latin typeface="Calibri"/>
                <a:ea typeface="Calibri"/>
                <a:cs typeface="Calibri"/>
                <a:sym typeface="Calibri"/>
              </a:rPr>
              <a:t>Strength</a:t>
            </a:r>
            <a:endParaRPr b="0" i="0" sz="1000" u="none" cap="none" strike="noStrike">
              <a:solidFill>
                <a:schemeClr val="dk1"/>
              </a:solidFill>
              <a:latin typeface="Calibri"/>
              <a:ea typeface="Calibri"/>
              <a:cs typeface="Calibri"/>
              <a:sym typeface="Calibri"/>
            </a:endParaRPr>
          </a:p>
        </p:txBody>
      </p:sp>
      <p:sp>
        <p:nvSpPr>
          <p:cNvPr id="106" name="Google Shape;106;p6"/>
          <p:cNvSpPr/>
          <p:nvPr/>
        </p:nvSpPr>
        <p:spPr>
          <a:xfrm>
            <a:off x="6309360" y="2971800"/>
            <a:ext cx="2331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Highest fidelity, lowest skill bar</a:t>
            </a:r>
            <a:endParaRPr b="0" i="0" sz="1200" u="none" cap="none" strike="noStrike">
              <a:solidFill>
                <a:schemeClr val="dk1"/>
              </a:solidFill>
              <a:latin typeface="Calibri"/>
              <a:ea typeface="Calibri"/>
              <a:cs typeface="Calibri"/>
              <a:sym typeface="Calibri"/>
            </a:endParaRPr>
          </a:p>
        </p:txBody>
      </p:sp>
      <p:sp>
        <p:nvSpPr>
          <p:cNvPr id="107" name="Google Shape;107;p6"/>
          <p:cNvSpPr/>
          <p:nvPr/>
        </p:nvSpPr>
        <p:spPr>
          <a:xfrm>
            <a:off x="6309360" y="3520440"/>
            <a:ext cx="2331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1" i="0" lang="en-US" sz="1000" u="none" cap="none" strike="noStrike">
                <a:solidFill>
                  <a:srgbClr val="DC2626"/>
                </a:solidFill>
                <a:latin typeface="Calibri"/>
                <a:ea typeface="Calibri"/>
                <a:cs typeface="Calibri"/>
                <a:sym typeface="Calibri"/>
              </a:rPr>
              <a:t>Watch out</a:t>
            </a:r>
            <a:endParaRPr b="0" i="0" sz="1000" u="none" cap="none" strike="noStrike">
              <a:solidFill>
                <a:schemeClr val="dk1"/>
              </a:solidFill>
              <a:latin typeface="Calibri"/>
              <a:ea typeface="Calibri"/>
              <a:cs typeface="Calibri"/>
              <a:sym typeface="Calibri"/>
            </a:endParaRPr>
          </a:p>
        </p:txBody>
      </p:sp>
      <p:sp>
        <p:nvSpPr>
          <p:cNvPr id="108" name="Google Shape;108;p6"/>
          <p:cNvSpPr/>
          <p:nvPr/>
        </p:nvSpPr>
        <p:spPr>
          <a:xfrm>
            <a:off x="6309360" y="3749040"/>
            <a:ext cx="2331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Volume explodes; storage costs</a:t>
            </a:r>
            <a:endParaRPr b="0" i="0" sz="1200" u="none" cap="none" strike="noStrike">
              <a:solidFill>
                <a:schemeClr val="dk1"/>
              </a:solidFill>
              <a:latin typeface="Calibri"/>
              <a:ea typeface="Calibri"/>
              <a:cs typeface="Calibri"/>
              <a:sym typeface="Calibri"/>
            </a:endParaRPr>
          </a:p>
        </p:txBody>
      </p:sp>
      <p:sp>
        <p:nvSpPr>
          <p:cNvPr id="109" name="Google Shape;109;p6"/>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110" name="Google Shape;110;p6"/>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7"/>
          <p:cNvSpPr/>
          <p:nvPr/>
        </p:nvSpPr>
        <p:spPr>
          <a:xfrm>
            <a:off x="457200" y="365760"/>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OpenTelemetry: The Unification Layer</a:t>
            </a:r>
            <a:endParaRPr b="0" i="0" sz="3200" u="none" cap="none" strike="noStrike">
              <a:solidFill>
                <a:schemeClr val="dk1"/>
              </a:solidFill>
              <a:latin typeface="Calibri"/>
              <a:ea typeface="Calibri"/>
              <a:cs typeface="Calibri"/>
              <a:sym typeface="Calibri"/>
            </a:endParaRPr>
          </a:p>
        </p:txBody>
      </p:sp>
      <p:sp>
        <p:nvSpPr>
          <p:cNvPr id="117" name="Google Shape;117;p7"/>
          <p:cNvSpPr/>
          <p:nvPr/>
        </p:nvSpPr>
        <p:spPr>
          <a:xfrm>
            <a:off x="457200" y="914400"/>
            <a:ext cx="8229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One protocol. One SDK. Three signals — preserved, correlated, vendor-neutral.</a:t>
            </a:r>
            <a:endParaRPr b="0" i="0" sz="1400" u="none" cap="none" strike="noStrike">
              <a:solidFill>
                <a:schemeClr val="dk1"/>
              </a:solidFill>
              <a:latin typeface="Calibri"/>
              <a:ea typeface="Calibri"/>
              <a:cs typeface="Calibri"/>
              <a:sym typeface="Calibri"/>
            </a:endParaRPr>
          </a:p>
        </p:txBody>
      </p:sp>
      <p:sp>
        <p:nvSpPr>
          <p:cNvPr id="118" name="Google Shape;118;p7"/>
          <p:cNvSpPr/>
          <p:nvPr/>
        </p:nvSpPr>
        <p:spPr>
          <a:xfrm>
            <a:off x="457200" y="3977650"/>
            <a:ext cx="8229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1600"/>
              <a:buFont typeface="Calibri"/>
              <a:buNone/>
            </a:pPr>
            <a:r>
              <a:rPr b="0" i="1" lang="en-US" sz="1600" u="none" cap="none" strike="noStrike">
                <a:solidFill>
                  <a:srgbClr val="0D9488"/>
                </a:solidFill>
                <a:latin typeface="Calibri"/>
                <a:ea typeface="Calibri"/>
                <a:cs typeface="Calibri"/>
                <a:sym typeface="Calibri"/>
              </a:rPr>
              <a:t>It's the protocol that matters, not the library used.</a:t>
            </a:r>
            <a:endParaRPr b="0" i="0" sz="1600" u="none" cap="none" strike="noStrike">
              <a:solidFill>
                <a:schemeClr val="dk1"/>
              </a:solidFill>
              <a:latin typeface="Calibri"/>
              <a:ea typeface="Calibri"/>
              <a:cs typeface="Calibri"/>
              <a:sym typeface="Calibri"/>
            </a:endParaRPr>
          </a:p>
        </p:txBody>
      </p:sp>
      <p:sp>
        <p:nvSpPr>
          <p:cNvPr id="119" name="Google Shape;119;p7"/>
          <p:cNvSpPr/>
          <p:nvPr/>
        </p:nvSpPr>
        <p:spPr>
          <a:xfrm>
            <a:off x="457200" y="4434850"/>
            <a:ext cx="8229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Spring Boot 4 (Nov 2025) ships a native OpenTelemetry SDK starter — no agent required.</a:t>
            </a:r>
            <a:endParaRPr b="0" i="0" sz="1200" u="none" cap="none" strike="noStrike">
              <a:solidFill>
                <a:schemeClr val="dk1"/>
              </a:solidFill>
              <a:latin typeface="Calibri"/>
              <a:ea typeface="Calibri"/>
              <a:cs typeface="Calibri"/>
              <a:sym typeface="Calibri"/>
            </a:endParaRPr>
          </a:p>
        </p:txBody>
      </p:sp>
      <p:sp>
        <p:nvSpPr>
          <p:cNvPr id="120" name="Google Shape;120;p7"/>
          <p:cNvSpPr/>
          <p:nvPr/>
        </p:nvSpPr>
        <p:spPr>
          <a:xfrm>
            <a:off x="457200" y="475488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121" name="Google Shape;121;p7"/>
          <p:cNvSpPr/>
          <p:nvPr/>
        </p:nvSpPr>
        <p:spPr>
          <a:xfrm>
            <a:off x="8229600" y="4754880"/>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pic>
        <p:nvPicPr>
          <p:cNvPr id="122" name="Google Shape;122;p7"/>
          <p:cNvPicPr preferRelativeResize="0"/>
          <p:nvPr/>
        </p:nvPicPr>
        <p:blipFill>
          <a:blip r:embed="rId3">
            <a:alphaModFix/>
          </a:blip>
          <a:stretch>
            <a:fillRect/>
          </a:stretch>
        </p:blipFill>
        <p:spPr>
          <a:xfrm>
            <a:off x="1948463" y="1379275"/>
            <a:ext cx="5247084" cy="2590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8"/>
          <p:cNvSpPr/>
          <p:nvPr/>
        </p:nvSpPr>
        <p:spPr>
          <a:xfrm>
            <a:off x="457200" y="365760"/>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OpenTelemetry: </a:t>
            </a:r>
            <a:r>
              <a:rPr b="1" lang="en-US" sz="3200">
                <a:solidFill>
                  <a:srgbClr val="0F172A"/>
                </a:solidFill>
                <a:latin typeface="Calibri"/>
                <a:ea typeface="Calibri"/>
                <a:cs typeface="Calibri"/>
                <a:sym typeface="Calibri"/>
              </a:rPr>
              <a:t>Three Ways to Instrument</a:t>
            </a:r>
            <a:endParaRPr b="0" i="0" sz="3200" u="none" cap="none" strike="noStrike">
              <a:solidFill>
                <a:schemeClr val="dk1"/>
              </a:solidFill>
              <a:latin typeface="Calibri"/>
              <a:ea typeface="Calibri"/>
              <a:cs typeface="Calibri"/>
              <a:sym typeface="Calibri"/>
            </a:endParaRPr>
          </a:p>
        </p:txBody>
      </p:sp>
      <p:sp>
        <p:nvSpPr>
          <p:cNvPr id="129" name="Google Shape;129;p8"/>
          <p:cNvSpPr/>
          <p:nvPr/>
        </p:nvSpPr>
        <p:spPr>
          <a:xfrm>
            <a:off x="457200" y="914400"/>
            <a:ext cx="8229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One protocol. One SDK. Three signals — preserved, correlated, vendor-neutral.</a:t>
            </a:r>
            <a:endParaRPr b="0" i="0" sz="1400" u="none" cap="none" strike="noStrike">
              <a:solidFill>
                <a:schemeClr val="dk1"/>
              </a:solidFill>
              <a:latin typeface="Calibri"/>
              <a:ea typeface="Calibri"/>
              <a:cs typeface="Calibri"/>
              <a:sym typeface="Calibri"/>
            </a:endParaRPr>
          </a:p>
        </p:txBody>
      </p:sp>
      <p:sp>
        <p:nvSpPr>
          <p:cNvPr id="130" name="Google Shape;130;p8"/>
          <p:cNvSpPr/>
          <p:nvPr/>
        </p:nvSpPr>
        <p:spPr>
          <a:xfrm>
            <a:off x="457200" y="475488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131" name="Google Shape;131;p8"/>
          <p:cNvSpPr/>
          <p:nvPr/>
        </p:nvSpPr>
        <p:spPr>
          <a:xfrm>
            <a:off x="8229600" y="4754880"/>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pic>
        <p:nvPicPr>
          <p:cNvPr id="132" name="Google Shape;132;p8"/>
          <p:cNvPicPr preferRelativeResize="0"/>
          <p:nvPr/>
        </p:nvPicPr>
        <p:blipFill>
          <a:blip r:embed="rId3">
            <a:alphaModFix/>
          </a:blip>
          <a:stretch>
            <a:fillRect/>
          </a:stretch>
        </p:blipFill>
        <p:spPr>
          <a:xfrm>
            <a:off x="152400" y="1401963"/>
            <a:ext cx="8839200" cy="318544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37" name="Shape 137"/>
        <p:cNvGrpSpPr/>
        <p:nvPr/>
      </p:nvGrpSpPr>
      <p:grpSpPr>
        <a:xfrm>
          <a:off x="0" y="0"/>
          <a:ext cx="0" cy="0"/>
          <a:chOff x="0" y="0"/>
          <a:chExt cx="0" cy="0"/>
        </a:xfrm>
      </p:grpSpPr>
      <p:sp>
        <p:nvSpPr>
          <p:cNvPr id="138" name="Google Shape;138;p9"/>
          <p:cNvSpPr/>
          <p:nvPr/>
        </p:nvSpPr>
        <p:spPr>
          <a:xfrm>
            <a:off x="457200" y="3657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600"/>
              <a:buFont typeface="Calibri"/>
              <a:buNone/>
            </a:pPr>
            <a:r>
              <a:rPr b="1" i="0" lang="en-US" sz="3600" u="none" cap="none" strike="noStrike">
                <a:solidFill>
                  <a:srgbClr val="0F172A"/>
                </a:solidFill>
                <a:latin typeface="Calibri"/>
                <a:ea typeface="Calibri"/>
                <a:cs typeface="Calibri"/>
                <a:sym typeface="Calibri"/>
              </a:rPr>
              <a:t>The Reference Stack</a:t>
            </a:r>
            <a:endParaRPr b="0" i="0" sz="3600" u="none" cap="none" strike="noStrike">
              <a:solidFill>
                <a:schemeClr val="dk1"/>
              </a:solidFill>
              <a:latin typeface="Calibri"/>
              <a:ea typeface="Calibri"/>
              <a:cs typeface="Calibri"/>
              <a:sym typeface="Calibri"/>
            </a:endParaRPr>
          </a:p>
        </p:txBody>
      </p:sp>
      <p:sp>
        <p:nvSpPr>
          <p:cNvPr id="139" name="Google Shape;139;p9"/>
          <p:cNvSpPr/>
          <p:nvPr/>
        </p:nvSpPr>
        <p:spPr>
          <a:xfrm>
            <a:off x="457200" y="91440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Same stack across all 5 demos. One Grafana, three signal backends.</a:t>
            </a:r>
            <a:endParaRPr b="0" i="0" sz="1400" u="none" cap="none" strike="noStrike">
              <a:solidFill>
                <a:schemeClr val="dk1"/>
              </a:solidFill>
              <a:latin typeface="Calibri"/>
              <a:ea typeface="Calibri"/>
              <a:cs typeface="Calibri"/>
              <a:sym typeface="Calibri"/>
            </a:endParaRPr>
          </a:p>
        </p:txBody>
      </p:sp>
      <p:sp>
        <p:nvSpPr>
          <p:cNvPr id="140" name="Google Shape;140;p9"/>
          <p:cNvSpPr/>
          <p:nvPr/>
        </p:nvSpPr>
        <p:spPr>
          <a:xfrm>
            <a:off x="457200" y="1581912"/>
            <a:ext cx="274320" cy="274320"/>
          </a:xfrm>
          <a:prstGeom prst="ellipse">
            <a:avLst/>
          </a:pr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
          <p:cNvSpPr/>
          <p:nvPr/>
        </p:nvSpPr>
        <p:spPr>
          <a:xfrm>
            <a:off x="868680" y="1463040"/>
            <a:ext cx="1554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Tempo</a:t>
            </a:r>
            <a:endParaRPr b="0" i="0" sz="1600" u="none" cap="none" strike="noStrike">
              <a:solidFill>
                <a:schemeClr val="dk1"/>
              </a:solidFill>
              <a:latin typeface="Calibri"/>
              <a:ea typeface="Calibri"/>
              <a:cs typeface="Calibri"/>
              <a:sym typeface="Calibri"/>
            </a:endParaRPr>
          </a:p>
        </p:txBody>
      </p:sp>
      <p:sp>
        <p:nvSpPr>
          <p:cNvPr id="142" name="Google Shape;142;p9"/>
          <p:cNvSpPr/>
          <p:nvPr/>
        </p:nvSpPr>
        <p:spPr>
          <a:xfrm>
            <a:off x="2468880" y="1463040"/>
            <a:ext cx="3657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Trace storage backend</a:t>
            </a:r>
            <a:endParaRPr b="0" i="0" sz="1300" u="none" cap="none" strike="noStrike">
              <a:solidFill>
                <a:schemeClr val="dk1"/>
              </a:solidFill>
              <a:latin typeface="Calibri"/>
              <a:ea typeface="Calibri"/>
              <a:cs typeface="Calibri"/>
              <a:sym typeface="Calibri"/>
            </a:endParaRPr>
          </a:p>
        </p:txBody>
      </p:sp>
      <p:sp>
        <p:nvSpPr>
          <p:cNvPr id="143" name="Google Shape;143;p9"/>
          <p:cNvSpPr/>
          <p:nvPr/>
        </p:nvSpPr>
        <p:spPr>
          <a:xfrm>
            <a:off x="457200" y="2176272"/>
            <a:ext cx="274320" cy="27432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9"/>
          <p:cNvSpPr/>
          <p:nvPr/>
        </p:nvSpPr>
        <p:spPr>
          <a:xfrm>
            <a:off x="868680" y="2057400"/>
            <a:ext cx="1554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Mimir</a:t>
            </a:r>
            <a:endParaRPr b="0" i="0" sz="1600" u="none" cap="none" strike="noStrike">
              <a:solidFill>
                <a:schemeClr val="dk1"/>
              </a:solidFill>
              <a:latin typeface="Calibri"/>
              <a:ea typeface="Calibri"/>
              <a:cs typeface="Calibri"/>
              <a:sym typeface="Calibri"/>
            </a:endParaRPr>
          </a:p>
        </p:txBody>
      </p:sp>
      <p:sp>
        <p:nvSpPr>
          <p:cNvPr id="145" name="Google Shape;145;p9"/>
          <p:cNvSpPr/>
          <p:nvPr/>
        </p:nvSpPr>
        <p:spPr>
          <a:xfrm>
            <a:off x="2468880" y="2057400"/>
            <a:ext cx="3657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Prometheus-compatible TSDB</a:t>
            </a:r>
            <a:endParaRPr b="0" i="0" sz="1300" u="none" cap="none" strike="noStrike">
              <a:solidFill>
                <a:schemeClr val="dk1"/>
              </a:solidFill>
              <a:latin typeface="Calibri"/>
              <a:ea typeface="Calibri"/>
              <a:cs typeface="Calibri"/>
              <a:sym typeface="Calibri"/>
            </a:endParaRPr>
          </a:p>
        </p:txBody>
      </p:sp>
      <p:sp>
        <p:nvSpPr>
          <p:cNvPr id="146" name="Google Shape;146;p9"/>
          <p:cNvSpPr/>
          <p:nvPr/>
        </p:nvSpPr>
        <p:spPr>
          <a:xfrm>
            <a:off x="457200" y="2770632"/>
            <a:ext cx="274320" cy="274320"/>
          </a:xfrm>
          <a:prstGeom prst="ellipse">
            <a:avLst/>
          </a:pr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9"/>
          <p:cNvSpPr/>
          <p:nvPr/>
        </p:nvSpPr>
        <p:spPr>
          <a:xfrm>
            <a:off x="868680" y="2651760"/>
            <a:ext cx="1554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Loki</a:t>
            </a:r>
            <a:endParaRPr b="0" i="0" sz="1600" u="none" cap="none" strike="noStrike">
              <a:solidFill>
                <a:schemeClr val="dk1"/>
              </a:solidFill>
              <a:latin typeface="Calibri"/>
              <a:ea typeface="Calibri"/>
              <a:cs typeface="Calibri"/>
              <a:sym typeface="Calibri"/>
            </a:endParaRPr>
          </a:p>
        </p:txBody>
      </p:sp>
      <p:sp>
        <p:nvSpPr>
          <p:cNvPr id="148" name="Google Shape;148;p9"/>
          <p:cNvSpPr/>
          <p:nvPr/>
        </p:nvSpPr>
        <p:spPr>
          <a:xfrm>
            <a:off x="2468880" y="2651760"/>
            <a:ext cx="3657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Log aggregation engine</a:t>
            </a:r>
            <a:endParaRPr b="0" i="0" sz="1300" u="none" cap="none" strike="noStrike">
              <a:solidFill>
                <a:schemeClr val="dk1"/>
              </a:solidFill>
              <a:latin typeface="Calibri"/>
              <a:ea typeface="Calibri"/>
              <a:cs typeface="Calibri"/>
              <a:sym typeface="Calibri"/>
            </a:endParaRPr>
          </a:p>
        </p:txBody>
      </p:sp>
      <p:sp>
        <p:nvSpPr>
          <p:cNvPr id="149" name="Google Shape;149;p9"/>
          <p:cNvSpPr/>
          <p:nvPr/>
        </p:nvSpPr>
        <p:spPr>
          <a:xfrm>
            <a:off x="457200" y="3364992"/>
            <a:ext cx="274320" cy="27432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
          <p:cNvSpPr/>
          <p:nvPr/>
        </p:nvSpPr>
        <p:spPr>
          <a:xfrm>
            <a:off x="868680" y="3246120"/>
            <a:ext cx="1554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Grafana</a:t>
            </a:r>
            <a:endParaRPr b="0" i="0" sz="1600" u="none" cap="none" strike="noStrike">
              <a:solidFill>
                <a:schemeClr val="dk1"/>
              </a:solidFill>
              <a:latin typeface="Calibri"/>
              <a:ea typeface="Calibri"/>
              <a:cs typeface="Calibri"/>
              <a:sym typeface="Calibri"/>
            </a:endParaRPr>
          </a:p>
        </p:txBody>
      </p:sp>
      <p:sp>
        <p:nvSpPr>
          <p:cNvPr id="151" name="Google Shape;151;p9"/>
          <p:cNvSpPr/>
          <p:nvPr/>
        </p:nvSpPr>
        <p:spPr>
          <a:xfrm>
            <a:off x="2468880" y="3246120"/>
            <a:ext cx="3657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Unified UI for all three signals</a:t>
            </a:r>
            <a:endParaRPr b="0" i="0" sz="1300" u="none" cap="none" strike="noStrike">
              <a:solidFill>
                <a:schemeClr val="dk1"/>
              </a:solidFill>
              <a:latin typeface="Calibri"/>
              <a:ea typeface="Calibri"/>
              <a:cs typeface="Calibri"/>
              <a:sym typeface="Calibri"/>
            </a:endParaRPr>
          </a:p>
        </p:txBody>
      </p:sp>
      <p:sp>
        <p:nvSpPr>
          <p:cNvPr id="152" name="Google Shape;152;p9"/>
          <p:cNvSpPr/>
          <p:nvPr/>
        </p:nvSpPr>
        <p:spPr>
          <a:xfrm>
            <a:off x="457200" y="3959352"/>
            <a:ext cx="274320" cy="274320"/>
          </a:xfrm>
          <a:prstGeom prst="ellipse">
            <a:avLst/>
          </a:pr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
          <p:cNvSpPr/>
          <p:nvPr/>
        </p:nvSpPr>
        <p:spPr>
          <a:xfrm>
            <a:off x="868680" y="3840480"/>
            <a:ext cx="1554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Collector</a:t>
            </a:r>
            <a:endParaRPr b="0" i="0" sz="1600" u="none" cap="none" strike="noStrike">
              <a:solidFill>
                <a:schemeClr val="dk1"/>
              </a:solidFill>
              <a:latin typeface="Calibri"/>
              <a:ea typeface="Calibri"/>
              <a:cs typeface="Calibri"/>
              <a:sym typeface="Calibri"/>
            </a:endParaRPr>
          </a:p>
        </p:txBody>
      </p:sp>
      <p:sp>
        <p:nvSpPr>
          <p:cNvPr id="154" name="Google Shape;154;p9"/>
          <p:cNvSpPr/>
          <p:nvPr/>
        </p:nvSpPr>
        <p:spPr>
          <a:xfrm>
            <a:off x="2468880" y="3840480"/>
            <a:ext cx="3657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OTLP ingest, processing, routing</a:t>
            </a:r>
            <a:endParaRPr b="0" i="0" sz="1300" u="none" cap="none" strike="noStrike">
              <a:solidFill>
                <a:schemeClr val="dk1"/>
              </a:solidFill>
              <a:latin typeface="Calibri"/>
              <a:ea typeface="Calibri"/>
              <a:cs typeface="Calibri"/>
              <a:sym typeface="Calibri"/>
            </a:endParaRPr>
          </a:p>
        </p:txBody>
      </p:sp>
      <p:sp>
        <p:nvSpPr>
          <p:cNvPr id="155" name="Google Shape;155;p9"/>
          <p:cNvSpPr/>
          <p:nvPr/>
        </p:nvSpPr>
        <p:spPr>
          <a:xfrm>
            <a:off x="6126480" y="1463040"/>
            <a:ext cx="2560320" cy="301752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9"/>
          <p:cNvSpPr/>
          <p:nvPr/>
        </p:nvSpPr>
        <p:spPr>
          <a:xfrm>
            <a:off x="6309360" y="1554480"/>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How to access</a:t>
            </a:r>
            <a:endParaRPr b="0" i="0" sz="1400" u="none" cap="none" strike="noStrike">
              <a:solidFill>
                <a:schemeClr val="dk1"/>
              </a:solidFill>
              <a:latin typeface="Calibri"/>
              <a:ea typeface="Calibri"/>
              <a:cs typeface="Calibri"/>
              <a:sym typeface="Calibri"/>
            </a:endParaRPr>
          </a:p>
        </p:txBody>
      </p:sp>
      <p:sp>
        <p:nvSpPr>
          <p:cNvPr id="157" name="Google Shape;157;p9"/>
          <p:cNvSpPr/>
          <p:nvPr/>
        </p:nvSpPr>
        <p:spPr>
          <a:xfrm>
            <a:off x="6309360" y="1920240"/>
            <a:ext cx="2377440" cy="2468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200"/>
              <a:buFont typeface="Calibri"/>
              <a:buNone/>
            </a:pPr>
            <a:r>
              <a:rPr b="1" i="0" lang="en-US" sz="1200" u="none" cap="none" strike="noStrike">
                <a:solidFill>
                  <a:srgbClr val="F8FAFC"/>
                </a:solidFill>
                <a:latin typeface="Calibri"/>
                <a:ea typeface="Calibri"/>
                <a:cs typeface="Calibri"/>
                <a:sym typeface="Calibri"/>
              </a:rPr>
              <a:t>Grafana UI</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F8FAFC"/>
              </a:buClr>
              <a:buSzPts val="1100"/>
              <a:buFont typeface="Consolas"/>
              <a:buNone/>
            </a:pPr>
            <a:r>
              <a:rPr b="0" i="0" lang="en-US" sz="1100" u="none" cap="none" strike="noStrike">
                <a:solidFill>
                  <a:srgbClr val="F8FAFC"/>
                </a:solidFill>
                <a:latin typeface="Consolas"/>
                <a:ea typeface="Consolas"/>
                <a:cs typeface="Consolas"/>
                <a:sym typeface="Consolas"/>
              </a:rPr>
              <a:t>localhost:300X</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 </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F8FAFC"/>
              </a:buClr>
              <a:buSzPts val="1200"/>
              <a:buFont typeface="Calibri"/>
              <a:buNone/>
            </a:pPr>
            <a:r>
              <a:rPr b="1" i="0" lang="en-US" sz="1200" u="none" cap="none" strike="noStrike">
                <a:solidFill>
                  <a:srgbClr val="F8FAFC"/>
                </a:solidFill>
                <a:latin typeface="Calibri"/>
                <a:ea typeface="Calibri"/>
                <a:cs typeface="Calibri"/>
                <a:sym typeface="Calibri"/>
              </a:rPr>
              <a:t>OTLP endpoint</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F8FAFC"/>
              </a:buClr>
              <a:buSzPts val="1100"/>
              <a:buFont typeface="Consolas"/>
              <a:buNone/>
            </a:pPr>
            <a:r>
              <a:rPr b="0" i="0" lang="en-US" sz="1100" u="none" cap="none" strike="noStrike">
                <a:solidFill>
                  <a:srgbClr val="F8FAFC"/>
                </a:solidFill>
                <a:latin typeface="Consolas"/>
                <a:ea typeface="Consolas"/>
                <a:cs typeface="Consolas"/>
                <a:sym typeface="Consolas"/>
              </a:rPr>
              <a:t>localhost:443XX</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 </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F8FAFC"/>
              </a:buClr>
              <a:buSzPts val="1200"/>
              <a:buFont typeface="Calibri"/>
              <a:buNone/>
            </a:pPr>
            <a:r>
              <a:rPr b="1" i="0" lang="en-US" sz="1200" u="none" cap="none" strike="noStrike">
                <a:solidFill>
                  <a:srgbClr val="F8FAFC"/>
                </a:solidFill>
                <a:latin typeface="Calibri"/>
                <a:ea typeface="Calibri"/>
                <a:cs typeface="Calibri"/>
                <a:sym typeface="Calibri"/>
              </a:rPr>
              <a:t>Image</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F8FAFC"/>
              </a:buClr>
              <a:buSzPts val="1100"/>
              <a:buFont typeface="Consolas"/>
              <a:buNone/>
            </a:pPr>
            <a:r>
              <a:rPr b="0" i="0" lang="en-US" sz="1100" u="none" cap="none" strike="noStrike">
                <a:solidFill>
                  <a:srgbClr val="F8FAFC"/>
                </a:solidFill>
                <a:latin typeface="Consolas"/>
                <a:ea typeface="Consolas"/>
                <a:cs typeface="Consolas"/>
                <a:sym typeface="Consolas"/>
              </a:rPr>
              <a:t>grafana/otel-lgtm</a:t>
            </a:r>
            <a:endParaRPr b="0" i="0" sz="1200" u="none" cap="none" strike="noStrike">
              <a:solidFill>
                <a:schemeClr val="dk1"/>
              </a:solidFill>
              <a:latin typeface="Calibri"/>
              <a:ea typeface="Calibri"/>
              <a:cs typeface="Calibri"/>
              <a:sym typeface="Calibri"/>
            </a:endParaRPr>
          </a:p>
        </p:txBody>
      </p:sp>
      <p:sp>
        <p:nvSpPr>
          <p:cNvPr id="158" name="Google Shape;158;p9"/>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159" name="Google Shape;159;p9"/>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p10"/>
          <p:cNvSpPr/>
          <p:nvPr/>
        </p:nvSpPr>
        <p:spPr>
          <a:xfrm>
            <a:off x="457200" y="365760"/>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600"/>
              <a:buFont typeface="Calibri"/>
              <a:buNone/>
            </a:pPr>
            <a:r>
              <a:rPr b="1" i="0" lang="en-US" sz="3600" u="none" cap="none" strike="noStrike">
                <a:solidFill>
                  <a:srgbClr val="0F172A"/>
                </a:solidFill>
                <a:latin typeface="Calibri"/>
                <a:ea typeface="Calibri"/>
                <a:cs typeface="Calibri"/>
                <a:sym typeface="Calibri"/>
              </a:rPr>
              <a:t>The Reference Stack</a:t>
            </a:r>
            <a:endParaRPr b="0" i="0" sz="3600" u="none" cap="none" strike="noStrike">
              <a:solidFill>
                <a:schemeClr val="dk1"/>
              </a:solidFill>
              <a:latin typeface="Calibri"/>
              <a:ea typeface="Calibri"/>
              <a:cs typeface="Calibri"/>
              <a:sym typeface="Calibri"/>
            </a:endParaRPr>
          </a:p>
        </p:txBody>
      </p:sp>
      <p:sp>
        <p:nvSpPr>
          <p:cNvPr id="166" name="Google Shape;166;p10"/>
          <p:cNvSpPr/>
          <p:nvPr/>
        </p:nvSpPr>
        <p:spPr>
          <a:xfrm>
            <a:off x="457200" y="914400"/>
            <a:ext cx="8229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Same stack across all 5 demos. One Grafana, three signal backends.</a:t>
            </a:r>
            <a:endParaRPr b="0" i="0" sz="1400" u="none" cap="none" strike="noStrike">
              <a:solidFill>
                <a:schemeClr val="dk1"/>
              </a:solidFill>
              <a:latin typeface="Calibri"/>
              <a:ea typeface="Calibri"/>
              <a:cs typeface="Calibri"/>
              <a:sym typeface="Calibri"/>
            </a:endParaRPr>
          </a:p>
        </p:txBody>
      </p:sp>
      <p:sp>
        <p:nvSpPr>
          <p:cNvPr id="167" name="Google Shape;167;p10"/>
          <p:cNvSpPr/>
          <p:nvPr/>
        </p:nvSpPr>
        <p:spPr>
          <a:xfrm>
            <a:off x="457200" y="475488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168" name="Google Shape;168;p10"/>
          <p:cNvSpPr/>
          <p:nvPr/>
        </p:nvSpPr>
        <p:spPr>
          <a:xfrm>
            <a:off x="8229600" y="4754880"/>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pic>
        <p:nvPicPr>
          <p:cNvPr id="169" name="Google Shape;169;p10"/>
          <p:cNvPicPr preferRelativeResize="0"/>
          <p:nvPr/>
        </p:nvPicPr>
        <p:blipFill>
          <a:blip r:embed="rId3">
            <a:alphaModFix/>
          </a:blip>
          <a:stretch>
            <a:fillRect/>
          </a:stretch>
        </p:blipFill>
        <p:spPr>
          <a:xfrm>
            <a:off x="1510200" y="1310700"/>
            <a:ext cx="6123590" cy="3367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1"/>
          <p:cNvSpPr/>
          <p:nvPr/>
        </p:nvSpPr>
        <p:spPr>
          <a:xfrm>
            <a:off x="457200" y="457200"/>
            <a:ext cx="1188720" cy="54864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a:off x="457200" y="457200"/>
            <a:ext cx="11887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Demo 01</a:t>
            </a:r>
            <a:endParaRPr b="0" i="0" sz="1600" u="none" cap="none" strike="noStrike">
              <a:solidFill>
                <a:schemeClr val="dk1"/>
              </a:solidFill>
              <a:latin typeface="Calibri"/>
              <a:ea typeface="Calibri"/>
              <a:cs typeface="Calibri"/>
              <a:sym typeface="Calibri"/>
            </a:endParaRPr>
          </a:p>
        </p:txBody>
      </p:sp>
      <p:sp>
        <p:nvSpPr>
          <p:cNvPr id="177" name="Google Shape;177;p11"/>
          <p:cNvSpPr/>
          <p:nvPr/>
        </p:nvSpPr>
        <p:spPr>
          <a:xfrm>
            <a:off x="1828800" y="365760"/>
            <a:ext cx="6858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Three Signals, One Story</a:t>
            </a:r>
            <a:endParaRPr b="0" i="0" sz="3200" u="none" cap="none" strike="noStrike">
              <a:solidFill>
                <a:schemeClr val="dk1"/>
              </a:solidFill>
              <a:latin typeface="Calibri"/>
              <a:ea typeface="Calibri"/>
              <a:cs typeface="Calibri"/>
              <a:sym typeface="Calibri"/>
            </a:endParaRPr>
          </a:p>
        </p:txBody>
      </p:sp>
      <p:sp>
        <p:nvSpPr>
          <p:cNvPr id="178" name="Google Shape;178;p11"/>
          <p:cNvSpPr/>
          <p:nvPr/>
        </p:nvSpPr>
        <p:spPr>
          <a:xfrm>
            <a:off x="457200" y="12801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800"/>
              <a:buFont typeface="Calibri"/>
              <a:buNone/>
            </a:pPr>
            <a:r>
              <a:rPr b="0" i="1" lang="en-US" sz="1800" u="none" cap="none" strike="noStrike">
                <a:solidFill>
                  <a:srgbClr val="64748B"/>
                </a:solidFill>
                <a:latin typeface="Calibri"/>
                <a:ea typeface="Calibri"/>
                <a:cs typeface="Calibri"/>
                <a:sym typeface="Calibri"/>
              </a:rPr>
              <a:t>One trace_id should appear in every signal it touches.</a:t>
            </a:r>
            <a:endParaRPr b="0" i="0" sz="1800" u="none" cap="none" strike="noStrike">
              <a:solidFill>
                <a:schemeClr val="dk1"/>
              </a:solidFill>
              <a:latin typeface="Calibri"/>
              <a:ea typeface="Calibri"/>
              <a:cs typeface="Calibri"/>
              <a:sym typeface="Calibri"/>
            </a:endParaRPr>
          </a:p>
        </p:txBody>
      </p:sp>
      <p:sp>
        <p:nvSpPr>
          <p:cNvPr id="179" name="Google Shape;179;p11"/>
          <p:cNvSpPr/>
          <p:nvPr/>
        </p:nvSpPr>
        <p:spPr>
          <a:xfrm>
            <a:off x="640080" y="2011680"/>
            <a:ext cx="7772400" cy="24688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Spring Boot service emits all three signals via OTel agent</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Logs include trace_id and span_id via Logback MDC</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Metrics carry trace exemplars linking to a sample span</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Grafana → Tempo → Logs jump works in one click</a:t>
            </a:r>
            <a:endParaRPr b="0" i="0" sz="1600" u="none" cap="none" strike="noStrike">
              <a:solidFill>
                <a:schemeClr val="dk1"/>
              </a:solidFill>
              <a:latin typeface="Calibri"/>
              <a:ea typeface="Calibri"/>
              <a:cs typeface="Calibri"/>
              <a:sym typeface="Calibri"/>
            </a:endParaRPr>
          </a:p>
        </p:txBody>
      </p:sp>
      <p:sp>
        <p:nvSpPr>
          <p:cNvPr id="180" name="Google Shape;180;p11"/>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181" name="Google Shape;181;p11"/>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12"/>
          <p:cNvSpPr/>
          <p:nvPr/>
        </p:nvSpPr>
        <p:spPr>
          <a:xfrm>
            <a:off x="457200" y="457200"/>
            <a:ext cx="1188600" cy="5487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2"/>
          <p:cNvSpPr/>
          <p:nvPr/>
        </p:nvSpPr>
        <p:spPr>
          <a:xfrm>
            <a:off x="457200" y="457200"/>
            <a:ext cx="11886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Demo 01</a:t>
            </a:r>
            <a:endParaRPr b="0" i="0" sz="1600" u="none" cap="none" strike="noStrike">
              <a:solidFill>
                <a:schemeClr val="dk1"/>
              </a:solidFill>
              <a:latin typeface="Calibri"/>
              <a:ea typeface="Calibri"/>
              <a:cs typeface="Calibri"/>
              <a:sym typeface="Calibri"/>
            </a:endParaRPr>
          </a:p>
        </p:txBody>
      </p:sp>
      <p:sp>
        <p:nvSpPr>
          <p:cNvPr id="189" name="Google Shape;189;p12"/>
          <p:cNvSpPr/>
          <p:nvPr/>
        </p:nvSpPr>
        <p:spPr>
          <a:xfrm>
            <a:off x="1828800" y="365760"/>
            <a:ext cx="68580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Three Signals, One Story</a:t>
            </a:r>
            <a:endParaRPr b="0" i="0" sz="3200" u="none" cap="none" strike="noStrike">
              <a:solidFill>
                <a:schemeClr val="dk1"/>
              </a:solidFill>
              <a:latin typeface="Calibri"/>
              <a:ea typeface="Calibri"/>
              <a:cs typeface="Calibri"/>
              <a:sym typeface="Calibri"/>
            </a:endParaRPr>
          </a:p>
        </p:txBody>
      </p:sp>
      <p:sp>
        <p:nvSpPr>
          <p:cNvPr id="190" name="Google Shape;190;p12"/>
          <p:cNvSpPr/>
          <p:nvPr/>
        </p:nvSpPr>
        <p:spPr>
          <a:xfrm>
            <a:off x="457200" y="475488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191" name="Google Shape;191;p12"/>
          <p:cNvSpPr/>
          <p:nvPr/>
        </p:nvSpPr>
        <p:spPr>
          <a:xfrm>
            <a:off x="8229600" y="4754880"/>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pic>
        <p:nvPicPr>
          <p:cNvPr id="192" name="Google Shape;192;p12"/>
          <p:cNvPicPr preferRelativeResize="0"/>
          <p:nvPr/>
        </p:nvPicPr>
        <p:blipFill>
          <a:blip r:embed="rId3">
            <a:alphaModFix/>
          </a:blip>
          <a:stretch>
            <a:fillRect/>
          </a:stretch>
        </p:blipFill>
        <p:spPr>
          <a:xfrm>
            <a:off x="1193388" y="1173349"/>
            <a:ext cx="6757231" cy="3505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97" name="Shape 197"/>
        <p:cNvGrpSpPr/>
        <p:nvPr/>
      </p:nvGrpSpPr>
      <p:grpSpPr>
        <a:xfrm>
          <a:off x="0" y="0"/>
          <a:ext cx="0" cy="0"/>
          <a:chOff x="0" y="0"/>
          <a:chExt cx="0" cy="0"/>
        </a:xfrm>
      </p:grpSpPr>
      <p:sp>
        <p:nvSpPr>
          <p:cNvPr id="198" name="Google Shape;198;p13"/>
          <p:cNvSpPr/>
          <p:nvPr/>
        </p:nvSpPr>
        <p:spPr>
          <a:xfrm>
            <a:off x="457200" y="1463040"/>
            <a:ext cx="82296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6000"/>
              <a:buFont typeface="Calibri"/>
              <a:buNone/>
            </a:pPr>
            <a:r>
              <a:rPr b="1" i="0" lang="en-US" sz="6000" u="none" cap="none" strike="noStrike">
                <a:solidFill>
                  <a:srgbClr val="0D9488"/>
                </a:solidFill>
                <a:latin typeface="Calibri"/>
                <a:ea typeface="Calibri"/>
                <a:cs typeface="Calibri"/>
                <a:sym typeface="Calibri"/>
              </a:rPr>
              <a:t>→ LIVE DEMO 01</a:t>
            </a:r>
            <a:endParaRPr b="0" i="0" sz="6000" u="none" cap="none" strike="noStrike">
              <a:solidFill>
                <a:schemeClr val="dk1"/>
              </a:solidFill>
              <a:latin typeface="Calibri"/>
              <a:ea typeface="Calibri"/>
              <a:cs typeface="Calibri"/>
              <a:sym typeface="Calibri"/>
            </a:endParaRPr>
          </a:p>
        </p:txBody>
      </p:sp>
      <p:sp>
        <p:nvSpPr>
          <p:cNvPr id="199" name="Google Shape;199;p13"/>
          <p:cNvSpPr/>
          <p:nvPr/>
        </p:nvSpPr>
        <p:spPr>
          <a:xfrm>
            <a:off x="1371600" y="2926080"/>
            <a:ext cx="64008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400"/>
              <a:buFont typeface="Consolas"/>
              <a:buNone/>
            </a:pPr>
            <a:r>
              <a:rPr b="0" i="0" lang="en-US" sz="1400" u="none" cap="none" strike="noStrike">
                <a:solidFill>
                  <a:srgbClr val="F8FAFC"/>
                </a:solidFill>
                <a:latin typeface="Consolas"/>
                <a:ea typeface="Consolas"/>
                <a:cs typeface="Consolas"/>
                <a:sym typeface="Consolas"/>
              </a:rPr>
              <a:t>cd demo-01-three-signals &amp;&amp; ./demo.sh</a:t>
            </a:r>
            <a:endParaRPr b="0" i="0" sz="1400" u="none" cap="none" strike="noStrike">
              <a:solidFill>
                <a:schemeClr val="dk1"/>
              </a:solidFill>
              <a:latin typeface="Calibri"/>
              <a:ea typeface="Calibri"/>
              <a:cs typeface="Calibri"/>
              <a:sym typeface="Calibri"/>
            </a:endParaRPr>
          </a:p>
        </p:txBody>
      </p:sp>
      <p:sp>
        <p:nvSpPr>
          <p:cNvPr id="200" name="Google Shape;200;p13"/>
          <p:cNvSpPr/>
          <p:nvPr/>
        </p:nvSpPr>
        <p:spPr>
          <a:xfrm>
            <a:off x="457200" y="457200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Switch to terminal · run the demo · come back when done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14"/>
          <p:cNvSpPr/>
          <p:nvPr/>
        </p:nvSpPr>
        <p:spPr>
          <a:xfrm>
            <a:off x="457200" y="3657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Recap — Demo 01</a:t>
            </a:r>
            <a:endParaRPr b="0" i="0" sz="3200" u="none" cap="none" strike="noStrike">
              <a:solidFill>
                <a:schemeClr val="dk1"/>
              </a:solidFill>
              <a:latin typeface="Calibri"/>
              <a:ea typeface="Calibri"/>
              <a:cs typeface="Calibri"/>
              <a:sym typeface="Calibri"/>
            </a:endParaRPr>
          </a:p>
        </p:txBody>
      </p:sp>
      <p:sp>
        <p:nvSpPr>
          <p:cNvPr id="207" name="Google Shape;207;p14"/>
          <p:cNvSpPr/>
          <p:nvPr/>
        </p:nvSpPr>
        <p:spPr>
          <a:xfrm>
            <a:off x="457200" y="1188720"/>
            <a:ext cx="8229600" cy="91440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p:cNvSpPr/>
          <p:nvPr/>
        </p:nvSpPr>
        <p:spPr>
          <a:xfrm>
            <a:off x="457200" y="1188720"/>
            <a:ext cx="91440" cy="9144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
          <p:cNvSpPr/>
          <p:nvPr/>
        </p:nvSpPr>
        <p:spPr>
          <a:xfrm>
            <a:off x="777240" y="1188720"/>
            <a:ext cx="7772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000"/>
              <a:buFont typeface="Calibri"/>
              <a:buNone/>
            </a:pPr>
            <a:r>
              <a:rPr b="1" i="1" lang="en-US" sz="2000" u="none" cap="none" strike="noStrike">
                <a:solidFill>
                  <a:srgbClr val="0F172A"/>
                </a:solidFill>
                <a:latin typeface="Calibri"/>
                <a:ea typeface="Calibri"/>
                <a:cs typeface="Calibri"/>
                <a:sym typeface="Calibri"/>
              </a:rPr>
              <a:t>Correlation is a feature you build into the platform — not a query you run.</a:t>
            </a:r>
            <a:endParaRPr b="0" i="0" sz="2000" u="none" cap="none" strike="noStrike">
              <a:solidFill>
                <a:schemeClr val="dk1"/>
              </a:solidFill>
              <a:latin typeface="Calibri"/>
              <a:ea typeface="Calibri"/>
              <a:cs typeface="Calibri"/>
              <a:sym typeface="Calibri"/>
            </a:endParaRPr>
          </a:p>
        </p:txBody>
      </p:sp>
      <p:sp>
        <p:nvSpPr>
          <p:cNvPr id="210" name="Google Shape;210;p14"/>
          <p:cNvSpPr/>
          <p:nvPr/>
        </p:nvSpPr>
        <p:spPr>
          <a:xfrm>
            <a:off x="640080" y="2468880"/>
            <a:ext cx="7772400" cy="21031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0F172A"/>
              </a:buClr>
              <a:buSzPts val="1400"/>
              <a:buFont typeface="Calibri"/>
              <a:buChar char="•"/>
            </a:pPr>
            <a:r>
              <a:rPr b="0" i="0" lang="en-US" sz="1400" u="none" cap="none" strike="noStrike">
                <a:solidFill>
                  <a:srgbClr val="0F172A"/>
                </a:solidFill>
                <a:latin typeface="Calibri"/>
                <a:ea typeface="Calibri"/>
                <a:cs typeface="Calibri"/>
                <a:sym typeface="Calibri"/>
              </a:rPr>
              <a:t>Each signal is more valuable when it shares context with the others</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0F172A"/>
              </a:buClr>
              <a:buSzPts val="1400"/>
              <a:buFont typeface="Calibri"/>
              <a:buChar char="•"/>
            </a:pPr>
            <a:r>
              <a:rPr b="0" i="0" lang="en-US" sz="1400" u="none" cap="none" strike="noStrike">
                <a:solidFill>
                  <a:srgbClr val="0F172A"/>
                </a:solidFill>
                <a:latin typeface="Calibri"/>
                <a:ea typeface="Calibri"/>
                <a:cs typeface="Calibri"/>
                <a:sym typeface="Calibri"/>
              </a:rPr>
              <a:t>trace_id is the universal join key across traces, metrics, and logs</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0F172A"/>
              </a:buClr>
              <a:buSzPts val="1400"/>
              <a:buFont typeface="Calibri"/>
              <a:buChar char="•"/>
            </a:pPr>
            <a:r>
              <a:rPr b="0" i="0" lang="en-US" sz="1400" u="none" cap="none" strike="noStrike">
                <a:solidFill>
                  <a:srgbClr val="0F172A"/>
                </a:solidFill>
                <a:latin typeface="Calibri"/>
                <a:ea typeface="Calibri"/>
                <a:cs typeface="Calibri"/>
                <a:sym typeface="Calibri"/>
              </a:rPr>
              <a:t>OTel agent or SDK both work; agents trade overhead for zero code change</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0F172A"/>
              </a:buClr>
              <a:buSzPts val="1400"/>
              <a:buFont typeface="Calibri"/>
              <a:buChar char="•"/>
            </a:pPr>
            <a:r>
              <a:rPr b="0" i="0" lang="en-US" sz="1400" u="none" cap="none" strike="noStrike">
                <a:solidFill>
                  <a:srgbClr val="0F172A"/>
                </a:solidFill>
                <a:latin typeface="Calibri"/>
                <a:ea typeface="Calibri"/>
                <a:cs typeface="Calibri"/>
                <a:sym typeface="Calibri"/>
              </a:rPr>
              <a:t>The Collector is where you decide what survives the trip</a:t>
            </a:r>
            <a:endParaRPr b="0" i="0" sz="1400" u="none" cap="none" strike="noStrike">
              <a:solidFill>
                <a:schemeClr val="dk1"/>
              </a:solidFill>
              <a:latin typeface="Calibri"/>
              <a:ea typeface="Calibri"/>
              <a:cs typeface="Calibri"/>
              <a:sym typeface="Calibri"/>
            </a:endParaRPr>
          </a:p>
        </p:txBody>
      </p:sp>
      <p:sp>
        <p:nvSpPr>
          <p:cNvPr id="211" name="Google Shape;211;p14"/>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212" name="Google Shape;212;p14"/>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5"/>
          <p:cNvSpPr/>
          <p:nvPr/>
        </p:nvSpPr>
        <p:spPr>
          <a:xfrm>
            <a:off x="626900" y="365750"/>
            <a:ext cx="80598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OpenTelemetry and Prometheus</a:t>
            </a:r>
            <a:endParaRPr b="0" i="0" sz="3200" u="none" cap="none" strike="noStrike">
              <a:solidFill>
                <a:schemeClr val="dk1"/>
              </a:solidFill>
              <a:latin typeface="Calibri"/>
              <a:ea typeface="Calibri"/>
              <a:cs typeface="Calibri"/>
              <a:sym typeface="Calibri"/>
            </a:endParaRPr>
          </a:p>
        </p:txBody>
      </p:sp>
      <p:sp>
        <p:nvSpPr>
          <p:cNvPr id="219" name="Google Shape;219;p15"/>
          <p:cNvSpPr/>
          <p:nvPr/>
        </p:nvSpPr>
        <p:spPr>
          <a:xfrm>
            <a:off x="457200" y="475488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220" name="Google Shape;220;p15"/>
          <p:cNvSpPr/>
          <p:nvPr/>
        </p:nvSpPr>
        <p:spPr>
          <a:xfrm>
            <a:off x="8229600" y="4754880"/>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pic>
        <p:nvPicPr>
          <p:cNvPr id="221" name="Google Shape;221;p15"/>
          <p:cNvPicPr preferRelativeResize="0"/>
          <p:nvPr/>
        </p:nvPicPr>
        <p:blipFill>
          <a:blip r:embed="rId3">
            <a:alphaModFix/>
          </a:blip>
          <a:stretch>
            <a:fillRect/>
          </a:stretch>
        </p:blipFill>
        <p:spPr>
          <a:xfrm>
            <a:off x="542050" y="1249560"/>
            <a:ext cx="8059905" cy="33529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16"/>
          <p:cNvSpPr/>
          <p:nvPr/>
        </p:nvSpPr>
        <p:spPr>
          <a:xfrm>
            <a:off x="457200" y="457200"/>
            <a:ext cx="1188720" cy="54864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6"/>
          <p:cNvSpPr/>
          <p:nvPr/>
        </p:nvSpPr>
        <p:spPr>
          <a:xfrm>
            <a:off x="457200" y="457200"/>
            <a:ext cx="11887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Demo 02</a:t>
            </a:r>
            <a:endParaRPr b="0" i="0" sz="1600" u="none" cap="none" strike="noStrike">
              <a:solidFill>
                <a:schemeClr val="dk1"/>
              </a:solidFill>
              <a:latin typeface="Calibri"/>
              <a:ea typeface="Calibri"/>
              <a:cs typeface="Calibri"/>
              <a:sym typeface="Calibri"/>
            </a:endParaRPr>
          </a:p>
        </p:txBody>
      </p:sp>
      <p:sp>
        <p:nvSpPr>
          <p:cNvPr id="229" name="Google Shape;229;p16"/>
          <p:cNvSpPr/>
          <p:nvPr/>
        </p:nvSpPr>
        <p:spPr>
          <a:xfrm>
            <a:off x="1828800" y="365760"/>
            <a:ext cx="6858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The Cardinality Bomb</a:t>
            </a:r>
            <a:endParaRPr b="0" i="0" sz="3200" u="none" cap="none" strike="noStrike">
              <a:solidFill>
                <a:schemeClr val="dk1"/>
              </a:solidFill>
              <a:latin typeface="Calibri"/>
              <a:ea typeface="Calibri"/>
              <a:cs typeface="Calibri"/>
              <a:sym typeface="Calibri"/>
            </a:endParaRPr>
          </a:p>
        </p:txBody>
      </p:sp>
      <p:sp>
        <p:nvSpPr>
          <p:cNvPr id="230" name="Google Shape;230;p16"/>
          <p:cNvSpPr/>
          <p:nvPr/>
        </p:nvSpPr>
        <p:spPr>
          <a:xfrm>
            <a:off x="457200" y="12801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800"/>
              <a:buFont typeface="Calibri"/>
              <a:buNone/>
            </a:pPr>
            <a:r>
              <a:rPr b="0" i="1" lang="en-US" sz="1800" u="none" cap="none" strike="noStrike">
                <a:solidFill>
                  <a:srgbClr val="64748B"/>
                </a:solidFill>
                <a:latin typeface="Calibri"/>
                <a:ea typeface="Calibri"/>
                <a:cs typeface="Calibri"/>
                <a:sym typeface="Calibri"/>
              </a:rPr>
              <a:t>Adding a label looks free. It isn't.</a:t>
            </a:r>
            <a:endParaRPr b="0" i="0" sz="1800" u="none" cap="none" strike="noStrike">
              <a:solidFill>
                <a:schemeClr val="dk1"/>
              </a:solidFill>
              <a:latin typeface="Calibri"/>
              <a:ea typeface="Calibri"/>
              <a:cs typeface="Calibri"/>
              <a:sym typeface="Calibri"/>
            </a:endParaRPr>
          </a:p>
        </p:txBody>
      </p:sp>
      <p:sp>
        <p:nvSpPr>
          <p:cNvPr id="231" name="Google Shape;231;p16"/>
          <p:cNvSpPr/>
          <p:nvPr/>
        </p:nvSpPr>
        <p:spPr>
          <a:xfrm>
            <a:off x="640080" y="2011680"/>
            <a:ext cx="7772400" cy="24688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Each unique label combination is a separate time series</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user_id as a label = unbounded series count = OOM the TSDB (</a:t>
            </a:r>
            <a:r>
              <a:rPr lang="en-US" sz="1600">
                <a:solidFill>
                  <a:srgbClr val="0F172A"/>
                </a:solidFill>
                <a:latin typeface="Calibri"/>
                <a:ea typeface="Calibri"/>
                <a:cs typeface="Calibri"/>
                <a:sym typeface="Calibri"/>
              </a:rPr>
              <a:t>time series database)</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Watch a service emit ~100 series, then ~10,000</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Show the Collector's transform processor stripping high-card labels</a:t>
            </a:r>
            <a:endParaRPr b="0" i="0" sz="1600" u="none" cap="none" strike="noStrike">
              <a:solidFill>
                <a:schemeClr val="dk1"/>
              </a:solidFill>
              <a:latin typeface="Calibri"/>
              <a:ea typeface="Calibri"/>
              <a:cs typeface="Calibri"/>
              <a:sym typeface="Calibri"/>
            </a:endParaRPr>
          </a:p>
        </p:txBody>
      </p:sp>
      <p:sp>
        <p:nvSpPr>
          <p:cNvPr id="232" name="Google Shape;232;p16"/>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233" name="Google Shape;233;p16"/>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38" name="Shape 238"/>
        <p:cNvGrpSpPr/>
        <p:nvPr/>
      </p:nvGrpSpPr>
      <p:grpSpPr>
        <a:xfrm>
          <a:off x="0" y="0"/>
          <a:ext cx="0" cy="0"/>
          <a:chOff x="0" y="0"/>
          <a:chExt cx="0" cy="0"/>
        </a:xfrm>
      </p:grpSpPr>
      <p:sp>
        <p:nvSpPr>
          <p:cNvPr id="239" name="Google Shape;239;p17"/>
          <p:cNvSpPr/>
          <p:nvPr/>
        </p:nvSpPr>
        <p:spPr>
          <a:xfrm>
            <a:off x="457200" y="1463040"/>
            <a:ext cx="82296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6000"/>
              <a:buFont typeface="Calibri"/>
              <a:buNone/>
            </a:pPr>
            <a:r>
              <a:rPr b="1" i="0" lang="en-US" sz="6000" u="none" cap="none" strike="noStrike">
                <a:solidFill>
                  <a:srgbClr val="F59E0B"/>
                </a:solidFill>
                <a:latin typeface="Calibri"/>
                <a:ea typeface="Calibri"/>
                <a:cs typeface="Calibri"/>
                <a:sym typeface="Calibri"/>
              </a:rPr>
              <a:t>→ LIVE DEMO 02</a:t>
            </a:r>
            <a:endParaRPr b="0" i="0" sz="6000" u="none" cap="none" strike="noStrike">
              <a:solidFill>
                <a:schemeClr val="dk1"/>
              </a:solidFill>
              <a:latin typeface="Calibri"/>
              <a:ea typeface="Calibri"/>
              <a:cs typeface="Calibri"/>
              <a:sym typeface="Calibri"/>
            </a:endParaRPr>
          </a:p>
        </p:txBody>
      </p:sp>
      <p:sp>
        <p:nvSpPr>
          <p:cNvPr id="240" name="Google Shape;240;p17"/>
          <p:cNvSpPr/>
          <p:nvPr/>
        </p:nvSpPr>
        <p:spPr>
          <a:xfrm>
            <a:off x="1371600" y="2926080"/>
            <a:ext cx="64008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400"/>
              <a:buFont typeface="Consolas"/>
              <a:buNone/>
            </a:pPr>
            <a:r>
              <a:rPr b="0" i="0" lang="en-US" sz="1400" u="none" cap="none" strike="noStrike">
                <a:solidFill>
                  <a:srgbClr val="F8FAFC"/>
                </a:solidFill>
                <a:latin typeface="Consolas"/>
                <a:ea typeface="Consolas"/>
                <a:cs typeface="Consolas"/>
                <a:sym typeface="Consolas"/>
              </a:rPr>
              <a:t>cd demo-02-cardinality &amp;&amp; ./demo.sh</a:t>
            </a:r>
            <a:endParaRPr b="0" i="0" sz="1400" u="none" cap="none" strike="noStrike">
              <a:solidFill>
                <a:schemeClr val="dk1"/>
              </a:solidFill>
              <a:latin typeface="Calibri"/>
              <a:ea typeface="Calibri"/>
              <a:cs typeface="Calibri"/>
              <a:sym typeface="Calibri"/>
            </a:endParaRPr>
          </a:p>
        </p:txBody>
      </p:sp>
      <p:sp>
        <p:nvSpPr>
          <p:cNvPr id="241" name="Google Shape;241;p17"/>
          <p:cNvSpPr/>
          <p:nvPr/>
        </p:nvSpPr>
        <p:spPr>
          <a:xfrm>
            <a:off x="457200" y="457200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Switch to terminal · run the demo · come back when done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 name="Shape 246"/>
        <p:cNvGrpSpPr/>
        <p:nvPr/>
      </p:nvGrpSpPr>
      <p:grpSpPr>
        <a:xfrm>
          <a:off x="0" y="0"/>
          <a:ext cx="0" cy="0"/>
          <a:chOff x="0" y="0"/>
          <a:chExt cx="0" cy="0"/>
        </a:xfrm>
      </p:grpSpPr>
      <p:sp>
        <p:nvSpPr>
          <p:cNvPr id="247" name="Google Shape;247;p18"/>
          <p:cNvSpPr/>
          <p:nvPr/>
        </p:nvSpPr>
        <p:spPr>
          <a:xfrm>
            <a:off x="457200" y="3657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Recap — Demo 02</a:t>
            </a:r>
            <a:endParaRPr b="0" i="0" sz="3200" u="none" cap="none" strike="noStrike">
              <a:solidFill>
                <a:schemeClr val="dk1"/>
              </a:solidFill>
              <a:latin typeface="Calibri"/>
              <a:ea typeface="Calibri"/>
              <a:cs typeface="Calibri"/>
              <a:sym typeface="Calibri"/>
            </a:endParaRPr>
          </a:p>
        </p:txBody>
      </p:sp>
      <p:sp>
        <p:nvSpPr>
          <p:cNvPr id="248" name="Google Shape;248;p18"/>
          <p:cNvSpPr/>
          <p:nvPr/>
        </p:nvSpPr>
        <p:spPr>
          <a:xfrm>
            <a:off x="457200" y="1188720"/>
            <a:ext cx="8229600" cy="91440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8"/>
          <p:cNvSpPr/>
          <p:nvPr/>
        </p:nvSpPr>
        <p:spPr>
          <a:xfrm>
            <a:off x="457200" y="1188720"/>
            <a:ext cx="91440" cy="9144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8"/>
          <p:cNvSpPr/>
          <p:nvPr/>
        </p:nvSpPr>
        <p:spPr>
          <a:xfrm>
            <a:off x="777240" y="1188720"/>
            <a:ext cx="7772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000"/>
              <a:buFont typeface="Calibri"/>
              <a:buNone/>
            </a:pPr>
            <a:r>
              <a:rPr b="1" i="1" lang="en-US" sz="2000" u="none" cap="none" strike="noStrike">
                <a:solidFill>
                  <a:srgbClr val="0F172A"/>
                </a:solidFill>
                <a:latin typeface="Calibri"/>
                <a:ea typeface="Calibri"/>
                <a:cs typeface="Calibri"/>
                <a:sym typeface="Calibri"/>
              </a:rPr>
              <a:t>Cardinality is the ops cost of metrics. Budget it like compute.</a:t>
            </a:r>
            <a:endParaRPr b="0" i="0" sz="2000" u="none" cap="none" strike="noStrike">
              <a:solidFill>
                <a:schemeClr val="dk1"/>
              </a:solidFill>
              <a:latin typeface="Calibri"/>
              <a:ea typeface="Calibri"/>
              <a:cs typeface="Calibri"/>
              <a:sym typeface="Calibri"/>
            </a:endParaRPr>
          </a:p>
        </p:txBody>
      </p:sp>
      <p:sp>
        <p:nvSpPr>
          <p:cNvPr id="251" name="Google Shape;251;p18"/>
          <p:cNvSpPr/>
          <p:nvPr/>
        </p:nvSpPr>
        <p:spPr>
          <a:xfrm>
            <a:off x="640080" y="2468880"/>
            <a:ext cx="7772400" cy="21031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0F172A"/>
              </a:buClr>
              <a:buSzPts val="1400"/>
              <a:buFont typeface="Calibri"/>
              <a:buChar char="•"/>
            </a:pPr>
            <a:r>
              <a:rPr b="0" i="0" lang="en-US" sz="1400" u="none" cap="none" strike="noStrike">
                <a:solidFill>
                  <a:srgbClr val="0F172A"/>
                </a:solidFill>
                <a:latin typeface="Calibri"/>
                <a:ea typeface="Calibri"/>
                <a:cs typeface="Calibri"/>
                <a:sym typeface="Calibri"/>
              </a:rPr>
              <a:t>User-supplied values (user_id, request_id) belong in traces, not metric labels</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0F172A"/>
              </a:buClr>
              <a:buSzPts val="1400"/>
              <a:buFont typeface="Calibri"/>
              <a:buChar char="•"/>
            </a:pPr>
            <a:r>
              <a:rPr b="0" i="0" lang="en-US" sz="1400" u="none" cap="none" strike="noStrike">
                <a:solidFill>
                  <a:srgbClr val="0F172A"/>
                </a:solidFill>
                <a:latin typeface="Calibri"/>
                <a:ea typeface="Calibri"/>
                <a:cs typeface="Calibri"/>
                <a:sym typeface="Calibri"/>
              </a:rPr>
              <a:t>Bucket continuous values (latency → quantile) before exporting</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0F172A"/>
              </a:buClr>
              <a:buSzPts val="1400"/>
              <a:buFont typeface="Calibri"/>
              <a:buChar char="•"/>
            </a:pPr>
            <a:r>
              <a:rPr b="0" i="0" lang="en-US" sz="1400" u="none" cap="none" strike="noStrike">
                <a:solidFill>
                  <a:srgbClr val="0F172A"/>
                </a:solidFill>
                <a:latin typeface="Calibri"/>
                <a:ea typeface="Calibri"/>
                <a:cs typeface="Calibri"/>
                <a:sym typeface="Calibri"/>
              </a:rPr>
              <a:t>Use the Collector's transform/filter processors to enforce limits at the edge</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0F172A"/>
              </a:buClr>
              <a:buSzPts val="1400"/>
              <a:buFont typeface="Calibri"/>
              <a:buChar char="•"/>
            </a:pPr>
            <a:r>
              <a:rPr b="0" i="0" lang="en-US" sz="1400" u="none" cap="none" strike="noStrike">
                <a:solidFill>
                  <a:srgbClr val="0F172A"/>
                </a:solidFill>
                <a:latin typeface="Calibri"/>
                <a:ea typeface="Calibri"/>
                <a:cs typeface="Calibri"/>
                <a:sym typeface="Calibri"/>
              </a:rPr>
              <a:t>Build alerts on series count growth — catch the bomb before the OOM</a:t>
            </a:r>
            <a:endParaRPr b="0" i="0" sz="1400" u="none" cap="none" strike="noStrike">
              <a:solidFill>
                <a:schemeClr val="dk1"/>
              </a:solidFill>
              <a:latin typeface="Calibri"/>
              <a:ea typeface="Calibri"/>
              <a:cs typeface="Calibri"/>
              <a:sym typeface="Calibri"/>
            </a:endParaRPr>
          </a:p>
        </p:txBody>
      </p:sp>
      <p:sp>
        <p:nvSpPr>
          <p:cNvPr id="252" name="Google Shape;252;p18"/>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253" name="Google Shape;253;p18"/>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58" name="Shape 258"/>
        <p:cNvGrpSpPr/>
        <p:nvPr/>
      </p:nvGrpSpPr>
      <p:grpSpPr>
        <a:xfrm>
          <a:off x="0" y="0"/>
          <a:ext cx="0" cy="0"/>
          <a:chOff x="0" y="0"/>
          <a:chExt cx="0" cy="0"/>
        </a:xfrm>
      </p:grpSpPr>
      <p:sp>
        <p:nvSpPr>
          <p:cNvPr id="259" name="Google Shape;259;p19"/>
          <p:cNvSpPr/>
          <p:nvPr/>
        </p:nvSpPr>
        <p:spPr>
          <a:xfrm>
            <a:off x="457200" y="457200"/>
            <a:ext cx="1188720" cy="548640"/>
          </a:xfrm>
          <a:prstGeom prst="rect">
            <a:avLst/>
          </a:pr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9"/>
          <p:cNvSpPr/>
          <p:nvPr/>
        </p:nvSpPr>
        <p:spPr>
          <a:xfrm>
            <a:off x="457200" y="457200"/>
            <a:ext cx="11887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Demo 03</a:t>
            </a:r>
            <a:endParaRPr b="0" i="0" sz="1600" u="none" cap="none" strike="noStrike">
              <a:solidFill>
                <a:schemeClr val="dk1"/>
              </a:solidFill>
              <a:latin typeface="Calibri"/>
              <a:ea typeface="Calibri"/>
              <a:cs typeface="Calibri"/>
              <a:sym typeface="Calibri"/>
            </a:endParaRPr>
          </a:p>
        </p:txBody>
      </p:sp>
      <p:sp>
        <p:nvSpPr>
          <p:cNvPr id="261" name="Google Shape;261;p19"/>
          <p:cNvSpPr/>
          <p:nvPr/>
        </p:nvSpPr>
        <p:spPr>
          <a:xfrm>
            <a:off x="1828800" y="365760"/>
            <a:ext cx="6858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Tail Sampling</a:t>
            </a:r>
            <a:endParaRPr b="0" i="0" sz="3200" u="none" cap="none" strike="noStrike">
              <a:solidFill>
                <a:schemeClr val="dk1"/>
              </a:solidFill>
              <a:latin typeface="Calibri"/>
              <a:ea typeface="Calibri"/>
              <a:cs typeface="Calibri"/>
              <a:sym typeface="Calibri"/>
            </a:endParaRPr>
          </a:p>
        </p:txBody>
      </p:sp>
      <p:sp>
        <p:nvSpPr>
          <p:cNvPr id="262" name="Google Shape;262;p19"/>
          <p:cNvSpPr/>
          <p:nvPr/>
        </p:nvSpPr>
        <p:spPr>
          <a:xfrm>
            <a:off x="457200" y="12801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800"/>
              <a:buFont typeface="Calibri"/>
              <a:buNone/>
            </a:pPr>
            <a:r>
              <a:rPr b="0" i="1" lang="en-US" sz="1800" u="none" cap="none" strike="noStrike">
                <a:solidFill>
                  <a:srgbClr val="64748B"/>
                </a:solidFill>
                <a:latin typeface="Calibri"/>
                <a:ea typeface="Calibri"/>
                <a:cs typeface="Calibri"/>
                <a:sym typeface="Calibri"/>
              </a:rPr>
              <a:t>Head sampling is cheap. Tail sampling is correct.</a:t>
            </a:r>
            <a:endParaRPr b="0" i="0" sz="1800" u="none" cap="none" strike="noStrike">
              <a:solidFill>
                <a:schemeClr val="dk1"/>
              </a:solidFill>
              <a:latin typeface="Calibri"/>
              <a:ea typeface="Calibri"/>
              <a:cs typeface="Calibri"/>
              <a:sym typeface="Calibri"/>
            </a:endParaRPr>
          </a:p>
        </p:txBody>
      </p:sp>
      <p:sp>
        <p:nvSpPr>
          <p:cNvPr id="263" name="Google Shape;263;p19"/>
          <p:cNvSpPr/>
          <p:nvPr/>
        </p:nvSpPr>
        <p:spPr>
          <a:xfrm>
            <a:off x="640080" y="2011680"/>
            <a:ext cx="7772400" cy="24688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Head sampling: decide at trace start (no context yet)</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Tail sampling: decide after the trace completes (full context)</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Sample slow requests at 100%, fast successful ones at 1%</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Configured in the Collector's tail_sampling processor</a:t>
            </a:r>
            <a:endParaRPr b="0" i="0" sz="1600" u="none" cap="none" strike="noStrike">
              <a:solidFill>
                <a:schemeClr val="dk1"/>
              </a:solidFill>
              <a:latin typeface="Calibri"/>
              <a:ea typeface="Calibri"/>
              <a:cs typeface="Calibri"/>
              <a:sym typeface="Calibri"/>
            </a:endParaRPr>
          </a:p>
        </p:txBody>
      </p:sp>
      <p:sp>
        <p:nvSpPr>
          <p:cNvPr id="264" name="Google Shape;264;p19"/>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265" name="Google Shape;265;p19"/>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sp>
        <p:nvSpPr>
          <p:cNvPr id="271" name="Google Shape;271;p20"/>
          <p:cNvSpPr/>
          <p:nvPr/>
        </p:nvSpPr>
        <p:spPr>
          <a:xfrm>
            <a:off x="457200" y="457200"/>
            <a:ext cx="1188600" cy="548700"/>
          </a:xfrm>
          <a:prstGeom prst="rect">
            <a:avLst/>
          </a:pr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0"/>
          <p:cNvSpPr/>
          <p:nvPr/>
        </p:nvSpPr>
        <p:spPr>
          <a:xfrm>
            <a:off x="457200" y="457200"/>
            <a:ext cx="11886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Demo 03</a:t>
            </a:r>
            <a:endParaRPr b="0" i="0" sz="1600" u="none" cap="none" strike="noStrike">
              <a:solidFill>
                <a:schemeClr val="dk1"/>
              </a:solidFill>
              <a:latin typeface="Calibri"/>
              <a:ea typeface="Calibri"/>
              <a:cs typeface="Calibri"/>
              <a:sym typeface="Calibri"/>
            </a:endParaRPr>
          </a:p>
        </p:txBody>
      </p:sp>
      <p:sp>
        <p:nvSpPr>
          <p:cNvPr id="273" name="Google Shape;273;p20"/>
          <p:cNvSpPr/>
          <p:nvPr/>
        </p:nvSpPr>
        <p:spPr>
          <a:xfrm>
            <a:off x="1828800" y="365760"/>
            <a:ext cx="68580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Head vs Tail Sampling</a:t>
            </a:r>
            <a:endParaRPr b="0" i="0" sz="3200" u="none" cap="none" strike="noStrike">
              <a:solidFill>
                <a:schemeClr val="dk1"/>
              </a:solidFill>
              <a:latin typeface="Calibri"/>
              <a:ea typeface="Calibri"/>
              <a:cs typeface="Calibri"/>
              <a:sym typeface="Calibri"/>
            </a:endParaRPr>
          </a:p>
        </p:txBody>
      </p:sp>
      <p:sp>
        <p:nvSpPr>
          <p:cNvPr id="274" name="Google Shape;274;p20"/>
          <p:cNvSpPr/>
          <p:nvPr/>
        </p:nvSpPr>
        <p:spPr>
          <a:xfrm>
            <a:off x="457200" y="475488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275" name="Google Shape;275;p20"/>
          <p:cNvSpPr/>
          <p:nvPr/>
        </p:nvSpPr>
        <p:spPr>
          <a:xfrm>
            <a:off x="8229600" y="4754880"/>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pic>
        <p:nvPicPr>
          <p:cNvPr id="276" name="Google Shape;276;p20"/>
          <p:cNvPicPr preferRelativeResize="0"/>
          <p:nvPr/>
        </p:nvPicPr>
        <p:blipFill>
          <a:blip r:embed="rId3">
            <a:alphaModFix/>
          </a:blip>
          <a:stretch>
            <a:fillRect/>
          </a:stretch>
        </p:blipFill>
        <p:spPr>
          <a:xfrm>
            <a:off x="686013" y="1249550"/>
            <a:ext cx="7771976" cy="35053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81" name="Shape 281"/>
        <p:cNvGrpSpPr/>
        <p:nvPr/>
      </p:nvGrpSpPr>
      <p:grpSpPr>
        <a:xfrm>
          <a:off x="0" y="0"/>
          <a:ext cx="0" cy="0"/>
          <a:chOff x="0" y="0"/>
          <a:chExt cx="0" cy="0"/>
        </a:xfrm>
      </p:grpSpPr>
      <p:sp>
        <p:nvSpPr>
          <p:cNvPr id="282" name="Google Shape;282;p21"/>
          <p:cNvSpPr/>
          <p:nvPr/>
        </p:nvSpPr>
        <p:spPr>
          <a:xfrm>
            <a:off x="457200" y="1463040"/>
            <a:ext cx="82296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5CF6"/>
              </a:buClr>
              <a:buSzPts val="6000"/>
              <a:buFont typeface="Calibri"/>
              <a:buNone/>
            </a:pPr>
            <a:r>
              <a:rPr b="1" i="0" lang="en-US" sz="6000" u="none" cap="none" strike="noStrike">
                <a:solidFill>
                  <a:srgbClr val="8B5CF6"/>
                </a:solidFill>
                <a:latin typeface="Calibri"/>
                <a:ea typeface="Calibri"/>
                <a:cs typeface="Calibri"/>
                <a:sym typeface="Calibri"/>
              </a:rPr>
              <a:t>→ LIVE DEMO 03</a:t>
            </a:r>
            <a:endParaRPr b="0" i="0" sz="6000" u="none" cap="none" strike="noStrike">
              <a:solidFill>
                <a:schemeClr val="dk1"/>
              </a:solidFill>
              <a:latin typeface="Calibri"/>
              <a:ea typeface="Calibri"/>
              <a:cs typeface="Calibri"/>
              <a:sym typeface="Calibri"/>
            </a:endParaRPr>
          </a:p>
        </p:txBody>
      </p:sp>
      <p:sp>
        <p:nvSpPr>
          <p:cNvPr id="283" name="Google Shape;283;p21"/>
          <p:cNvSpPr/>
          <p:nvPr/>
        </p:nvSpPr>
        <p:spPr>
          <a:xfrm>
            <a:off x="1371600" y="2926080"/>
            <a:ext cx="64008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400"/>
              <a:buFont typeface="Consolas"/>
              <a:buNone/>
            </a:pPr>
            <a:r>
              <a:rPr b="0" i="0" lang="en-US" sz="1400" u="none" cap="none" strike="noStrike">
                <a:solidFill>
                  <a:srgbClr val="F8FAFC"/>
                </a:solidFill>
                <a:latin typeface="Consolas"/>
                <a:ea typeface="Consolas"/>
                <a:cs typeface="Consolas"/>
                <a:sym typeface="Consolas"/>
              </a:rPr>
              <a:t>cd demo-03-tail-sampling &amp;&amp; ./demo.sh</a:t>
            </a:r>
            <a:endParaRPr b="0" i="0" sz="1400" u="none" cap="none" strike="noStrike">
              <a:solidFill>
                <a:schemeClr val="dk1"/>
              </a:solidFill>
              <a:latin typeface="Calibri"/>
              <a:ea typeface="Calibri"/>
              <a:cs typeface="Calibri"/>
              <a:sym typeface="Calibri"/>
            </a:endParaRPr>
          </a:p>
        </p:txBody>
      </p:sp>
      <p:sp>
        <p:nvSpPr>
          <p:cNvPr id="284" name="Google Shape;284;p21"/>
          <p:cNvSpPr/>
          <p:nvPr/>
        </p:nvSpPr>
        <p:spPr>
          <a:xfrm>
            <a:off x="457200" y="457200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Switch to terminal · run the demo · come back when done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22"/>
          <p:cNvSpPr/>
          <p:nvPr/>
        </p:nvSpPr>
        <p:spPr>
          <a:xfrm>
            <a:off x="457200" y="3657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Recap — Demo 03</a:t>
            </a:r>
            <a:endParaRPr b="0" i="0" sz="3200" u="none" cap="none" strike="noStrike">
              <a:solidFill>
                <a:schemeClr val="dk1"/>
              </a:solidFill>
              <a:latin typeface="Calibri"/>
              <a:ea typeface="Calibri"/>
              <a:cs typeface="Calibri"/>
              <a:sym typeface="Calibri"/>
            </a:endParaRPr>
          </a:p>
        </p:txBody>
      </p:sp>
      <p:sp>
        <p:nvSpPr>
          <p:cNvPr id="291" name="Google Shape;291;p22"/>
          <p:cNvSpPr/>
          <p:nvPr/>
        </p:nvSpPr>
        <p:spPr>
          <a:xfrm>
            <a:off x="457200" y="1188720"/>
            <a:ext cx="8229600" cy="91440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2"/>
          <p:cNvSpPr/>
          <p:nvPr/>
        </p:nvSpPr>
        <p:spPr>
          <a:xfrm>
            <a:off x="457200" y="1188720"/>
            <a:ext cx="91440" cy="914400"/>
          </a:xfrm>
          <a:prstGeom prst="rect">
            <a:avLst/>
          </a:pr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2"/>
          <p:cNvSpPr/>
          <p:nvPr/>
        </p:nvSpPr>
        <p:spPr>
          <a:xfrm>
            <a:off x="777240" y="1188720"/>
            <a:ext cx="7772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000"/>
              <a:buFont typeface="Calibri"/>
              <a:buNone/>
            </a:pPr>
            <a:r>
              <a:rPr b="1" i="1" lang="en-US" sz="2000" u="none" cap="none" strike="noStrike">
                <a:solidFill>
                  <a:srgbClr val="0F172A"/>
                </a:solidFill>
                <a:latin typeface="Calibri"/>
                <a:ea typeface="Calibri"/>
                <a:cs typeface="Calibri"/>
                <a:sym typeface="Calibri"/>
              </a:rPr>
              <a:t>Sample for what's interesting, not what's typical.</a:t>
            </a:r>
            <a:endParaRPr b="0" i="0" sz="2000" u="none" cap="none" strike="noStrike">
              <a:solidFill>
                <a:schemeClr val="dk1"/>
              </a:solidFill>
              <a:latin typeface="Calibri"/>
              <a:ea typeface="Calibri"/>
              <a:cs typeface="Calibri"/>
              <a:sym typeface="Calibri"/>
            </a:endParaRPr>
          </a:p>
        </p:txBody>
      </p:sp>
      <p:sp>
        <p:nvSpPr>
          <p:cNvPr id="294" name="Google Shape;294;p22"/>
          <p:cNvSpPr/>
          <p:nvPr/>
        </p:nvSpPr>
        <p:spPr>
          <a:xfrm>
            <a:off x="640080" y="2468880"/>
            <a:ext cx="7772400" cy="21031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0F172A"/>
              </a:buClr>
              <a:buSzPts val="1400"/>
              <a:buFont typeface="Calibri"/>
              <a:buChar char="•"/>
            </a:pPr>
            <a:r>
              <a:rPr b="0" i="0" lang="en-US" sz="1400" u="none" cap="none" strike="noStrike">
                <a:solidFill>
                  <a:srgbClr val="0F172A"/>
                </a:solidFill>
                <a:latin typeface="Calibri"/>
                <a:ea typeface="Calibri"/>
                <a:cs typeface="Calibri"/>
                <a:sym typeface="Calibri"/>
              </a:rPr>
              <a:t>Tail sampling needs the full trace in memory before it can decide</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0F172A"/>
              </a:buClr>
              <a:buSzPts val="1400"/>
              <a:buFont typeface="Calibri"/>
              <a:buChar char="•"/>
            </a:pPr>
            <a:r>
              <a:rPr b="0" i="0" lang="en-US" sz="1400" u="none" cap="none" strike="noStrike">
                <a:solidFill>
                  <a:srgbClr val="0F172A"/>
                </a:solidFill>
                <a:latin typeface="Calibri"/>
                <a:ea typeface="Calibri"/>
                <a:cs typeface="Calibri"/>
                <a:sym typeface="Calibri"/>
              </a:rPr>
              <a:t>Latency, error status, and route are the most useful sampling axes</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0F172A"/>
              </a:buClr>
              <a:buSzPts val="1400"/>
              <a:buFont typeface="Calibri"/>
              <a:buChar char="•"/>
            </a:pPr>
            <a:r>
              <a:rPr b="0" i="0" lang="en-US" sz="1400" u="none" cap="none" strike="noStrike">
                <a:solidFill>
                  <a:srgbClr val="0F172A"/>
                </a:solidFill>
                <a:latin typeface="Calibri"/>
                <a:ea typeface="Calibri"/>
                <a:cs typeface="Calibri"/>
                <a:sym typeface="Calibri"/>
              </a:rPr>
              <a:t>The sample rate per-policy is independent — keep all errors, 5% of OK</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0F172A"/>
              </a:buClr>
              <a:buSzPts val="1400"/>
              <a:buFont typeface="Calibri"/>
              <a:buChar char="•"/>
            </a:pPr>
            <a:r>
              <a:rPr b="0" i="0" lang="en-US" sz="1400" u="none" cap="none" strike="noStrike">
                <a:solidFill>
                  <a:srgbClr val="0F172A"/>
                </a:solidFill>
                <a:latin typeface="Calibri"/>
                <a:ea typeface="Calibri"/>
                <a:cs typeface="Calibri"/>
                <a:sym typeface="Calibri"/>
              </a:rPr>
              <a:t>Trade-off: tail sampling adds 30-60s latency before traces appear</a:t>
            </a:r>
            <a:endParaRPr b="0" i="0" sz="1400" u="none" cap="none" strike="noStrike">
              <a:solidFill>
                <a:schemeClr val="dk1"/>
              </a:solidFill>
              <a:latin typeface="Calibri"/>
              <a:ea typeface="Calibri"/>
              <a:cs typeface="Calibri"/>
              <a:sym typeface="Calibri"/>
            </a:endParaRPr>
          </a:p>
        </p:txBody>
      </p:sp>
      <p:sp>
        <p:nvSpPr>
          <p:cNvPr id="295" name="Google Shape;295;p22"/>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296" name="Google Shape;296;p22"/>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01" name="Shape 301"/>
        <p:cNvGrpSpPr/>
        <p:nvPr/>
      </p:nvGrpSpPr>
      <p:grpSpPr>
        <a:xfrm>
          <a:off x="0" y="0"/>
          <a:ext cx="0" cy="0"/>
          <a:chOff x="0" y="0"/>
          <a:chExt cx="0" cy="0"/>
        </a:xfrm>
      </p:grpSpPr>
      <p:sp>
        <p:nvSpPr>
          <p:cNvPr id="302" name="Google Shape;302;p23"/>
          <p:cNvSpPr/>
          <p:nvPr/>
        </p:nvSpPr>
        <p:spPr>
          <a:xfrm>
            <a:off x="457200" y="457200"/>
            <a:ext cx="1188720" cy="548640"/>
          </a:xfrm>
          <a:prstGeom prst="rect">
            <a:avLst/>
          </a:pr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3"/>
          <p:cNvSpPr/>
          <p:nvPr/>
        </p:nvSpPr>
        <p:spPr>
          <a:xfrm>
            <a:off x="457200" y="457200"/>
            <a:ext cx="11887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Demo 04</a:t>
            </a:r>
            <a:endParaRPr b="0" i="0" sz="1600" u="none" cap="none" strike="noStrike">
              <a:solidFill>
                <a:schemeClr val="dk1"/>
              </a:solidFill>
              <a:latin typeface="Calibri"/>
              <a:ea typeface="Calibri"/>
              <a:cs typeface="Calibri"/>
              <a:sym typeface="Calibri"/>
            </a:endParaRPr>
          </a:p>
        </p:txBody>
      </p:sp>
      <p:sp>
        <p:nvSpPr>
          <p:cNvPr id="304" name="Google Shape;304;p23"/>
          <p:cNvSpPr/>
          <p:nvPr/>
        </p:nvSpPr>
        <p:spPr>
          <a:xfrm>
            <a:off x="1828800" y="365760"/>
            <a:ext cx="6858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JVM Metrics &amp; GC Stories</a:t>
            </a:r>
            <a:endParaRPr b="0" i="0" sz="3200" u="none" cap="none" strike="noStrike">
              <a:solidFill>
                <a:schemeClr val="dk1"/>
              </a:solidFill>
              <a:latin typeface="Calibri"/>
              <a:ea typeface="Calibri"/>
              <a:cs typeface="Calibri"/>
              <a:sym typeface="Calibri"/>
            </a:endParaRPr>
          </a:p>
        </p:txBody>
      </p:sp>
      <p:sp>
        <p:nvSpPr>
          <p:cNvPr id="305" name="Google Shape;305;p23"/>
          <p:cNvSpPr/>
          <p:nvPr/>
        </p:nvSpPr>
        <p:spPr>
          <a:xfrm>
            <a:off x="457200" y="12801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800"/>
              <a:buFont typeface="Calibri"/>
              <a:buNone/>
            </a:pPr>
            <a:r>
              <a:rPr b="0" i="1" lang="en-US" sz="1800" u="none" cap="none" strike="noStrike">
                <a:solidFill>
                  <a:srgbClr val="64748B"/>
                </a:solidFill>
                <a:latin typeface="Calibri"/>
                <a:ea typeface="Calibri"/>
                <a:cs typeface="Calibri"/>
                <a:sym typeface="Calibri"/>
              </a:rPr>
              <a:t>Every garbage collector has a fingerprint.</a:t>
            </a:r>
            <a:endParaRPr b="0" i="0" sz="1800" u="none" cap="none" strike="noStrike">
              <a:solidFill>
                <a:schemeClr val="dk1"/>
              </a:solidFill>
              <a:latin typeface="Calibri"/>
              <a:ea typeface="Calibri"/>
              <a:cs typeface="Calibri"/>
              <a:sym typeface="Calibri"/>
            </a:endParaRPr>
          </a:p>
        </p:txBody>
      </p:sp>
      <p:sp>
        <p:nvSpPr>
          <p:cNvPr id="306" name="Google Shape;306;p23"/>
          <p:cNvSpPr/>
          <p:nvPr/>
        </p:nvSpPr>
        <p:spPr>
          <a:xfrm>
            <a:off x="640080" y="2011680"/>
            <a:ext cx="7772400" cy="24688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Heap, GC pauses, thread count — all visible via Micrometer + OTel</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Three GC sweeps: Shenandoah, G1, ZGC under matching load</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Pause-time profiles look distinct on a dashboard</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Spring Boot 4 metric names match OTel semantic conventions</a:t>
            </a:r>
            <a:endParaRPr b="0" i="0" sz="1600" u="none" cap="none" strike="noStrike">
              <a:solidFill>
                <a:schemeClr val="dk1"/>
              </a:solidFill>
              <a:latin typeface="Calibri"/>
              <a:ea typeface="Calibri"/>
              <a:cs typeface="Calibri"/>
              <a:sym typeface="Calibri"/>
            </a:endParaRPr>
          </a:p>
        </p:txBody>
      </p:sp>
      <p:sp>
        <p:nvSpPr>
          <p:cNvPr id="307" name="Google Shape;307;p23"/>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308" name="Google Shape;308;p23"/>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p24"/>
          <p:cNvSpPr/>
          <p:nvPr/>
        </p:nvSpPr>
        <p:spPr>
          <a:xfrm>
            <a:off x="457200" y="457200"/>
            <a:ext cx="1188600" cy="548700"/>
          </a:xfrm>
          <a:prstGeom prst="rect">
            <a:avLst/>
          </a:pr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4"/>
          <p:cNvSpPr/>
          <p:nvPr/>
        </p:nvSpPr>
        <p:spPr>
          <a:xfrm>
            <a:off x="457200" y="457200"/>
            <a:ext cx="11886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Demo 04</a:t>
            </a:r>
            <a:endParaRPr b="0" i="0" sz="1600" u="none" cap="none" strike="noStrike">
              <a:solidFill>
                <a:schemeClr val="dk1"/>
              </a:solidFill>
              <a:latin typeface="Calibri"/>
              <a:ea typeface="Calibri"/>
              <a:cs typeface="Calibri"/>
              <a:sym typeface="Calibri"/>
            </a:endParaRPr>
          </a:p>
        </p:txBody>
      </p:sp>
      <p:sp>
        <p:nvSpPr>
          <p:cNvPr id="316" name="Google Shape;316;p24"/>
          <p:cNvSpPr/>
          <p:nvPr/>
        </p:nvSpPr>
        <p:spPr>
          <a:xfrm>
            <a:off x="1828800" y="365760"/>
            <a:ext cx="68580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GC Pauses as Trace Gaps</a:t>
            </a:r>
            <a:endParaRPr b="0" i="0" sz="3200" u="none" cap="none" strike="noStrike">
              <a:solidFill>
                <a:schemeClr val="dk1"/>
              </a:solidFill>
              <a:latin typeface="Calibri"/>
              <a:ea typeface="Calibri"/>
              <a:cs typeface="Calibri"/>
              <a:sym typeface="Calibri"/>
            </a:endParaRPr>
          </a:p>
        </p:txBody>
      </p:sp>
      <p:sp>
        <p:nvSpPr>
          <p:cNvPr id="317" name="Google Shape;317;p24"/>
          <p:cNvSpPr/>
          <p:nvPr/>
        </p:nvSpPr>
        <p:spPr>
          <a:xfrm>
            <a:off x="457200" y="475488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318" name="Google Shape;318;p24"/>
          <p:cNvSpPr/>
          <p:nvPr/>
        </p:nvSpPr>
        <p:spPr>
          <a:xfrm>
            <a:off x="8229600" y="4754880"/>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pic>
        <p:nvPicPr>
          <p:cNvPr id="319" name="Google Shape;319;p24"/>
          <p:cNvPicPr preferRelativeResize="0"/>
          <p:nvPr/>
        </p:nvPicPr>
        <p:blipFill>
          <a:blip r:embed="rId3">
            <a:alphaModFix/>
          </a:blip>
          <a:stretch>
            <a:fillRect/>
          </a:stretch>
        </p:blipFill>
        <p:spPr>
          <a:xfrm>
            <a:off x="1232713" y="1249560"/>
            <a:ext cx="6678580" cy="335292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24" name="Shape 324"/>
        <p:cNvGrpSpPr/>
        <p:nvPr/>
      </p:nvGrpSpPr>
      <p:grpSpPr>
        <a:xfrm>
          <a:off x="0" y="0"/>
          <a:ext cx="0" cy="0"/>
          <a:chOff x="0" y="0"/>
          <a:chExt cx="0" cy="0"/>
        </a:xfrm>
      </p:grpSpPr>
      <p:sp>
        <p:nvSpPr>
          <p:cNvPr id="325" name="Google Shape;325;p25"/>
          <p:cNvSpPr/>
          <p:nvPr/>
        </p:nvSpPr>
        <p:spPr>
          <a:xfrm>
            <a:off x="457200" y="1463040"/>
            <a:ext cx="82296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B6D4"/>
              </a:buClr>
              <a:buSzPts val="6000"/>
              <a:buFont typeface="Calibri"/>
              <a:buNone/>
            </a:pPr>
            <a:r>
              <a:rPr b="1" i="0" lang="en-US" sz="6000" u="none" cap="none" strike="noStrike">
                <a:solidFill>
                  <a:srgbClr val="06B6D4"/>
                </a:solidFill>
                <a:latin typeface="Calibri"/>
                <a:ea typeface="Calibri"/>
                <a:cs typeface="Calibri"/>
                <a:sym typeface="Calibri"/>
              </a:rPr>
              <a:t>→ LIVE DEMO 04</a:t>
            </a:r>
            <a:endParaRPr b="0" i="0" sz="6000" u="none" cap="none" strike="noStrike">
              <a:solidFill>
                <a:schemeClr val="dk1"/>
              </a:solidFill>
              <a:latin typeface="Calibri"/>
              <a:ea typeface="Calibri"/>
              <a:cs typeface="Calibri"/>
              <a:sym typeface="Calibri"/>
            </a:endParaRPr>
          </a:p>
        </p:txBody>
      </p:sp>
      <p:sp>
        <p:nvSpPr>
          <p:cNvPr id="326" name="Google Shape;326;p25"/>
          <p:cNvSpPr/>
          <p:nvPr/>
        </p:nvSpPr>
        <p:spPr>
          <a:xfrm>
            <a:off x="1371600" y="2926080"/>
            <a:ext cx="64008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400"/>
              <a:buFont typeface="Consolas"/>
              <a:buNone/>
            </a:pPr>
            <a:r>
              <a:rPr b="0" i="0" lang="en-US" sz="1400" u="none" cap="none" strike="noStrike">
                <a:solidFill>
                  <a:srgbClr val="F8FAFC"/>
                </a:solidFill>
                <a:latin typeface="Consolas"/>
                <a:ea typeface="Consolas"/>
                <a:cs typeface="Consolas"/>
                <a:sym typeface="Consolas"/>
              </a:rPr>
              <a:t>cd demo-04-jvm-metrics-shenandoah &amp;&amp; ./demo.sh</a:t>
            </a:r>
            <a:endParaRPr b="0" i="0" sz="1400" u="none" cap="none" strike="noStrike">
              <a:solidFill>
                <a:schemeClr val="dk1"/>
              </a:solidFill>
              <a:latin typeface="Calibri"/>
              <a:ea typeface="Calibri"/>
              <a:cs typeface="Calibri"/>
              <a:sym typeface="Calibri"/>
            </a:endParaRPr>
          </a:p>
        </p:txBody>
      </p:sp>
      <p:sp>
        <p:nvSpPr>
          <p:cNvPr id="327" name="Google Shape;327;p25"/>
          <p:cNvSpPr/>
          <p:nvPr/>
        </p:nvSpPr>
        <p:spPr>
          <a:xfrm>
            <a:off x="457200" y="457200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Switch to terminal · run the demo · come back when done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sp>
        <p:nvSpPr>
          <p:cNvPr id="333" name="Google Shape;333;p26"/>
          <p:cNvSpPr/>
          <p:nvPr/>
        </p:nvSpPr>
        <p:spPr>
          <a:xfrm>
            <a:off x="457200" y="3657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Recap — Demo 04</a:t>
            </a:r>
            <a:endParaRPr b="0" i="0" sz="3200" u="none" cap="none" strike="noStrike">
              <a:solidFill>
                <a:schemeClr val="dk1"/>
              </a:solidFill>
              <a:latin typeface="Calibri"/>
              <a:ea typeface="Calibri"/>
              <a:cs typeface="Calibri"/>
              <a:sym typeface="Calibri"/>
            </a:endParaRPr>
          </a:p>
        </p:txBody>
      </p:sp>
      <p:sp>
        <p:nvSpPr>
          <p:cNvPr id="334" name="Google Shape;334;p26"/>
          <p:cNvSpPr/>
          <p:nvPr/>
        </p:nvSpPr>
        <p:spPr>
          <a:xfrm>
            <a:off x="457200" y="1188720"/>
            <a:ext cx="8229600" cy="91440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6"/>
          <p:cNvSpPr/>
          <p:nvPr/>
        </p:nvSpPr>
        <p:spPr>
          <a:xfrm>
            <a:off x="457200" y="1188720"/>
            <a:ext cx="91440" cy="914400"/>
          </a:xfrm>
          <a:prstGeom prst="rect">
            <a:avLst/>
          </a:pr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6"/>
          <p:cNvSpPr/>
          <p:nvPr/>
        </p:nvSpPr>
        <p:spPr>
          <a:xfrm>
            <a:off x="777240" y="1188720"/>
            <a:ext cx="7772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000"/>
              <a:buFont typeface="Calibri"/>
              <a:buNone/>
            </a:pPr>
            <a:r>
              <a:rPr b="1" i="1" lang="en-US" sz="2000" u="none" cap="none" strike="noStrike">
                <a:solidFill>
                  <a:srgbClr val="0F172A"/>
                </a:solidFill>
                <a:latin typeface="Calibri"/>
                <a:ea typeface="Calibri"/>
                <a:cs typeface="Calibri"/>
                <a:sym typeface="Calibri"/>
              </a:rPr>
              <a:t>GC choice is an operational shape choice, not a tuning afterthought.</a:t>
            </a:r>
            <a:endParaRPr b="0" i="0" sz="2000" u="none" cap="none" strike="noStrike">
              <a:solidFill>
                <a:schemeClr val="dk1"/>
              </a:solidFill>
              <a:latin typeface="Calibri"/>
              <a:ea typeface="Calibri"/>
              <a:cs typeface="Calibri"/>
              <a:sym typeface="Calibri"/>
            </a:endParaRPr>
          </a:p>
        </p:txBody>
      </p:sp>
      <p:sp>
        <p:nvSpPr>
          <p:cNvPr id="337" name="Google Shape;337;p26"/>
          <p:cNvSpPr/>
          <p:nvPr/>
        </p:nvSpPr>
        <p:spPr>
          <a:xfrm>
            <a:off x="640080" y="2468880"/>
            <a:ext cx="7772400" cy="21031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0F172A"/>
              </a:buClr>
              <a:buSzPts val="1400"/>
              <a:buFont typeface="Calibri"/>
              <a:buChar char="•"/>
            </a:pPr>
            <a:r>
              <a:rPr b="0" i="0" lang="en-US" sz="1400" u="none" cap="none" strike="noStrike">
                <a:solidFill>
                  <a:srgbClr val="0F172A"/>
                </a:solidFill>
                <a:latin typeface="Calibri"/>
                <a:ea typeface="Calibri"/>
                <a:cs typeface="Calibri"/>
                <a:sym typeface="Calibri"/>
              </a:rPr>
              <a:t>Shenandoah and ZGC keep pauses under 10ms even on multi-GB heaps</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0F172A"/>
              </a:buClr>
              <a:buSzPts val="1400"/>
              <a:buFont typeface="Calibri"/>
              <a:buChar char="•"/>
            </a:pPr>
            <a:r>
              <a:rPr b="0" i="0" lang="en-US" sz="1400" u="none" cap="none" strike="noStrike">
                <a:solidFill>
                  <a:srgbClr val="0F172A"/>
                </a:solidFill>
                <a:latin typeface="Calibri"/>
                <a:ea typeface="Calibri"/>
                <a:cs typeface="Calibri"/>
                <a:sym typeface="Calibri"/>
              </a:rPr>
              <a:t>G1 trades occasional 50-100ms pauses for higher throughput</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0F172A"/>
              </a:buClr>
              <a:buSzPts val="1400"/>
              <a:buFont typeface="Calibri"/>
              <a:buChar char="•"/>
            </a:pPr>
            <a:r>
              <a:rPr b="0" i="0" lang="en-US" sz="1400" u="none" cap="none" strike="noStrike">
                <a:solidFill>
                  <a:srgbClr val="0F172A"/>
                </a:solidFill>
                <a:latin typeface="Calibri"/>
                <a:ea typeface="Calibri"/>
                <a:cs typeface="Calibri"/>
                <a:sym typeface="Calibri"/>
              </a:rPr>
              <a:t>Fingerprint your service: which pause profile fits SLO budget?</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0F172A"/>
              </a:buClr>
              <a:buSzPts val="1400"/>
              <a:buFont typeface="Calibri"/>
              <a:buChar char="•"/>
            </a:pPr>
            <a:r>
              <a:rPr b="0" i="0" lang="en-US" sz="1400" u="none" cap="none" strike="noStrike">
                <a:solidFill>
                  <a:srgbClr val="0F172A"/>
                </a:solidFill>
                <a:latin typeface="Calibri"/>
                <a:ea typeface="Calibri"/>
                <a:cs typeface="Calibri"/>
                <a:sym typeface="Calibri"/>
              </a:rPr>
              <a:t>On JDK 21+ on UBI, Shenandoah is one flag away: -XX:+UseShenandoahGC</a:t>
            </a:r>
            <a:endParaRPr b="0" i="0" sz="1400" u="none" cap="none" strike="noStrike">
              <a:solidFill>
                <a:schemeClr val="dk1"/>
              </a:solidFill>
              <a:latin typeface="Calibri"/>
              <a:ea typeface="Calibri"/>
              <a:cs typeface="Calibri"/>
              <a:sym typeface="Calibri"/>
            </a:endParaRPr>
          </a:p>
        </p:txBody>
      </p:sp>
      <p:sp>
        <p:nvSpPr>
          <p:cNvPr id="338" name="Google Shape;338;p26"/>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339" name="Google Shape;339;p26"/>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4" name="Shape 344"/>
        <p:cNvGrpSpPr/>
        <p:nvPr/>
      </p:nvGrpSpPr>
      <p:grpSpPr>
        <a:xfrm>
          <a:off x="0" y="0"/>
          <a:ext cx="0" cy="0"/>
          <a:chOff x="0" y="0"/>
          <a:chExt cx="0" cy="0"/>
        </a:xfrm>
      </p:grpSpPr>
      <p:sp>
        <p:nvSpPr>
          <p:cNvPr id="345" name="Google Shape;345;p27"/>
          <p:cNvSpPr/>
          <p:nvPr/>
        </p:nvSpPr>
        <p:spPr>
          <a:xfrm>
            <a:off x="457200" y="457200"/>
            <a:ext cx="1188720" cy="548640"/>
          </a:xfrm>
          <a:prstGeom prst="rect">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7"/>
          <p:cNvSpPr/>
          <p:nvPr/>
        </p:nvSpPr>
        <p:spPr>
          <a:xfrm>
            <a:off x="457200" y="457200"/>
            <a:ext cx="11887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Demo 05</a:t>
            </a:r>
            <a:endParaRPr b="0" i="0" sz="1600" u="none" cap="none" strike="noStrike">
              <a:solidFill>
                <a:schemeClr val="dk1"/>
              </a:solidFill>
              <a:latin typeface="Calibri"/>
              <a:ea typeface="Calibri"/>
              <a:cs typeface="Calibri"/>
              <a:sym typeface="Calibri"/>
            </a:endParaRPr>
          </a:p>
        </p:txBody>
      </p:sp>
      <p:sp>
        <p:nvSpPr>
          <p:cNvPr id="347" name="Google Shape;347;p27"/>
          <p:cNvSpPr/>
          <p:nvPr/>
        </p:nvSpPr>
        <p:spPr>
          <a:xfrm>
            <a:off x="1828800" y="365760"/>
            <a:ext cx="6858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000"/>
              <a:buFont typeface="Calibri"/>
              <a:buNone/>
            </a:pPr>
            <a:r>
              <a:rPr b="1" i="0" lang="en-US" sz="3000" u="none" cap="none" strike="noStrike">
                <a:solidFill>
                  <a:srgbClr val="0F172A"/>
                </a:solidFill>
                <a:latin typeface="Calibri"/>
                <a:ea typeface="Calibri"/>
                <a:cs typeface="Calibri"/>
                <a:sym typeface="Calibri"/>
              </a:rPr>
              <a:t>Cold Start: What Telemetry Costs</a:t>
            </a:r>
            <a:endParaRPr b="0" i="0" sz="3000" u="none" cap="none" strike="noStrike">
              <a:solidFill>
                <a:schemeClr val="dk1"/>
              </a:solidFill>
              <a:latin typeface="Calibri"/>
              <a:ea typeface="Calibri"/>
              <a:cs typeface="Calibri"/>
              <a:sym typeface="Calibri"/>
            </a:endParaRPr>
          </a:p>
        </p:txBody>
      </p:sp>
      <p:sp>
        <p:nvSpPr>
          <p:cNvPr id="348" name="Google Shape;348;p27"/>
          <p:cNvSpPr/>
          <p:nvPr/>
        </p:nvSpPr>
        <p:spPr>
          <a:xfrm>
            <a:off x="457200" y="12801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800"/>
              <a:buFont typeface="Calibri"/>
              <a:buNone/>
            </a:pPr>
            <a:r>
              <a:rPr b="0" i="1" lang="en-US" sz="1800" u="none" cap="none" strike="noStrike">
                <a:solidFill>
                  <a:srgbClr val="64748B"/>
                </a:solidFill>
                <a:latin typeface="Calibri"/>
                <a:ea typeface="Calibri"/>
                <a:cs typeface="Calibri"/>
                <a:sym typeface="Calibri"/>
              </a:rPr>
              <a:t>The Java cold-start problem.</a:t>
            </a:r>
            <a:endParaRPr b="0" i="0" sz="1800" u="none" cap="none" strike="noStrike">
              <a:solidFill>
                <a:schemeClr val="dk1"/>
              </a:solidFill>
              <a:latin typeface="Calibri"/>
              <a:ea typeface="Calibri"/>
              <a:cs typeface="Calibri"/>
              <a:sym typeface="Calibri"/>
            </a:endParaRPr>
          </a:p>
        </p:txBody>
      </p:sp>
      <p:sp>
        <p:nvSpPr>
          <p:cNvPr id="349" name="Google Shape;349;p27"/>
          <p:cNvSpPr/>
          <p:nvPr/>
        </p:nvSpPr>
        <p:spPr>
          <a:xfrm>
            <a:off x="457200" y="1920240"/>
            <a:ext cx="4023360" cy="2560320"/>
          </a:xfrm>
          <a:prstGeom prst="rect">
            <a:avLst/>
          </a:prstGeom>
          <a:solidFill>
            <a:srgbClr val="FE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7"/>
          <p:cNvSpPr/>
          <p:nvPr/>
        </p:nvSpPr>
        <p:spPr>
          <a:xfrm>
            <a:off x="640080" y="205740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600"/>
              <a:buFont typeface="Calibri"/>
              <a:buNone/>
            </a:pPr>
            <a:r>
              <a:rPr b="1" i="0" lang="en-US" sz="1600" u="none" cap="none" strike="noStrike">
                <a:solidFill>
                  <a:srgbClr val="DC2626"/>
                </a:solidFill>
                <a:latin typeface="Calibri"/>
                <a:ea typeface="Calibri"/>
                <a:cs typeface="Calibri"/>
                <a:sym typeface="Calibri"/>
              </a:rPr>
              <a:t>Why Java is slow to start</a:t>
            </a:r>
            <a:endParaRPr b="0" i="0" sz="1600" u="none" cap="none" strike="noStrike">
              <a:solidFill>
                <a:schemeClr val="dk1"/>
              </a:solidFill>
              <a:latin typeface="Calibri"/>
              <a:ea typeface="Calibri"/>
              <a:cs typeface="Calibri"/>
              <a:sym typeface="Calibri"/>
            </a:endParaRPr>
          </a:p>
        </p:txBody>
      </p:sp>
      <p:sp>
        <p:nvSpPr>
          <p:cNvPr id="351" name="Google Shape;351;p27"/>
          <p:cNvSpPr/>
          <p:nvPr/>
        </p:nvSpPr>
        <p:spPr>
          <a:xfrm>
            <a:off x="640080" y="2468880"/>
            <a:ext cx="3657600" cy="20116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Classloading: parse, verify, link bytecode</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JIT warmup: profile, recompile hot paths</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Framework init: bean discovery, autoconfig</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JPA: schema gen, entity scan, proxy gen</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Agent: bytecode rewriting at startup</a:t>
            </a:r>
            <a:endParaRPr b="0" i="0" sz="1300" u="none" cap="none" strike="noStrike">
              <a:solidFill>
                <a:schemeClr val="dk1"/>
              </a:solidFill>
              <a:latin typeface="Calibri"/>
              <a:ea typeface="Calibri"/>
              <a:cs typeface="Calibri"/>
              <a:sym typeface="Calibri"/>
            </a:endParaRPr>
          </a:p>
        </p:txBody>
      </p:sp>
      <p:sp>
        <p:nvSpPr>
          <p:cNvPr id="352" name="Google Shape;352;p27"/>
          <p:cNvSpPr/>
          <p:nvPr/>
        </p:nvSpPr>
        <p:spPr>
          <a:xfrm>
            <a:off x="4663440" y="1920240"/>
            <a:ext cx="4023360" cy="2560320"/>
          </a:xfrm>
          <a:prstGeom prst="rect">
            <a:avLst/>
          </a:prstGeom>
          <a:solidFill>
            <a:srgbClr val="F0FD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7"/>
          <p:cNvSpPr/>
          <p:nvPr/>
        </p:nvSpPr>
        <p:spPr>
          <a:xfrm>
            <a:off x="4846320" y="205740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600"/>
              <a:buFont typeface="Calibri"/>
              <a:buNone/>
            </a:pPr>
            <a:r>
              <a:rPr b="1" i="0" lang="en-US" sz="1600" u="none" cap="none" strike="noStrike">
                <a:solidFill>
                  <a:srgbClr val="0D9488"/>
                </a:solidFill>
                <a:latin typeface="Calibri"/>
                <a:ea typeface="Calibri"/>
                <a:cs typeface="Calibri"/>
                <a:sym typeface="Calibri"/>
              </a:rPr>
              <a:t>Project Leyden's promise</a:t>
            </a:r>
            <a:endParaRPr b="0" i="0" sz="1600" u="none" cap="none" strike="noStrike">
              <a:solidFill>
                <a:schemeClr val="dk1"/>
              </a:solidFill>
              <a:latin typeface="Calibri"/>
              <a:ea typeface="Calibri"/>
              <a:cs typeface="Calibri"/>
              <a:sym typeface="Calibri"/>
            </a:endParaRPr>
          </a:p>
        </p:txBody>
      </p:sp>
      <p:sp>
        <p:nvSpPr>
          <p:cNvPr id="354" name="Google Shape;354;p27"/>
          <p:cNvSpPr/>
          <p:nvPr/>
        </p:nvSpPr>
        <p:spPr>
          <a:xfrm>
            <a:off x="4846320" y="2468880"/>
            <a:ext cx="3657600" cy="20116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JDK 24+: pre-link classes (JEP 483)</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JDK 25: AOT cache (JEP 514) — production-ready</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Spring AOT: pre-compute bean factory</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JPA repository AOT: parse queries at build</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All compose into shorter cold start</a:t>
            </a:r>
            <a:endParaRPr b="0" i="0" sz="1300" u="none" cap="none" strike="noStrike">
              <a:solidFill>
                <a:schemeClr val="dk1"/>
              </a:solidFill>
              <a:latin typeface="Calibri"/>
              <a:ea typeface="Calibri"/>
              <a:cs typeface="Calibri"/>
              <a:sym typeface="Calibri"/>
            </a:endParaRPr>
          </a:p>
        </p:txBody>
      </p:sp>
      <p:sp>
        <p:nvSpPr>
          <p:cNvPr id="355" name="Google Shape;355;p27"/>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356" name="Google Shape;356;p27"/>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28"/>
          <p:cNvSpPr/>
          <p:nvPr/>
        </p:nvSpPr>
        <p:spPr>
          <a:xfrm>
            <a:off x="457200" y="3657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800"/>
              <a:buFont typeface="Calibri"/>
              <a:buNone/>
            </a:pPr>
            <a:r>
              <a:rPr b="1" i="0" lang="en-US" sz="2800" u="none" cap="none" strike="noStrike">
                <a:solidFill>
                  <a:srgbClr val="0F172A"/>
                </a:solidFill>
                <a:latin typeface="Calibri"/>
                <a:ea typeface="Calibri"/>
                <a:cs typeface="Calibri"/>
                <a:sym typeface="Calibri"/>
              </a:rPr>
              <a:t>AOT Cache Pipeline (JDK 25 + Spring Boot 4)</a:t>
            </a:r>
            <a:endParaRPr b="0" i="0" sz="2800" u="none" cap="none" strike="noStrike">
              <a:solidFill>
                <a:schemeClr val="dk1"/>
              </a:solidFill>
              <a:latin typeface="Calibri"/>
              <a:ea typeface="Calibri"/>
              <a:cs typeface="Calibri"/>
              <a:sym typeface="Calibri"/>
            </a:endParaRPr>
          </a:p>
        </p:txBody>
      </p:sp>
      <p:sp>
        <p:nvSpPr>
          <p:cNvPr id="363" name="Google Shape;363;p28"/>
          <p:cNvSpPr/>
          <p:nvPr/>
        </p:nvSpPr>
        <p:spPr>
          <a:xfrm>
            <a:off x="457200" y="91440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Four stages, one Containerfile, ~120 MB cache</a:t>
            </a:r>
            <a:endParaRPr b="0" i="0" sz="1400" u="none" cap="none" strike="noStrike">
              <a:solidFill>
                <a:schemeClr val="dk1"/>
              </a:solidFill>
              <a:latin typeface="Calibri"/>
              <a:ea typeface="Calibri"/>
              <a:cs typeface="Calibri"/>
              <a:sym typeface="Calibri"/>
            </a:endParaRPr>
          </a:p>
        </p:txBody>
      </p:sp>
      <p:sp>
        <p:nvSpPr>
          <p:cNvPr id="364" name="Google Shape;364;p28"/>
          <p:cNvSpPr/>
          <p:nvPr/>
        </p:nvSpPr>
        <p:spPr>
          <a:xfrm>
            <a:off x="457200" y="1554480"/>
            <a:ext cx="1920240" cy="457200"/>
          </a:xfrm>
          <a:prstGeom prst="rect">
            <a:avLst/>
          </a:prstGeom>
          <a:solidFill>
            <a:srgbClr val="6474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8"/>
          <p:cNvSpPr/>
          <p:nvPr/>
        </p:nvSpPr>
        <p:spPr>
          <a:xfrm>
            <a:off x="548640" y="1600200"/>
            <a:ext cx="1737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 Build</a:t>
            </a:r>
            <a:endParaRPr b="0" i="0" sz="1400" u="none" cap="none" strike="noStrike">
              <a:solidFill>
                <a:schemeClr val="dk1"/>
              </a:solidFill>
              <a:latin typeface="Calibri"/>
              <a:ea typeface="Calibri"/>
              <a:cs typeface="Calibri"/>
              <a:sym typeface="Calibri"/>
            </a:endParaRPr>
          </a:p>
        </p:txBody>
      </p:sp>
      <p:sp>
        <p:nvSpPr>
          <p:cNvPr id="366" name="Google Shape;366;p28"/>
          <p:cNvSpPr/>
          <p:nvPr/>
        </p:nvSpPr>
        <p:spPr>
          <a:xfrm>
            <a:off x="457200" y="2011680"/>
            <a:ext cx="1920240" cy="192024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8"/>
          <p:cNvSpPr/>
          <p:nvPr/>
        </p:nvSpPr>
        <p:spPr>
          <a:xfrm>
            <a:off x="548640" y="2103120"/>
            <a:ext cx="17373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900"/>
              <a:buFont typeface="Consolas"/>
              <a:buNone/>
            </a:pPr>
            <a:r>
              <a:rPr b="0" i="0" lang="en-US" sz="900" u="none" cap="none" strike="noStrike">
                <a:solidFill>
                  <a:srgbClr val="0F172A"/>
                </a:solidFill>
                <a:latin typeface="Consolas"/>
                <a:ea typeface="Consolas"/>
                <a:cs typeface="Consolas"/>
                <a:sym typeface="Consolas"/>
              </a:rPr>
              <a:t>mvn package</a:t>
            </a:r>
            <a:endParaRPr b="0" i="0" sz="900" u="none" cap="none" strike="noStrike">
              <a:solidFill>
                <a:schemeClr val="dk1"/>
              </a:solidFill>
              <a:latin typeface="Calibri"/>
              <a:ea typeface="Calibri"/>
              <a:cs typeface="Calibri"/>
              <a:sym typeface="Calibri"/>
            </a:endParaRPr>
          </a:p>
        </p:txBody>
      </p:sp>
      <p:sp>
        <p:nvSpPr>
          <p:cNvPr id="368" name="Google Shape;368;p28"/>
          <p:cNvSpPr/>
          <p:nvPr/>
        </p:nvSpPr>
        <p:spPr>
          <a:xfrm>
            <a:off x="548640" y="3337560"/>
            <a:ext cx="1737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Spring Boot fat JAR</a:t>
            </a:r>
            <a:endParaRPr b="0" i="0" sz="1100" u="none" cap="none" strike="noStrike">
              <a:solidFill>
                <a:schemeClr val="dk1"/>
              </a:solidFill>
              <a:latin typeface="Calibri"/>
              <a:ea typeface="Calibri"/>
              <a:cs typeface="Calibri"/>
              <a:sym typeface="Calibri"/>
            </a:endParaRPr>
          </a:p>
        </p:txBody>
      </p:sp>
      <p:sp>
        <p:nvSpPr>
          <p:cNvPr id="369" name="Google Shape;369;p28"/>
          <p:cNvSpPr/>
          <p:nvPr/>
        </p:nvSpPr>
        <p:spPr>
          <a:xfrm>
            <a:off x="2514600" y="1554480"/>
            <a:ext cx="1920240" cy="457200"/>
          </a:xfrm>
          <a:prstGeom prst="rect">
            <a:avLst/>
          </a:pr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8"/>
          <p:cNvSpPr/>
          <p:nvPr/>
        </p:nvSpPr>
        <p:spPr>
          <a:xfrm>
            <a:off x="2606040" y="1600200"/>
            <a:ext cx="1737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 Extract</a:t>
            </a:r>
            <a:endParaRPr b="0" i="0" sz="1400" u="none" cap="none" strike="noStrike">
              <a:solidFill>
                <a:schemeClr val="dk1"/>
              </a:solidFill>
              <a:latin typeface="Calibri"/>
              <a:ea typeface="Calibri"/>
              <a:cs typeface="Calibri"/>
              <a:sym typeface="Calibri"/>
            </a:endParaRPr>
          </a:p>
        </p:txBody>
      </p:sp>
      <p:sp>
        <p:nvSpPr>
          <p:cNvPr id="371" name="Google Shape;371;p28"/>
          <p:cNvSpPr/>
          <p:nvPr/>
        </p:nvSpPr>
        <p:spPr>
          <a:xfrm>
            <a:off x="2514600" y="2011680"/>
            <a:ext cx="1920240" cy="192024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8"/>
          <p:cNvSpPr/>
          <p:nvPr/>
        </p:nvSpPr>
        <p:spPr>
          <a:xfrm>
            <a:off x="2606040" y="2103120"/>
            <a:ext cx="17373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900"/>
              <a:buFont typeface="Consolas"/>
              <a:buNone/>
            </a:pPr>
            <a:r>
              <a:rPr b="0" i="0" lang="en-US" sz="900" u="none" cap="none" strike="noStrike">
                <a:solidFill>
                  <a:srgbClr val="0F172A"/>
                </a:solidFill>
                <a:latin typeface="Consolas"/>
                <a:ea typeface="Consolas"/>
                <a:cs typeface="Consolas"/>
                <a:sym typeface="Consolas"/>
              </a:rPr>
              <a:t>java -Djarmode=tools extract</a:t>
            </a:r>
            <a:endParaRPr b="0" i="0" sz="900" u="none" cap="none" strike="noStrike">
              <a:solidFill>
                <a:schemeClr val="dk1"/>
              </a:solidFill>
              <a:latin typeface="Calibri"/>
              <a:ea typeface="Calibri"/>
              <a:cs typeface="Calibri"/>
              <a:sym typeface="Calibri"/>
            </a:endParaRPr>
          </a:p>
        </p:txBody>
      </p:sp>
      <p:sp>
        <p:nvSpPr>
          <p:cNvPr id="373" name="Google Shape;373;p28"/>
          <p:cNvSpPr/>
          <p:nvPr/>
        </p:nvSpPr>
        <p:spPr>
          <a:xfrm>
            <a:off x="2606040" y="3337560"/>
            <a:ext cx="1737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Flat layout</a:t>
            </a:r>
            <a:endParaRPr b="0" i="0" sz="1100" u="none" cap="none" strike="noStrike">
              <a:solidFill>
                <a:schemeClr val="dk1"/>
              </a:solidFill>
              <a:latin typeface="Calibri"/>
              <a:ea typeface="Calibri"/>
              <a:cs typeface="Calibri"/>
              <a:sym typeface="Calibri"/>
            </a:endParaRPr>
          </a:p>
        </p:txBody>
      </p:sp>
      <p:sp>
        <p:nvSpPr>
          <p:cNvPr id="374" name="Google Shape;374;p28"/>
          <p:cNvSpPr/>
          <p:nvPr/>
        </p:nvSpPr>
        <p:spPr>
          <a:xfrm>
            <a:off x="4572000" y="1554480"/>
            <a:ext cx="1920240" cy="4572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8"/>
          <p:cNvSpPr/>
          <p:nvPr/>
        </p:nvSpPr>
        <p:spPr>
          <a:xfrm>
            <a:off x="4663440" y="1600200"/>
            <a:ext cx="1737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 Cache</a:t>
            </a:r>
            <a:endParaRPr b="0" i="0" sz="1400" u="none" cap="none" strike="noStrike">
              <a:solidFill>
                <a:schemeClr val="dk1"/>
              </a:solidFill>
              <a:latin typeface="Calibri"/>
              <a:ea typeface="Calibri"/>
              <a:cs typeface="Calibri"/>
              <a:sym typeface="Calibri"/>
            </a:endParaRPr>
          </a:p>
        </p:txBody>
      </p:sp>
      <p:sp>
        <p:nvSpPr>
          <p:cNvPr id="376" name="Google Shape;376;p28"/>
          <p:cNvSpPr/>
          <p:nvPr/>
        </p:nvSpPr>
        <p:spPr>
          <a:xfrm>
            <a:off x="4572000" y="2011680"/>
            <a:ext cx="1920240" cy="192024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8"/>
          <p:cNvSpPr/>
          <p:nvPr/>
        </p:nvSpPr>
        <p:spPr>
          <a:xfrm>
            <a:off x="4663440" y="2103120"/>
            <a:ext cx="17373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900"/>
              <a:buFont typeface="Consolas"/>
              <a:buNone/>
            </a:pPr>
            <a:r>
              <a:rPr b="0" i="0" lang="en-US" sz="900" u="none" cap="none" strike="noStrike">
                <a:solidFill>
                  <a:srgbClr val="0F172A"/>
                </a:solidFill>
                <a:latin typeface="Consolas"/>
                <a:ea typeface="Consolas"/>
                <a:cs typeface="Consolas"/>
                <a:sym typeface="Consolas"/>
              </a:rPr>
              <a:t>java -XX:AOTCacheOutput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72A"/>
              </a:buClr>
              <a:buSzPts val="900"/>
              <a:buFont typeface="Consolas"/>
              <a:buNone/>
            </a:pPr>
            <a:r>
              <a:rPr b="0" i="0" lang="en-US" sz="900" u="none" cap="none" strike="noStrike">
                <a:solidFill>
                  <a:srgbClr val="0F172A"/>
                </a:solidFill>
                <a:latin typeface="Consolas"/>
                <a:ea typeface="Consolas"/>
                <a:cs typeface="Consolas"/>
                <a:sym typeface="Consolas"/>
              </a:rPr>
              <a:t>  -Dspring.context.exit=onRefresh</a:t>
            </a:r>
            <a:endParaRPr b="0" i="0" sz="900" u="none" cap="none" strike="noStrike">
              <a:solidFill>
                <a:schemeClr val="dk1"/>
              </a:solidFill>
              <a:latin typeface="Calibri"/>
              <a:ea typeface="Calibri"/>
              <a:cs typeface="Calibri"/>
              <a:sym typeface="Calibri"/>
            </a:endParaRPr>
          </a:p>
        </p:txBody>
      </p:sp>
      <p:sp>
        <p:nvSpPr>
          <p:cNvPr id="378" name="Google Shape;378;p28"/>
          <p:cNvSpPr/>
          <p:nvPr/>
        </p:nvSpPr>
        <p:spPr>
          <a:xfrm>
            <a:off x="4663440" y="3337560"/>
            <a:ext cx="1737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Train + write 120MB cache</a:t>
            </a:r>
            <a:endParaRPr b="0" i="0" sz="1100" u="none" cap="none" strike="noStrike">
              <a:solidFill>
                <a:schemeClr val="dk1"/>
              </a:solidFill>
              <a:latin typeface="Calibri"/>
              <a:ea typeface="Calibri"/>
              <a:cs typeface="Calibri"/>
              <a:sym typeface="Calibri"/>
            </a:endParaRPr>
          </a:p>
        </p:txBody>
      </p:sp>
      <p:sp>
        <p:nvSpPr>
          <p:cNvPr id="379" name="Google Shape;379;p28"/>
          <p:cNvSpPr/>
          <p:nvPr/>
        </p:nvSpPr>
        <p:spPr>
          <a:xfrm>
            <a:off x="6629400" y="1554480"/>
            <a:ext cx="1920240" cy="457200"/>
          </a:xfrm>
          <a:prstGeom prst="rect">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8"/>
          <p:cNvSpPr/>
          <p:nvPr/>
        </p:nvSpPr>
        <p:spPr>
          <a:xfrm>
            <a:off x="6720840" y="1600200"/>
            <a:ext cx="1737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 Runtime</a:t>
            </a:r>
            <a:endParaRPr b="0" i="0" sz="1400" u="none" cap="none" strike="noStrike">
              <a:solidFill>
                <a:schemeClr val="dk1"/>
              </a:solidFill>
              <a:latin typeface="Calibri"/>
              <a:ea typeface="Calibri"/>
              <a:cs typeface="Calibri"/>
              <a:sym typeface="Calibri"/>
            </a:endParaRPr>
          </a:p>
        </p:txBody>
      </p:sp>
      <p:sp>
        <p:nvSpPr>
          <p:cNvPr id="381" name="Google Shape;381;p28"/>
          <p:cNvSpPr/>
          <p:nvPr/>
        </p:nvSpPr>
        <p:spPr>
          <a:xfrm>
            <a:off x="6629400" y="2011680"/>
            <a:ext cx="1920240" cy="192024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8"/>
          <p:cNvSpPr/>
          <p:nvPr/>
        </p:nvSpPr>
        <p:spPr>
          <a:xfrm>
            <a:off x="6720840" y="2103120"/>
            <a:ext cx="17373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900"/>
              <a:buFont typeface="Consolas"/>
              <a:buNone/>
            </a:pPr>
            <a:r>
              <a:rPr b="0" i="0" lang="en-US" sz="900" u="none" cap="none" strike="noStrike">
                <a:solidFill>
                  <a:srgbClr val="0F172A"/>
                </a:solidFill>
                <a:latin typeface="Consolas"/>
                <a:ea typeface="Consolas"/>
                <a:cs typeface="Consolas"/>
                <a:sym typeface="Consolas"/>
              </a:rPr>
              <a:t>java -XX:AOTCache=app.aot</a:t>
            </a:r>
            <a:endParaRPr b="0" i="0" sz="900" u="none" cap="none" strike="noStrike">
              <a:solidFill>
                <a:schemeClr val="dk1"/>
              </a:solidFill>
              <a:latin typeface="Calibri"/>
              <a:ea typeface="Calibri"/>
              <a:cs typeface="Calibri"/>
              <a:sym typeface="Calibri"/>
            </a:endParaRPr>
          </a:p>
        </p:txBody>
      </p:sp>
      <p:sp>
        <p:nvSpPr>
          <p:cNvPr id="383" name="Google Shape;383;p28"/>
          <p:cNvSpPr/>
          <p:nvPr/>
        </p:nvSpPr>
        <p:spPr>
          <a:xfrm>
            <a:off x="6720840" y="3337560"/>
            <a:ext cx="1737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Use cache, fast boot</a:t>
            </a:r>
            <a:endParaRPr b="0" i="0" sz="1100" u="none" cap="none" strike="noStrike">
              <a:solidFill>
                <a:schemeClr val="dk1"/>
              </a:solidFill>
              <a:latin typeface="Calibri"/>
              <a:ea typeface="Calibri"/>
              <a:cs typeface="Calibri"/>
              <a:sym typeface="Calibri"/>
            </a:endParaRPr>
          </a:p>
        </p:txBody>
      </p:sp>
      <p:sp>
        <p:nvSpPr>
          <p:cNvPr id="384" name="Google Shape;384;p28"/>
          <p:cNvSpPr/>
          <p:nvPr/>
        </p:nvSpPr>
        <p:spPr>
          <a:xfrm>
            <a:off x="457200" y="420624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Source: Piotr Minkowski's Spring Boot + Project Leyden writeup (Mar 2026)</a:t>
            </a:r>
            <a:endParaRPr b="0" i="0" sz="1000" u="none" cap="none" strike="noStrike">
              <a:solidFill>
                <a:schemeClr val="dk1"/>
              </a:solidFill>
              <a:latin typeface="Calibri"/>
              <a:ea typeface="Calibri"/>
              <a:cs typeface="Calibri"/>
              <a:sym typeface="Calibri"/>
            </a:endParaRPr>
          </a:p>
        </p:txBody>
      </p:sp>
      <p:sp>
        <p:nvSpPr>
          <p:cNvPr id="385" name="Google Shape;385;p28"/>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386" name="Google Shape;386;p28"/>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91" name="Shape 391"/>
        <p:cNvGrpSpPr/>
        <p:nvPr/>
      </p:nvGrpSpPr>
      <p:grpSpPr>
        <a:xfrm>
          <a:off x="0" y="0"/>
          <a:ext cx="0" cy="0"/>
          <a:chOff x="0" y="0"/>
          <a:chExt cx="0" cy="0"/>
        </a:xfrm>
      </p:grpSpPr>
      <p:sp>
        <p:nvSpPr>
          <p:cNvPr id="392" name="Google Shape;392;p29"/>
          <p:cNvSpPr/>
          <p:nvPr/>
        </p:nvSpPr>
        <p:spPr>
          <a:xfrm>
            <a:off x="457200" y="1463040"/>
            <a:ext cx="82296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6000"/>
              <a:buFont typeface="Calibri"/>
              <a:buNone/>
            </a:pPr>
            <a:r>
              <a:rPr b="1" i="0" lang="en-US" sz="6000" u="none" cap="none" strike="noStrike">
                <a:solidFill>
                  <a:srgbClr val="DC2626"/>
                </a:solidFill>
                <a:latin typeface="Calibri"/>
                <a:ea typeface="Calibri"/>
                <a:cs typeface="Calibri"/>
                <a:sym typeface="Calibri"/>
              </a:rPr>
              <a:t>→ LIVE DEMO 05</a:t>
            </a:r>
            <a:endParaRPr b="0" i="0" sz="6000" u="none" cap="none" strike="noStrike">
              <a:solidFill>
                <a:schemeClr val="dk1"/>
              </a:solidFill>
              <a:latin typeface="Calibri"/>
              <a:ea typeface="Calibri"/>
              <a:cs typeface="Calibri"/>
              <a:sym typeface="Calibri"/>
            </a:endParaRPr>
          </a:p>
        </p:txBody>
      </p:sp>
      <p:sp>
        <p:nvSpPr>
          <p:cNvPr id="393" name="Google Shape;393;p29"/>
          <p:cNvSpPr/>
          <p:nvPr/>
        </p:nvSpPr>
        <p:spPr>
          <a:xfrm>
            <a:off x="1371600" y="2926080"/>
            <a:ext cx="64008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400"/>
              <a:buFont typeface="Consolas"/>
              <a:buNone/>
            </a:pPr>
            <a:r>
              <a:rPr b="0" i="0" lang="en-US" sz="1400" u="none" cap="none" strike="noStrike">
                <a:solidFill>
                  <a:srgbClr val="F8FAFC"/>
                </a:solidFill>
                <a:latin typeface="Consolas"/>
                <a:ea typeface="Consolas"/>
                <a:cs typeface="Consolas"/>
                <a:sym typeface="Consolas"/>
              </a:rPr>
              <a:t>cd demo-05-aot-coldstart &amp;&amp; ./demo.sh time-all</a:t>
            </a:r>
            <a:endParaRPr b="0" i="0" sz="1400" u="none" cap="none" strike="noStrike">
              <a:solidFill>
                <a:schemeClr val="dk1"/>
              </a:solidFill>
              <a:latin typeface="Calibri"/>
              <a:ea typeface="Calibri"/>
              <a:cs typeface="Calibri"/>
              <a:sym typeface="Calibri"/>
            </a:endParaRPr>
          </a:p>
        </p:txBody>
      </p:sp>
      <p:sp>
        <p:nvSpPr>
          <p:cNvPr id="394" name="Google Shape;394;p29"/>
          <p:cNvSpPr/>
          <p:nvPr/>
        </p:nvSpPr>
        <p:spPr>
          <a:xfrm>
            <a:off x="457200" y="457200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Switch to terminal · run the demo · come back when done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9" name="Shape 399"/>
        <p:cNvGrpSpPr/>
        <p:nvPr/>
      </p:nvGrpSpPr>
      <p:grpSpPr>
        <a:xfrm>
          <a:off x="0" y="0"/>
          <a:ext cx="0" cy="0"/>
          <a:chOff x="0" y="0"/>
          <a:chExt cx="0" cy="0"/>
        </a:xfrm>
      </p:grpSpPr>
      <p:sp>
        <p:nvSpPr>
          <p:cNvPr id="400" name="Google Shape;400;p30"/>
          <p:cNvSpPr/>
          <p:nvPr/>
        </p:nvSpPr>
        <p:spPr>
          <a:xfrm>
            <a:off x="457200" y="3657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000"/>
              <a:buFont typeface="Calibri"/>
              <a:buNone/>
            </a:pPr>
            <a:r>
              <a:rPr b="1" i="0" lang="en-US" sz="3000" u="none" cap="none" strike="noStrike">
                <a:solidFill>
                  <a:srgbClr val="0F172A"/>
                </a:solidFill>
                <a:latin typeface="Calibri"/>
                <a:ea typeface="Calibri"/>
                <a:cs typeface="Calibri"/>
                <a:sym typeface="Calibri"/>
              </a:rPr>
              <a:t>The Cold-Start Cost of Telemetry</a:t>
            </a:r>
            <a:endParaRPr b="0" i="0" sz="3000" u="none" cap="none" strike="noStrike">
              <a:solidFill>
                <a:schemeClr val="dk1"/>
              </a:solidFill>
              <a:latin typeface="Calibri"/>
              <a:ea typeface="Calibri"/>
              <a:cs typeface="Calibri"/>
              <a:sym typeface="Calibri"/>
            </a:endParaRPr>
          </a:p>
        </p:txBody>
      </p:sp>
      <p:sp>
        <p:nvSpPr>
          <p:cNvPr id="401" name="Google Shape;401;p30"/>
          <p:cNvSpPr/>
          <p:nvPr/>
        </p:nvSpPr>
        <p:spPr>
          <a:xfrm>
            <a:off x="457200" y="91440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Spring Boot 4 + JDK 25, JPA-heavy app, median of 3 cold starts each</a:t>
            </a:r>
            <a:endParaRPr b="0" i="0" sz="1300" u="none" cap="none" strike="noStrike">
              <a:solidFill>
                <a:schemeClr val="dk1"/>
              </a:solidFill>
              <a:latin typeface="Calibri"/>
              <a:ea typeface="Calibri"/>
              <a:cs typeface="Calibri"/>
              <a:sym typeface="Calibri"/>
            </a:endParaRPr>
          </a:p>
        </p:txBody>
      </p:sp>
      <p:graphicFrame>
        <p:nvGraphicFramePr>
          <p:cNvPr id="402" name="Google Shape;402;p30"/>
          <p:cNvGraphicFramePr/>
          <p:nvPr/>
        </p:nvGraphicFramePr>
        <p:xfrm>
          <a:off x="914400" y="1463040"/>
          <a:ext cx="3000000" cy="3000000"/>
        </p:xfrm>
        <a:graphic>
          <a:graphicData uri="http://schemas.openxmlformats.org/drawingml/2006/table">
            <a:tbl>
              <a:tblPr>
                <a:noFill/>
                <a:tableStyleId>{BAE7236B-0D98-452A-BA4B-1F9DA05BC8B2}</a:tableStyleId>
              </a:tblPr>
              <a:tblGrid>
                <a:gridCol w="1828800"/>
                <a:gridCol w="1828800"/>
                <a:gridCol w="1828800"/>
                <a:gridCol w="1828800"/>
              </a:tblGrid>
              <a:tr h="457200">
                <a:tc>
                  <a:txBody>
                    <a:bodyPr/>
                    <a:lstStyle/>
                    <a:p>
                      <a:pPr indent="0" lvl="0" marL="0" marR="0" rtl="0" algn="l">
                        <a:spcBef>
                          <a:spcPts val="0"/>
                        </a:spcBef>
                        <a:spcAft>
                          <a:spcPts val="0"/>
                        </a:spcAft>
                        <a:buClr>
                          <a:schemeClr val="dk1"/>
                        </a:buClr>
                        <a:buSzPts val="1400"/>
                        <a:buFont typeface="Calibri"/>
                        <a:buNone/>
                      </a:pPr>
                      <a:r>
                        <a:t/>
                      </a:r>
                      <a:endParaRPr sz="14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 Agent</a:t>
                      </a:r>
                      <a:endParaRPr sz="14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DC2626"/>
                    </a:solidFill>
                  </a:tcPr>
                </a:tc>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 SDK</a:t>
                      </a:r>
                      <a:endParaRPr sz="14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AB308"/>
                    </a:solidFill>
                  </a:tcPr>
                </a:tc>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no telemetry</a:t>
                      </a:r>
                      <a:endParaRPr sz="14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64748B"/>
                    </a:solidFill>
                  </a:tcPr>
                </a:tc>
              </a:tr>
              <a:tr h="640075">
                <a:tc>
                  <a:txBody>
                    <a:bodyPr/>
                    <a:lstStyle/>
                    <a:p>
                      <a:pPr indent="0" lvl="0" marL="0" marR="0" rtl="0" algn="l">
                        <a:spcBef>
                          <a:spcPts val="0"/>
                        </a:spcBef>
                        <a:spcAft>
                          <a:spcPts val="0"/>
                        </a:spcAft>
                        <a:buClr>
                          <a:srgbClr val="0F172A"/>
                        </a:buClr>
                        <a:buSzPts val="1400"/>
                        <a:buFont typeface="Calibri"/>
                        <a:buNone/>
                      </a:pPr>
                      <a:r>
                        <a:rPr b="1" lang="en-US" sz="1400" u="none" cap="none" strike="noStrike">
                          <a:solidFill>
                            <a:srgbClr val="0F172A"/>
                          </a:solidFill>
                          <a:latin typeface="Calibri"/>
                          <a:ea typeface="Calibri"/>
                          <a:cs typeface="Calibri"/>
                          <a:sym typeface="Calibri"/>
                        </a:rPr>
                        <a:t>Classic JDK 25</a:t>
                      </a:r>
                      <a:endParaRPr sz="14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0F172A"/>
                        </a:buClr>
                        <a:buSzPts val="1800"/>
                        <a:buFont typeface="Consolas"/>
                        <a:buNone/>
                      </a:pPr>
                      <a:r>
                        <a:rPr b="1" lang="en-US" sz="1800" u="none" cap="none" strike="noStrike">
                          <a:solidFill>
                            <a:srgbClr val="0F172A"/>
                          </a:solidFill>
                          <a:latin typeface="Consolas"/>
                          <a:ea typeface="Consolas"/>
                          <a:cs typeface="Consolas"/>
                          <a:sym typeface="Consolas"/>
                        </a:rPr>
                        <a:t>4.7 s</a:t>
                      </a:r>
                      <a:endParaRPr sz="1800" u="none" cap="none" strike="noStrike">
                        <a:latin typeface="Consolas"/>
                        <a:ea typeface="Consolas"/>
                        <a:cs typeface="Consolas"/>
                        <a:sym typeface="Consolas"/>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F172A"/>
                        </a:buClr>
                        <a:buSzPts val="1800"/>
                        <a:buFont typeface="Consolas"/>
                        <a:buNone/>
                      </a:pPr>
                      <a:r>
                        <a:rPr lang="en-US" sz="1800" u="none" cap="none" strike="noStrike">
                          <a:solidFill>
                            <a:srgbClr val="0F172A"/>
                          </a:solidFill>
                          <a:latin typeface="Consolas"/>
                          <a:ea typeface="Consolas"/>
                          <a:cs typeface="Consolas"/>
                          <a:sym typeface="Consolas"/>
                        </a:rPr>
                        <a:t>4.0 s</a:t>
                      </a:r>
                      <a:endParaRPr sz="1800" u="none" cap="none" strike="noStrike">
                        <a:latin typeface="Consolas"/>
                        <a:ea typeface="Consolas"/>
                        <a:cs typeface="Consolas"/>
                        <a:sym typeface="Consolas"/>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F172A"/>
                        </a:buClr>
                        <a:buSzPts val="1800"/>
                        <a:buFont typeface="Consolas"/>
                        <a:buNone/>
                      </a:pPr>
                      <a:r>
                        <a:rPr lang="en-US" sz="1800" u="none" cap="none" strike="noStrike">
                          <a:solidFill>
                            <a:srgbClr val="0F172A"/>
                          </a:solidFill>
                          <a:latin typeface="Consolas"/>
                          <a:ea typeface="Consolas"/>
                          <a:cs typeface="Consolas"/>
                          <a:sym typeface="Consolas"/>
                        </a:rPr>
                        <a:t>4.0 s</a:t>
                      </a:r>
                      <a:endParaRPr sz="1800" u="none" cap="none" strike="noStrike">
                        <a:latin typeface="Consolas"/>
                        <a:ea typeface="Consolas"/>
                        <a:cs typeface="Consolas"/>
                        <a:sym typeface="Consolas"/>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640075">
                <a:tc>
                  <a:txBody>
                    <a:bodyPr/>
                    <a:lstStyle/>
                    <a:p>
                      <a:pPr indent="0" lvl="0" marL="0" marR="0" rtl="0" algn="l">
                        <a:spcBef>
                          <a:spcPts val="0"/>
                        </a:spcBef>
                        <a:spcAft>
                          <a:spcPts val="0"/>
                        </a:spcAft>
                        <a:buClr>
                          <a:srgbClr val="0D9488"/>
                        </a:buClr>
                        <a:buSzPts val="1400"/>
                        <a:buFont typeface="Calibri"/>
                        <a:buNone/>
                      </a:pPr>
                      <a:r>
                        <a:rPr b="1" lang="en-US" sz="1400" u="none" cap="none" strike="noStrike">
                          <a:solidFill>
                            <a:srgbClr val="0D9488"/>
                          </a:solidFill>
                          <a:latin typeface="Calibri"/>
                          <a:ea typeface="Calibri"/>
                          <a:cs typeface="Calibri"/>
                          <a:sym typeface="Calibri"/>
                        </a:rPr>
                        <a:t>AOT cache</a:t>
                      </a:r>
                      <a:endParaRPr sz="14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0FDFA"/>
                    </a:solidFill>
                  </a:tcPr>
                </a:tc>
                <a:tc>
                  <a:txBody>
                    <a:bodyPr/>
                    <a:lstStyle/>
                    <a:p>
                      <a:pPr indent="0" lvl="0" marL="0" marR="0" rtl="0" algn="ctr">
                        <a:spcBef>
                          <a:spcPts val="0"/>
                        </a:spcBef>
                        <a:spcAft>
                          <a:spcPts val="0"/>
                        </a:spcAft>
                        <a:buClr>
                          <a:srgbClr val="0F172A"/>
                        </a:buClr>
                        <a:buSzPts val="1800"/>
                        <a:buFont typeface="Consolas"/>
                        <a:buNone/>
                      </a:pPr>
                      <a:r>
                        <a:rPr lang="en-US" sz="1800" u="none" cap="none" strike="noStrike">
                          <a:solidFill>
                            <a:srgbClr val="0F172A"/>
                          </a:solidFill>
                          <a:latin typeface="Consolas"/>
                          <a:ea typeface="Consolas"/>
                          <a:cs typeface="Consolas"/>
                          <a:sym typeface="Consolas"/>
                        </a:rPr>
                        <a:t>4.3 s</a:t>
                      </a:r>
                      <a:endParaRPr sz="1800" u="none" cap="none" strike="noStrike">
                        <a:latin typeface="Consolas"/>
                        <a:ea typeface="Consolas"/>
                        <a:cs typeface="Consolas"/>
                        <a:sym typeface="Consolas"/>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F172A"/>
                        </a:buClr>
                        <a:buSzPts val="1800"/>
                        <a:buFont typeface="Consolas"/>
                        <a:buNone/>
                      </a:pPr>
                      <a:r>
                        <a:rPr lang="en-US" sz="1800" u="none" cap="none" strike="noStrike">
                          <a:solidFill>
                            <a:srgbClr val="0F172A"/>
                          </a:solidFill>
                          <a:latin typeface="Consolas"/>
                          <a:ea typeface="Consolas"/>
                          <a:cs typeface="Consolas"/>
                          <a:sym typeface="Consolas"/>
                        </a:rPr>
                        <a:t>3.3 s</a:t>
                      </a:r>
                      <a:endParaRPr sz="1800" u="none" cap="none" strike="noStrike">
                        <a:latin typeface="Consolas"/>
                        <a:ea typeface="Consolas"/>
                        <a:cs typeface="Consolas"/>
                        <a:sym typeface="Consolas"/>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D9488"/>
                        </a:buClr>
                        <a:buSzPts val="1800"/>
                        <a:buFont typeface="Consolas"/>
                        <a:buNone/>
                      </a:pPr>
                      <a:r>
                        <a:rPr b="1" lang="en-US" sz="1800" u="none" cap="none" strike="noStrike">
                          <a:solidFill>
                            <a:srgbClr val="0D9488"/>
                          </a:solidFill>
                          <a:latin typeface="Consolas"/>
                          <a:ea typeface="Consolas"/>
                          <a:cs typeface="Consolas"/>
                          <a:sym typeface="Consolas"/>
                        </a:rPr>
                        <a:t>3.3 s</a:t>
                      </a:r>
                      <a:endParaRPr sz="1800" u="none" cap="none" strike="noStrike">
                        <a:latin typeface="Consolas"/>
                        <a:ea typeface="Consolas"/>
                        <a:cs typeface="Consolas"/>
                        <a:sym typeface="Consolas"/>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bl>
          </a:graphicData>
        </a:graphic>
      </p:graphicFrame>
      <p:sp>
        <p:nvSpPr>
          <p:cNvPr id="403" name="Google Shape;403;p30"/>
          <p:cNvSpPr/>
          <p:nvPr/>
        </p:nvSpPr>
        <p:spPr>
          <a:xfrm>
            <a:off x="457200" y="3657600"/>
            <a:ext cx="2606040" cy="86868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0"/>
          <p:cNvSpPr/>
          <p:nvPr/>
        </p:nvSpPr>
        <p:spPr>
          <a:xfrm>
            <a:off x="457200" y="3657600"/>
            <a:ext cx="2606040" cy="54864"/>
          </a:xfrm>
          <a:prstGeom prst="rect">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0"/>
          <p:cNvSpPr/>
          <p:nvPr/>
        </p:nvSpPr>
        <p:spPr>
          <a:xfrm>
            <a:off x="594360" y="3749040"/>
            <a:ext cx="2331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100"/>
              <a:buFont typeface="Calibri"/>
              <a:buNone/>
            </a:pPr>
            <a:r>
              <a:rPr b="1" i="0" lang="en-US" sz="1100" u="none" cap="none" strike="noStrike">
                <a:solidFill>
                  <a:srgbClr val="DC2626"/>
                </a:solidFill>
                <a:latin typeface="Calibri"/>
                <a:ea typeface="Calibri"/>
                <a:cs typeface="Calibri"/>
                <a:sym typeface="Calibri"/>
              </a:rPr>
              <a:t>Agent tax</a:t>
            </a:r>
            <a:endParaRPr b="0" i="0" sz="1100" u="none" cap="none" strike="noStrike">
              <a:solidFill>
                <a:schemeClr val="dk1"/>
              </a:solidFill>
              <a:latin typeface="Calibri"/>
              <a:ea typeface="Calibri"/>
              <a:cs typeface="Calibri"/>
              <a:sym typeface="Calibri"/>
            </a:endParaRPr>
          </a:p>
        </p:txBody>
      </p:sp>
      <p:sp>
        <p:nvSpPr>
          <p:cNvPr id="406" name="Google Shape;406;p30"/>
          <p:cNvSpPr/>
          <p:nvPr/>
        </p:nvSpPr>
        <p:spPr>
          <a:xfrm>
            <a:off x="594360" y="4023360"/>
            <a:ext cx="2331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0" i="0" lang="en-US" sz="1300" u="none" cap="none" strike="noStrike">
                <a:solidFill>
                  <a:srgbClr val="0F172A"/>
                </a:solidFill>
                <a:latin typeface="Calibri"/>
                <a:ea typeface="Calibri"/>
                <a:cs typeface="Calibri"/>
                <a:sym typeface="Calibri"/>
              </a:rPr>
              <a:t>~750 ms — runtime instrumentation cost</a:t>
            </a:r>
            <a:endParaRPr b="0" i="0" sz="1300" u="none" cap="none" strike="noStrike">
              <a:solidFill>
                <a:schemeClr val="dk1"/>
              </a:solidFill>
              <a:latin typeface="Calibri"/>
              <a:ea typeface="Calibri"/>
              <a:cs typeface="Calibri"/>
              <a:sym typeface="Calibri"/>
            </a:endParaRPr>
          </a:p>
        </p:txBody>
      </p:sp>
      <p:sp>
        <p:nvSpPr>
          <p:cNvPr id="407" name="Google Shape;407;p30"/>
          <p:cNvSpPr/>
          <p:nvPr/>
        </p:nvSpPr>
        <p:spPr>
          <a:xfrm>
            <a:off x="3246120" y="3657600"/>
            <a:ext cx="2606040" cy="86868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0"/>
          <p:cNvSpPr/>
          <p:nvPr/>
        </p:nvSpPr>
        <p:spPr>
          <a:xfrm>
            <a:off x="3246120" y="3657600"/>
            <a:ext cx="2606040" cy="54864"/>
          </a:xfrm>
          <a:prstGeom prst="rect">
            <a:avLst/>
          </a:prstGeom>
          <a:solidFill>
            <a:srgbClr val="EAB3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0"/>
          <p:cNvSpPr/>
          <p:nvPr/>
        </p:nvSpPr>
        <p:spPr>
          <a:xfrm>
            <a:off x="3383280" y="3749040"/>
            <a:ext cx="2331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B308"/>
              </a:buClr>
              <a:buSzPts val="1100"/>
              <a:buFont typeface="Calibri"/>
              <a:buNone/>
            </a:pPr>
            <a:r>
              <a:rPr b="1" i="0" lang="en-US" sz="1100" u="none" cap="none" strike="noStrike">
                <a:solidFill>
                  <a:srgbClr val="EAB308"/>
                </a:solidFill>
                <a:latin typeface="Calibri"/>
                <a:ea typeface="Calibri"/>
                <a:cs typeface="Calibri"/>
                <a:sym typeface="Calibri"/>
              </a:rPr>
              <a:t>SDK tax</a:t>
            </a:r>
            <a:endParaRPr b="0" i="0" sz="1100" u="none" cap="none" strike="noStrike">
              <a:solidFill>
                <a:schemeClr val="dk1"/>
              </a:solidFill>
              <a:latin typeface="Calibri"/>
              <a:ea typeface="Calibri"/>
              <a:cs typeface="Calibri"/>
              <a:sym typeface="Calibri"/>
            </a:endParaRPr>
          </a:p>
        </p:txBody>
      </p:sp>
      <p:sp>
        <p:nvSpPr>
          <p:cNvPr id="410" name="Google Shape;410;p30"/>
          <p:cNvSpPr/>
          <p:nvPr/>
        </p:nvSpPr>
        <p:spPr>
          <a:xfrm>
            <a:off x="3383280" y="4023360"/>
            <a:ext cx="2331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0" i="0" lang="en-US" sz="1300" u="none" cap="none" strike="noStrike">
                <a:solidFill>
                  <a:srgbClr val="0F172A"/>
                </a:solidFill>
                <a:latin typeface="Calibri"/>
                <a:ea typeface="Calibri"/>
                <a:cs typeface="Calibri"/>
                <a:sym typeface="Calibri"/>
              </a:rPr>
              <a:t>~30 ms — basically free</a:t>
            </a:r>
            <a:endParaRPr b="0" i="0" sz="1300" u="none" cap="none" strike="noStrike">
              <a:solidFill>
                <a:schemeClr val="dk1"/>
              </a:solidFill>
              <a:latin typeface="Calibri"/>
              <a:ea typeface="Calibri"/>
              <a:cs typeface="Calibri"/>
              <a:sym typeface="Calibri"/>
            </a:endParaRPr>
          </a:p>
        </p:txBody>
      </p:sp>
      <p:sp>
        <p:nvSpPr>
          <p:cNvPr id="411" name="Google Shape;411;p30"/>
          <p:cNvSpPr/>
          <p:nvPr/>
        </p:nvSpPr>
        <p:spPr>
          <a:xfrm>
            <a:off x="6035040" y="3657600"/>
            <a:ext cx="2606040" cy="86868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0"/>
          <p:cNvSpPr/>
          <p:nvPr/>
        </p:nvSpPr>
        <p:spPr>
          <a:xfrm>
            <a:off x="6035040" y="3657600"/>
            <a:ext cx="2606040" cy="54864"/>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0"/>
          <p:cNvSpPr/>
          <p:nvPr/>
        </p:nvSpPr>
        <p:spPr>
          <a:xfrm>
            <a:off x="6172200" y="3749040"/>
            <a:ext cx="2331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100"/>
              <a:buFont typeface="Calibri"/>
              <a:buNone/>
            </a:pPr>
            <a:r>
              <a:rPr b="1" i="0" lang="en-US" sz="1100" u="none" cap="none" strike="noStrike">
                <a:solidFill>
                  <a:srgbClr val="0D9488"/>
                </a:solidFill>
                <a:latin typeface="Calibri"/>
                <a:ea typeface="Calibri"/>
                <a:cs typeface="Calibri"/>
                <a:sym typeface="Calibri"/>
              </a:rPr>
              <a:t>AOT savings</a:t>
            </a:r>
            <a:endParaRPr b="0" i="0" sz="1100" u="none" cap="none" strike="noStrike">
              <a:solidFill>
                <a:schemeClr val="dk1"/>
              </a:solidFill>
              <a:latin typeface="Calibri"/>
              <a:ea typeface="Calibri"/>
              <a:cs typeface="Calibri"/>
              <a:sym typeface="Calibri"/>
            </a:endParaRPr>
          </a:p>
        </p:txBody>
      </p:sp>
      <p:sp>
        <p:nvSpPr>
          <p:cNvPr id="414" name="Google Shape;414;p30"/>
          <p:cNvSpPr/>
          <p:nvPr/>
        </p:nvSpPr>
        <p:spPr>
          <a:xfrm>
            <a:off x="6172200" y="4023360"/>
            <a:ext cx="2331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0" i="0" lang="en-US" sz="1300" u="none" cap="none" strike="noStrike">
                <a:solidFill>
                  <a:srgbClr val="0F172A"/>
                </a:solidFill>
                <a:latin typeface="Calibri"/>
                <a:ea typeface="Calibri"/>
                <a:cs typeface="Calibri"/>
                <a:sym typeface="Calibri"/>
              </a:rPr>
              <a:t>~700 ms (~18%) regardless of telemetry</a:t>
            </a:r>
            <a:endParaRPr b="0" i="0" sz="1300" u="none" cap="none" strike="noStrike">
              <a:solidFill>
                <a:schemeClr val="dk1"/>
              </a:solidFill>
              <a:latin typeface="Calibri"/>
              <a:ea typeface="Calibri"/>
              <a:cs typeface="Calibri"/>
              <a:sym typeface="Calibri"/>
            </a:endParaRPr>
          </a:p>
        </p:txBody>
      </p:sp>
      <p:sp>
        <p:nvSpPr>
          <p:cNvPr id="415" name="Google Shape;415;p30"/>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416" name="Google Shape;416;p30"/>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1" name="Shape 421"/>
        <p:cNvGrpSpPr/>
        <p:nvPr/>
      </p:nvGrpSpPr>
      <p:grpSpPr>
        <a:xfrm>
          <a:off x="0" y="0"/>
          <a:ext cx="0" cy="0"/>
          <a:chOff x="0" y="0"/>
          <a:chExt cx="0" cy="0"/>
        </a:xfrm>
      </p:grpSpPr>
      <p:sp>
        <p:nvSpPr>
          <p:cNvPr id="422" name="Google Shape;422;p31"/>
          <p:cNvSpPr/>
          <p:nvPr/>
        </p:nvSpPr>
        <p:spPr>
          <a:xfrm>
            <a:off x="457200" y="3657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800"/>
              <a:buFont typeface="Calibri"/>
              <a:buNone/>
            </a:pPr>
            <a:r>
              <a:rPr b="1" i="0" lang="en-US" sz="2800" u="none" cap="none" strike="noStrike">
                <a:solidFill>
                  <a:srgbClr val="0F172A"/>
                </a:solidFill>
                <a:latin typeface="Calibri"/>
                <a:ea typeface="Calibri"/>
                <a:cs typeface="Calibri"/>
                <a:sym typeface="Calibri"/>
              </a:rPr>
              <a:t>Same JDK. Same Leyden. Different Framework.</a:t>
            </a:r>
            <a:endParaRPr b="0" i="0" sz="2800" u="none" cap="none" strike="noStrike">
              <a:solidFill>
                <a:schemeClr val="dk1"/>
              </a:solidFill>
              <a:latin typeface="Calibri"/>
              <a:ea typeface="Calibri"/>
              <a:cs typeface="Calibri"/>
              <a:sym typeface="Calibri"/>
            </a:endParaRPr>
          </a:p>
        </p:txBody>
      </p:sp>
      <p:sp>
        <p:nvSpPr>
          <p:cNvPr id="423" name="Google Shape;423;p31"/>
          <p:cNvSpPr/>
          <p:nvPr/>
        </p:nvSpPr>
        <p:spPr>
          <a:xfrm>
            <a:off x="457200" y="91440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No-telemetry baseline — apples-to-apples cold start</a:t>
            </a:r>
            <a:endParaRPr b="0" i="0" sz="1300" u="none" cap="none" strike="noStrike">
              <a:solidFill>
                <a:schemeClr val="dk1"/>
              </a:solidFill>
              <a:latin typeface="Calibri"/>
              <a:ea typeface="Calibri"/>
              <a:cs typeface="Calibri"/>
              <a:sym typeface="Calibri"/>
            </a:endParaRPr>
          </a:p>
        </p:txBody>
      </p:sp>
      <p:sp>
        <p:nvSpPr>
          <p:cNvPr id="424" name="Google Shape;424;p31"/>
          <p:cNvSpPr/>
          <p:nvPr/>
        </p:nvSpPr>
        <p:spPr>
          <a:xfrm>
            <a:off x="457200" y="1463040"/>
            <a:ext cx="4023360" cy="457200"/>
          </a:xfrm>
          <a:prstGeom prst="rect">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1"/>
          <p:cNvSpPr/>
          <p:nvPr/>
        </p:nvSpPr>
        <p:spPr>
          <a:xfrm>
            <a:off x="640080" y="150876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Spring Boot 4</a:t>
            </a:r>
            <a:endParaRPr b="0" i="0" sz="1800" u="none" cap="none" strike="noStrike">
              <a:solidFill>
                <a:schemeClr val="dk1"/>
              </a:solidFill>
              <a:latin typeface="Calibri"/>
              <a:ea typeface="Calibri"/>
              <a:cs typeface="Calibri"/>
              <a:sym typeface="Calibri"/>
            </a:endParaRPr>
          </a:p>
        </p:txBody>
      </p:sp>
      <p:sp>
        <p:nvSpPr>
          <p:cNvPr id="426" name="Google Shape;426;p31"/>
          <p:cNvSpPr/>
          <p:nvPr/>
        </p:nvSpPr>
        <p:spPr>
          <a:xfrm>
            <a:off x="457200" y="1920240"/>
            <a:ext cx="4023360" cy="173736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1"/>
          <p:cNvSpPr/>
          <p:nvPr/>
        </p:nvSpPr>
        <p:spPr>
          <a:xfrm>
            <a:off x="640080" y="205740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Classic</a:t>
            </a:r>
            <a:endParaRPr b="0" i="0" sz="1300" u="none" cap="none" strike="noStrike">
              <a:solidFill>
                <a:schemeClr val="dk1"/>
              </a:solidFill>
              <a:latin typeface="Calibri"/>
              <a:ea typeface="Calibri"/>
              <a:cs typeface="Calibri"/>
              <a:sym typeface="Calibri"/>
            </a:endParaRPr>
          </a:p>
        </p:txBody>
      </p:sp>
      <p:sp>
        <p:nvSpPr>
          <p:cNvPr id="428" name="Google Shape;428;p31"/>
          <p:cNvSpPr/>
          <p:nvPr/>
        </p:nvSpPr>
        <p:spPr>
          <a:xfrm>
            <a:off x="640080" y="2377440"/>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800"/>
              <a:buFont typeface="Consolas"/>
              <a:buNone/>
            </a:pPr>
            <a:r>
              <a:rPr b="1" i="0" lang="en-US" sz="2800" u="none" cap="none" strike="noStrike">
                <a:solidFill>
                  <a:srgbClr val="0F172A"/>
                </a:solidFill>
                <a:latin typeface="Consolas"/>
                <a:ea typeface="Consolas"/>
                <a:cs typeface="Consolas"/>
                <a:sym typeface="Consolas"/>
              </a:rPr>
              <a:t>3954 ms</a:t>
            </a:r>
            <a:endParaRPr b="0" i="0" sz="2800" u="none" cap="none" strike="noStrike">
              <a:solidFill>
                <a:schemeClr val="dk1"/>
              </a:solidFill>
              <a:latin typeface="Calibri"/>
              <a:ea typeface="Calibri"/>
              <a:cs typeface="Calibri"/>
              <a:sym typeface="Calibri"/>
            </a:endParaRPr>
          </a:p>
        </p:txBody>
      </p:sp>
      <p:sp>
        <p:nvSpPr>
          <p:cNvPr id="429" name="Google Shape;429;p31"/>
          <p:cNvSpPr/>
          <p:nvPr/>
        </p:nvSpPr>
        <p:spPr>
          <a:xfrm>
            <a:off x="640080" y="288036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 AOT cache</a:t>
            </a:r>
            <a:endParaRPr b="0" i="0" sz="1300" u="none" cap="none" strike="noStrike">
              <a:solidFill>
                <a:schemeClr val="dk1"/>
              </a:solidFill>
              <a:latin typeface="Calibri"/>
              <a:ea typeface="Calibri"/>
              <a:cs typeface="Calibri"/>
              <a:sym typeface="Calibri"/>
            </a:endParaRPr>
          </a:p>
        </p:txBody>
      </p:sp>
      <p:sp>
        <p:nvSpPr>
          <p:cNvPr id="430" name="Google Shape;430;p31"/>
          <p:cNvSpPr/>
          <p:nvPr/>
        </p:nvSpPr>
        <p:spPr>
          <a:xfrm>
            <a:off x="640080" y="3200400"/>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2800"/>
              <a:buFont typeface="Consolas"/>
              <a:buNone/>
            </a:pPr>
            <a:r>
              <a:rPr b="1" i="0" lang="en-US" sz="2800" u="none" cap="none" strike="noStrike">
                <a:solidFill>
                  <a:srgbClr val="0D9488"/>
                </a:solidFill>
                <a:latin typeface="Consolas"/>
                <a:ea typeface="Consolas"/>
                <a:cs typeface="Consolas"/>
                <a:sym typeface="Consolas"/>
              </a:rPr>
              <a:t>3252 ms</a:t>
            </a:r>
            <a:endParaRPr b="0" i="0" sz="2800" u="none" cap="none" strike="noStrike">
              <a:solidFill>
                <a:schemeClr val="dk1"/>
              </a:solidFill>
              <a:latin typeface="Calibri"/>
              <a:ea typeface="Calibri"/>
              <a:cs typeface="Calibri"/>
              <a:sym typeface="Calibri"/>
            </a:endParaRPr>
          </a:p>
        </p:txBody>
      </p:sp>
      <p:sp>
        <p:nvSpPr>
          <p:cNvPr id="431" name="Google Shape;431;p31"/>
          <p:cNvSpPr/>
          <p:nvPr/>
        </p:nvSpPr>
        <p:spPr>
          <a:xfrm>
            <a:off x="4663440" y="1463040"/>
            <a:ext cx="4023360" cy="457200"/>
          </a:xfrm>
          <a:prstGeom prst="rect">
            <a:avLst/>
          </a:prstGeom>
          <a:solidFill>
            <a:srgbClr val="4695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1"/>
          <p:cNvSpPr/>
          <p:nvPr/>
        </p:nvSpPr>
        <p:spPr>
          <a:xfrm>
            <a:off x="4846320" y="150876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Quarkus 3.33</a:t>
            </a:r>
            <a:endParaRPr b="0" i="0" sz="1800" u="none" cap="none" strike="noStrike">
              <a:solidFill>
                <a:schemeClr val="dk1"/>
              </a:solidFill>
              <a:latin typeface="Calibri"/>
              <a:ea typeface="Calibri"/>
              <a:cs typeface="Calibri"/>
              <a:sym typeface="Calibri"/>
            </a:endParaRPr>
          </a:p>
        </p:txBody>
      </p:sp>
      <p:sp>
        <p:nvSpPr>
          <p:cNvPr id="433" name="Google Shape;433;p31"/>
          <p:cNvSpPr/>
          <p:nvPr/>
        </p:nvSpPr>
        <p:spPr>
          <a:xfrm>
            <a:off x="4663440" y="1920240"/>
            <a:ext cx="4023360" cy="173736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1"/>
          <p:cNvSpPr/>
          <p:nvPr/>
        </p:nvSpPr>
        <p:spPr>
          <a:xfrm>
            <a:off x="4846320" y="205740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Classic</a:t>
            </a:r>
            <a:endParaRPr b="0" i="0" sz="1300" u="none" cap="none" strike="noStrike">
              <a:solidFill>
                <a:schemeClr val="dk1"/>
              </a:solidFill>
              <a:latin typeface="Calibri"/>
              <a:ea typeface="Calibri"/>
              <a:cs typeface="Calibri"/>
              <a:sym typeface="Calibri"/>
            </a:endParaRPr>
          </a:p>
        </p:txBody>
      </p:sp>
      <p:sp>
        <p:nvSpPr>
          <p:cNvPr id="435" name="Google Shape;435;p31"/>
          <p:cNvSpPr/>
          <p:nvPr/>
        </p:nvSpPr>
        <p:spPr>
          <a:xfrm>
            <a:off x="4846320" y="2377440"/>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800"/>
              <a:buFont typeface="Consolas"/>
              <a:buNone/>
            </a:pPr>
            <a:r>
              <a:rPr b="1" i="0" lang="en-US" sz="2800" u="none" cap="none" strike="noStrike">
                <a:solidFill>
                  <a:srgbClr val="0F172A"/>
                </a:solidFill>
                <a:latin typeface="Consolas"/>
                <a:ea typeface="Consolas"/>
                <a:cs typeface="Consolas"/>
                <a:sym typeface="Consolas"/>
              </a:rPr>
              <a:t>787 ms</a:t>
            </a:r>
            <a:endParaRPr b="0" i="0" sz="2800" u="none" cap="none" strike="noStrike">
              <a:solidFill>
                <a:schemeClr val="dk1"/>
              </a:solidFill>
              <a:latin typeface="Calibri"/>
              <a:ea typeface="Calibri"/>
              <a:cs typeface="Calibri"/>
              <a:sym typeface="Calibri"/>
            </a:endParaRPr>
          </a:p>
        </p:txBody>
      </p:sp>
      <p:sp>
        <p:nvSpPr>
          <p:cNvPr id="436" name="Google Shape;436;p31"/>
          <p:cNvSpPr/>
          <p:nvPr/>
        </p:nvSpPr>
        <p:spPr>
          <a:xfrm>
            <a:off x="4846320" y="288036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 Leyden AOT</a:t>
            </a:r>
            <a:endParaRPr b="0" i="0" sz="1300" u="none" cap="none" strike="noStrike">
              <a:solidFill>
                <a:schemeClr val="dk1"/>
              </a:solidFill>
              <a:latin typeface="Calibri"/>
              <a:ea typeface="Calibri"/>
              <a:cs typeface="Calibri"/>
              <a:sym typeface="Calibri"/>
            </a:endParaRPr>
          </a:p>
        </p:txBody>
      </p:sp>
      <p:sp>
        <p:nvSpPr>
          <p:cNvPr id="437" name="Google Shape;437;p31"/>
          <p:cNvSpPr/>
          <p:nvPr/>
        </p:nvSpPr>
        <p:spPr>
          <a:xfrm>
            <a:off x="4846320" y="3200400"/>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95EB"/>
              </a:buClr>
              <a:buSzPts val="2800"/>
              <a:buFont typeface="Consolas"/>
              <a:buNone/>
            </a:pPr>
            <a:r>
              <a:rPr b="1" i="0" lang="en-US" sz="2800" u="none" cap="none" strike="noStrike">
                <a:solidFill>
                  <a:srgbClr val="4695EB"/>
                </a:solidFill>
                <a:latin typeface="Consolas"/>
                <a:ea typeface="Consolas"/>
                <a:cs typeface="Consolas"/>
                <a:sym typeface="Consolas"/>
              </a:rPr>
              <a:t>181 ms</a:t>
            </a:r>
            <a:endParaRPr b="0" i="0" sz="2800" u="none" cap="none" strike="noStrike">
              <a:solidFill>
                <a:schemeClr val="dk1"/>
              </a:solidFill>
              <a:latin typeface="Calibri"/>
              <a:ea typeface="Calibri"/>
              <a:cs typeface="Calibri"/>
              <a:sym typeface="Calibri"/>
            </a:endParaRPr>
          </a:p>
        </p:txBody>
      </p:sp>
      <p:sp>
        <p:nvSpPr>
          <p:cNvPr id="438" name="Google Shape;438;p31"/>
          <p:cNvSpPr/>
          <p:nvPr/>
        </p:nvSpPr>
        <p:spPr>
          <a:xfrm>
            <a:off x="457200" y="3840480"/>
            <a:ext cx="8229600" cy="64008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1"/>
          <p:cNvSpPr/>
          <p:nvPr/>
        </p:nvSpPr>
        <p:spPr>
          <a:xfrm>
            <a:off x="457200" y="384048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1800"/>
              <a:buFont typeface="Calibri"/>
              <a:buNone/>
            </a:pPr>
            <a:r>
              <a:rPr b="1" i="0" lang="en-US" sz="1800" u="none" cap="none" strike="noStrike">
                <a:solidFill>
                  <a:srgbClr val="14B8A6"/>
                </a:solidFill>
                <a:latin typeface="Calibri"/>
                <a:ea typeface="Calibri"/>
                <a:cs typeface="Calibri"/>
                <a:sym typeface="Calibri"/>
              </a:rPr>
              <a:t>Spring Boot saves ~18% with AOT.   Quarkus saves ~77%.   Same flag. Same JDK.</a:t>
            </a:r>
            <a:endParaRPr b="0" i="0" sz="1800" u="none" cap="none" strike="noStrike">
              <a:solidFill>
                <a:schemeClr val="dk1"/>
              </a:solidFill>
              <a:latin typeface="Calibri"/>
              <a:ea typeface="Calibri"/>
              <a:cs typeface="Calibri"/>
              <a:sym typeface="Calibri"/>
            </a:endParaRPr>
          </a:p>
        </p:txBody>
      </p:sp>
      <p:sp>
        <p:nvSpPr>
          <p:cNvPr id="440" name="Google Shape;440;p31"/>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441" name="Google Shape;441;p31"/>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23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46" name="Shape 446"/>
        <p:cNvGrpSpPr/>
        <p:nvPr/>
      </p:nvGrpSpPr>
      <p:grpSpPr>
        <a:xfrm>
          <a:off x="0" y="0"/>
          <a:ext cx="0" cy="0"/>
          <a:chOff x="0" y="0"/>
          <a:chExt cx="0" cy="0"/>
        </a:xfrm>
      </p:grpSpPr>
      <p:sp>
        <p:nvSpPr>
          <p:cNvPr id="447" name="Google Shape;447;p32"/>
          <p:cNvSpPr/>
          <p:nvPr/>
        </p:nvSpPr>
        <p:spPr>
          <a:xfrm>
            <a:off x="457200" y="1371600"/>
            <a:ext cx="822960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3600"/>
              <a:buFont typeface="Calibri"/>
              <a:buNone/>
            </a:pPr>
            <a:r>
              <a:rPr b="1" i="0" lang="en-US" sz="3600" u="none" cap="none" strike="noStrike">
                <a:solidFill>
                  <a:srgbClr val="F8FAFC"/>
                </a:solidFill>
                <a:latin typeface="Calibri"/>
                <a:ea typeface="Calibri"/>
                <a:cs typeface="Calibri"/>
                <a:sym typeface="Calibri"/>
              </a:rPr>
              <a:t>The agent tax doesn't amortize on cold scale.</a:t>
            </a:r>
            <a:endParaRPr b="0" i="0" sz="3600" u="none" cap="none" strike="noStrike">
              <a:solidFill>
                <a:schemeClr val="dk1"/>
              </a:solidFill>
              <a:latin typeface="Calibri"/>
              <a:ea typeface="Calibri"/>
              <a:cs typeface="Calibri"/>
              <a:sym typeface="Calibri"/>
            </a:endParaRPr>
          </a:p>
        </p:txBody>
      </p:sp>
      <p:sp>
        <p:nvSpPr>
          <p:cNvPr id="448" name="Google Shape;448;p32"/>
          <p:cNvSpPr/>
          <p:nvPr/>
        </p:nvSpPr>
        <p:spPr>
          <a:xfrm>
            <a:off x="457200" y="2926080"/>
            <a:ext cx="82296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800"/>
              <a:buFont typeface="Calibri"/>
              <a:buNone/>
            </a:pPr>
            <a:r>
              <a:rPr b="0" i="1" lang="en-US" sz="1800" u="none" cap="none" strike="noStrike">
                <a:solidFill>
                  <a:srgbClr val="64748B"/>
                </a:solidFill>
                <a:latin typeface="Calibri"/>
                <a:ea typeface="Calibri"/>
                <a:cs typeface="Calibri"/>
                <a:sym typeface="Calibri"/>
              </a:rPr>
              <a:t>Long-running services? </a:t>
            </a:r>
            <a:r>
              <a:rPr b="0" i="1" lang="en-US" sz="1800" u="none" cap="none" strike="noStrike">
                <a:solidFill>
                  <a:srgbClr val="F8FAFC"/>
                </a:solidFill>
                <a:latin typeface="Calibri"/>
                <a:ea typeface="Calibri"/>
                <a:cs typeface="Calibri"/>
                <a:sym typeface="Calibri"/>
              </a:rPr>
              <a:t>Agent tax disappears in 5 minutes. Use the agent.</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800"/>
              <a:buFont typeface="Calibri"/>
              <a:buNone/>
            </a:pPr>
            <a:r>
              <a:rPr b="0" i="1" lang="en-US" sz="1800" u="none" cap="none" strike="noStrike">
                <a:solidFill>
                  <a:srgbClr val="64748B"/>
                </a:solidFill>
                <a:latin typeface="Calibri"/>
                <a:ea typeface="Calibri"/>
                <a:cs typeface="Calibri"/>
                <a:sym typeface="Calibri"/>
              </a:rPr>
              <a:t>Serverless / scale-from-zero? </a:t>
            </a:r>
            <a:r>
              <a:rPr b="0" i="1" lang="en-US" sz="1800" u="none" cap="none" strike="noStrike">
                <a:solidFill>
                  <a:srgbClr val="14B8A6"/>
                </a:solidFill>
                <a:latin typeface="Calibri"/>
                <a:ea typeface="Calibri"/>
                <a:cs typeface="Calibri"/>
                <a:sym typeface="Calibri"/>
              </a:rPr>
              <a:t>750ms is your entire startup budget. Use the SDK starter.</a:t>
            </a:r>
            <a:endParaRPr b="0" i="0" sz="1800" u="none" cap="none" strike="noStrike">
              <a:solidFill>
                <a:schemeClr val="dk1"/>
              </a:solidFill>
              <a:latin typeface="Calibri"/>
              <a:ea typeface="Calibri"/>
              <a:cs typeface="Calibri"/>
              <a:sym typeface="Calibri"/>
            </a:endParaRPr>
          </a:p>
        </p:txBody>
      </p:sp>
      <p:sp>
        <p:nvSpPr>
          <p:cNvPr id="449" name="Google Shape;449;p32"/>
          <p:cNvSpPr/>
          <p:nvPr/>
        </p:nvSpPr>
        <p:spPr>
          <a:xfrm>
            <a:off x="457200" y="429768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1400"/>
              <a:buFont typeface="Calibri"/>
              <a:buNone/>
            </a:pPr>
            <a:r>
              <a:rPr b="0" i="1" lang="en-US" sz="1400" u="none" cap="none" strike="noStrike">
                <a:solidFill>
                  <a:srgbClr val="0D9488"/>
                </a:solidFill>
                <a:latin typeface="Calibri"/>
                <a:ea typeface="Calibri"/>
                <a:cs typeface="Calibri"/>
                <a:sym typeface="Calibri"/>
              </a:rPr>
              <a:t>Match your telemetry to your workload's startup sensitivity.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4" name="Shape 454"/>
        <p:cNvGrpSpPr/>
        <p:nvPr/>
      </p:nvGrpSpPr>
      <p:grpSpPr>
        <a:xfrm>
          <a:off x="0" y="0"/>
          <a:ext cx="0" cy="0"/>
          <a:chOff x="0" y="0"/>
          <a:chExt cx="0" cy="0"/>
        </a:xfrm>
      </p:grpSpPr>
      <p:sp>
        <p:nvSpPr>
          <p:cNvPr id="455" name="Google Shape;455;p33"/>
          <p:cNvSpPr/>
          <p:nvPr/>
        </p:nvSpPr>
        <p:spPr>
          <a:xfrm>
            <a:off x="457200" y="3657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600"/>
              <a:buFont typeface="Calibri"/>
              <a:buNone/>
            </a:pPr>
            <a:r>
              <a:rPr b="1" i="0" lang="en-US" sz="3600" u="none" cap="none" strike="noStrike">
                <a:solidFill>
                  <a:srgbClr val="0F172A"/>
                </a:solidFill>
                <a:latin typeface="Calibri"/>
                <a:ea typeface="Calibri"/>
                <a:cs typeface="Calibri"/>
                <a:sym typeface="Calibri"/>
              </a:rPr>
              <a:t>Three Things to Take Home</a:t>
            </a:r>
            <a:endParaRPr b="0" i="0" sz="3600" u="none" cap="none" strike="noStrike">
              <a:solidFill>
                <a:schemeClr val="dk1"/>
              </a:solidFill>
              <a:latin typeface="Calibri"/>
              <a:ea typeface="Calibri"/>
              <a:cs typeface="Calibri"/>
              <a:sym typeface="Calibri"/>
            </a:endParaRPr>
          </a:p>
        </p:txBody>
      </p:sp>
      <p:sp>
        <p:nvSpPr>
          <p:cNvPr id="456" name="Google Shape;456;p33"/>
          <p:cNvSpPr/>
          <p:nvPr/>
        </p:nvSpPr>
        <p:spPr>
          <a:xfrm>
            <a:off x="457200" y="1325880"/>
            <a:ext cx="731520" cy="731520"/>
          </a:xfrm>
          <a:prstGeom prst="ellipse">
            <a:avLst/>
          </a:pr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3"/>
          <p:cNvSpPr/>
          <p:nvPr/>
        </p:nvSpPr>
        <p:spPr>
          <a:xfrm>
            <a:off x="457200" y="1325880"/>
            <a:ext cx="7315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1</a:t>
            </a:r>
            <a:endParaRPr b="0" i="0" sz="3200" u="none" cap="none" strike="noStrike">
              <a:solidFill>
                <a:schemeClr val="dk1"/>
              </a:solidFill>
              <a:latin typeface="Calibri"/>
              <a:ea typeface="Calibri"/>
              <a:cs typeface="Calibri"/>
              <a:sym typeface="Calibri"/>
            </a:endParaRPr>
          </a:p>
        </p:txBody>
      </p:sp>
      <p:sp>
        <p:nvSpPr>
          <p:cNvPr id="458" name="Google Shape;458;p33"/>
          <p:cNvSpPr/>
          <p:nvPr/>
        </p:nvSpPr>
        <p:spPr>
          <a:xfrm>
            <a:off x="1371600" y="1234440"/>
            <a:ext cx="70408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800"/>
              <a:buFont typeface="Calibri"/>
              <a:buNone/>
            </a:pPr>
            <a:r>
              <a:rPr b="1" i="0" lang="en-US" sz="1800" u="none" cap="none" strike="noStrike">
                <a:solidFill>
                  <a:srgbClr val="0F172A"/>
                </a:solidFill>
                <a:latin typeface="Calibri"/>
                <a:ea typeface="Calibri"/>
                <a:cs typeface="Calibri"/>
                <a:sym typeface="Calibri"/>
              </a:rPr>
              <a:t>Correlation is a feature, not a query.</a:t>
            </a:r>
            <a:endParaRPr b="0" i="0" sz="1800" u="none" cap="none" strike="noStrike">
              <a:solidFill>
                <a:schemeClr val="dk1"/>
              </a:solidFill>
              <a:latin typeface="Calibri"/>
              <a:ea typeface="Calibri"/>
              <a:cs typeface="Calibri"/>
              <a:sym typeface="Calibri"/>
            </a:endParaRPr>
          </a:p>
        </p:txBody>
      </p:sp>
      <p:sp>
        <p:nvSpPr>
          <p:cNvPr id="459" name="Google Shape;459;p33"/>
          <p:cNvSpPr/>
          <p:nvPr/>
        </p:nvSpPr>
        <p:spPr>
          <a:xfrm>
            <a:off x="1371600" y="1645920"/>
            <a:ext cx="7040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Build trace_id propagation into your platform. Across signals, across services, across processes. Without it, every observability question becomes archaeology.</a:t>
            </a:r>
            <a:endParaRPr b="0" i="0" sz="1200" u="none" cap="none" strike="noStrike">
              <a:solidFill>
                <a:schemeClr val="dk1"/>
              </a:solidFill>
              <a:latin typeface="Calibri"/>
              <a:ea typeface="Calibri"/>
              <a:cs typeface="Calibri"/>
              <a:sym typeface="Calibri"/>
            </a:endParaRPr>
          </a:p>
        </p:txBody>
      </p:sp>
      <p:sp>
        <p:nvSpPr>
          <p:cNvPr id="460" name="Google Shape;460;p33"/>
          <p:cNvSpPr/>
          <p:nvPr/>
        </p:nvSpPr>
        <p:spPr>
          <a:xfrm>
            <a:off x="457200" y="2514600"/>
            <a:ext cx="731520" cy="73152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3"/>
          <p:cNvSpPr/>
          <p:nvPr/>
        </p:nvSpPr>
        <p:spPr>
          <a:xfrm>
            <a:off x="457200" y="2514600"/>
            <a:ext cx="7315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2</a:t>
            </a:r>
            <a:endParaRPr b="0" i="0" sz="3200" u="none" cap="none" strike="noStrike">
              <a:solidFill>
                <a:schemeClr val="dk1"/>
              </a:solidFill>
              <a:latin typeface="Calibri"/>
              <a:ea typeface="Calibri"/>
              <a:cs typeface="Calibri"/>
              <a:sym typeface="Calibri"/>
            </a:endParaRPr>
          </a:p>
        </p:txBody>
      </p:sp>
      <p:sp>
        <p:nvSpPr>
          <p:cNvPr id="462" name="Google Shape;462;p33"/>
          <p:cNvSpPr/>
          <p:nvPr/>
        </p:nvSpPr>
        <p:spPr>
          <a:xfrm>
            <a:off x="1371600" y="2423160"/>
            <a:ext cx="70408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800"/>
              <a:buFont typeface="Calibri"/>
              <a:buNone/>
            </a:pPr>
            <a:r>
              <a:rPr b="1" i="0" lang="en-US" sz="1800" u="none" cap="none" strike="noStrike">
                <a:solidFill>
                  <a:srgbClr val="0F172A"/>
                </a:solidFill>
                <a:latin typeface="Calibri"/>
                <a:ea typeface="Calibri"/>
                <a:cs typeface="Calibri"/>
                <a:sym typeface="Calibri"/>
              </a:rPr>
              <a:t>Cardinality is an ops cost. Budget it.</a:t>
            </a:r>
            <a:endParaRPr b="0" i="0" sz="1800" u="none" cap="none" strike="noStrike">
              <a:solidFill>
                <a:schemeClr val="dk1"/>
              </a:solidFill>
              <a:latin typeface="Calibri"/>
              <a:ea typeface="Calibri"/>
              <a:cs typeface="Calibri"/>
              <a:sym typeface="Calibri"/>
            </a:endParaRPr>
          </a:p>
        </p:txBody>
      </p:sp>
      <p:sp>
        <p:nvSpPr>
          <p:cNvPr id="463" name="Google Shape;463;p33"/>
          <p:cNvSpPr/>
          <p:nvPr/>
        </p:nvSpPr>
        <p:spPr>
          <a:xfrm>
            <a:off x="1371600" y="2834640"/>
            <a:ext cx="7040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User IDs go in traces. Latency goes in histograms. Continuous values get bucketed. The Collector is where you enforce the budget at the edge — not the TSDB at 3am.</a:t>
            </a:r>
            <a:endParaRPr b="0" i="0" sz="1200" u="none" cap="none" strike="noStrike">
              <a:solidFill>
                <a:schemeClr val="dk1"/>
              </a:solidFill>
              <a:latin typeface="Calibri"/>
              <a:ea typeface="Calibri"/>
              <a:cs typeface="Calibri"/>
              <a:sym typeface="Calibri"/>
            </a:endParaRPr>
          </a:p>
        </p:txBody>
      </p:sp>
      <p:sp>
        <p:nvSpPr>
          <p:cNvPr id="464" name="Google Shape;464;p33"/>
          <p:cNvSpPr/>
          <p:nvPr/>
        </p:nvSpPr>
        <p:spPr>
          <a:xfrm>
            <a:off x="457200" y="3703320"/>
            <a:ext cx="731520" cy="731520"/>
          </a:xfrm>
          <a:prstGeom prst="ellipse">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3"/>
          <p:cNvSpPr/>
          <p:nvPr/>
        </p:nvSpPr>
        <p:spPr>
          <a:xfrm>
            <a:off x="457200" y="3703320"/>
            <a:ext cx="7315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3</a:t>
            </a:r>
            <a:endParaRPr b="0" i="0" sz="3200" u="none" cap="none" strike="noStrike">
              <a:solidFill>
                <a:schemeClr val="dk1"/>
              </a:solidFill>
              <a:latin typeface="Calibri"/>
              <a:ea typeface="Calibri"/>
              <a:cs typeface="Calibri"/>
              <a:sym typeface="Calibri"/>
            </a:endParaRPr>
          </a:p>
        </p:txBody>
      </p:sp>
      <p:sp>
        <p:nvSpPr>
          <p:cNvPr id="466" name="Google Shape;466;p33"/>
          <p:cNvSpPr/>
          <p:nvPr/>
        </p:nvSpPr>
        <p:spPr>
          <a:xfrm>
            <a:off x="1371600" y="3611880"/>
            <a:ext cx="70408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800"/>
              <a:buFont typeface="Calibri"/>
              <a:buNone/>
            </a:pPr>
            <a:r>
              <a:rPr b="1" i="0" lang="en-US" sz="1800" u="none" cap="none" strike="noStrike">
                <a:solidFill>
                  <a:srgbClr val="0F172A"/>
                </a:solidFill>
                <a:latin typeface="Calibri"/>
                <a:ea typeface="Calibri"/>
                <a:cs typeface="Calibri"/>
                <a:sym typeface="Calibri"/>
              </a:rPr>
              <a:t>Match telemetry to workload sensitivity.</a:t>
            </a:r>
            <a:endParaRPr b="0" i="0" sz="1800" u="none" cap="none" strike="noStrike">
              <a:solidFill>
                <a:schemeClr val="dk1"/>
              </a:solidFill>
              <a:latin typeface="Calibri"/>
              <a:ea typeface="Calibri"/>
              <a:cs typeface="Calibri"/>
              <a:sym typeface="Calibri"/>
            </a:endParaRPr>
          </a:p>
        </p:txBody>
      </p:sp>
      <p:sp>
        <p:nvSpPr>
          <p:cNvPr id="467" name="Google Shape;467;p33"/>
          <p:cNvSpPr/>
          <p:nvPr/>
        </p:nvSpPr>
        <p:spPr>
          <a:xfrm>
            <a:off x="1371600" y="4023360"/>
            <a:ext cx="7040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OTel agent for long-running services where the 750ms tax amortizes. SDK starter for cold-scale and serverless. Framework choice matters more than vendor.</a:t>
            </a:r>
            <a:endParaRPr b="0" i="0" sz="1200" u="none" cap="none" strike="noStrike">
              <a:solidFill>
                <a:schemeClr val="dk1"/>
              </a:solidFill>
              <a:latin typeface="Calibri"/>
              <a:ea typeface="Calibri"/>
              <a:cs typeface="Calibri"/>
              <a:sym typeface="Calibri"/>
            </a:endParaRPr>
          </a:p>
        </p:txBody>
      </p:sp>
      <p:sp>
        <p:nvSpPr>
          <p:cNvPr id="468" name="Google Shape;468;p33"/>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469" name="Google Shape;469;p33"/>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4" name="Shape 474"/>
        <p:cNvGrpSpPr/>
        <p:nvPr/>
      </p:nvGrpSpPr>
      <p:grpSpPr>
        <a:xfrm>
          <a:off x="0" y="0"/>
          <a:ext cx="0" cy="0"/>
          <a:chOff x="0" y="0"/>
          <a:chExt cx="0" cy="0"/>
        </a:xfrm>
      </p:grpSpPr>
      <p:sp>
        <p:nvSpPr>
          <p:cNvPr id="475" name="Google Shape;475;p34"/>
          <p:cNvSpPr/>
          <p:nvPr/>
        </p:nvSpPr>
        <p:spPr>
          <a:xfrm>
            <a:off x="457200" y="3657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600"/>
              <a:buFont typeface="Calibri"/>
              <a:buNone/>
            </a:pPr>
            <a:r>
              <a:rPr b="1" i="0" lang="en-US" sz="3600" u="none" cap="none" strike="noStrike">
                <a:solidFill>
                  <a:srgbClr val="0F172A"/>
                </a:solidFill>
                <a:latin typeface="Calibri"/>
                <a:ea typeface="Calibri"/>
                <a:cs typeface="Calibri"/>
                <a:sym typeface="Calibri"/>
              </a:rPr>
              <a:t>Resources &amp; References</a:t>
            </a:r>
            <a:endParaRPr b="0" i="0" sz="3600" u="none" cap="none" strike="noStrike">
              <a:solidFill>
                <a:schemeClr val="dk1"/>
              </a:solidFill>
              <a:latin typeface="Calibri"/>
              <a:ea typeface="Calibri"/>
              <a:cs typeface="Calibri"/>
              <a:sym typeface="Calibri"/>
            </a:endParaRPr>
          </a:p>
        </p:txBody>
      </p:sp>
      <p:sp>
        <p:nvSpPr>
          <p:cNvPr id="476" name="Google Shape;476;p34"/>
          <p:cNvSpPr/>
          <p:nvPr/>
        </p:nvSpPr>
        <p:spPr>
          <a:xfrm>
            <a:off x="640080" y="128016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This talk's code</a:t>
            </a:r>
            <a:endParaRPr b="0" i="0" sz="1500" u="none" cap="none" strike="noStrike">
              <a:solidFill>
                <a:schemeClr val="dk1"/>
              </a:solidFill>
              <a:latin typeface="Calibri"/>
              <a:ea typeface="Calibri"/>
              <a:cs typeface="Calibri"/>
              <a:sym typeface="Calibri"/>
            </a:endParaRPr>
          </a:p>
        </p:txBody>
      </p:sp>
      <p:sp>
        <p:nvSpPr>
          <p:cNvPr id="477" name="Google Shape;477;p34"/>
          <p:cNvSpPr/>
          <p:nvPr/>
        </p:nvSpPr>
        <p:spPr>
          <a:xfrm>
            <a:off x="3931925" y="1280150"/>
            <a:ext cx="4867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300"/>
              <a:buFont typeface="Consolas"/>
              <a:buNone/>
            </a:pPr>
            <a:r>
              <a:rPr b="0" i="0" lang="en-US" sz="1300" u="none" cap="none" strike="noStrike">
                <a:solidFill>
                  <a:srgbClr val="0D9488"/>
                </a:solidFill>
                <a:latin typeface="Consolas"/>
                <a:ea typeface="Consolas"/>
                <a:cs typeface="Consolas"/>
                <a:sym typeface="Consolas"/>
              </a:rPr>
              <a:t>github.com/patterncatalyst/otel-observability-demos</a:t>
            </a:r>
            <a:endParaRPr b="0" i="0" sz="1300" u="none" cap="none" strike="noStrike">
              <a:solidFill>
                <a:schemeClr val="dk1"/>
              </a:solidFill>
              <a:latin typeface="Calibri"/>
              <a:ea typeface="Calibri"/>
              <a:cs typeface="Calibri"/>
              <a:sym typeface="Calibri"/>
            </a:endParaRPr>
          </a:p>
        </p:txBody>
      </p:sp>
      <p:sp>
        <p:nvSpPr>
          <p:cNvPr id="478" name="Google Shape;478;p34"/>
          <p:cNvSpPr/>
          <p:nvPr/>
        </p:nvSpPr>
        <p:spPr>
          <a:xfrm>
            <a:off x="640080" y="182880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OpenTelemetry</a:t>
            </a:r>
            <a:endParaRPr b="0" i="0" sz="1500" u="none" cap="none" strike="noStrike">
              <a:solidFill>
                <a:schemeClr val="dk1"/>
              </a:solidFill>
              <a:latin typeface="Calibri"/>
              <a:ea typeface="Calibri"/>
              <a:cs typeface="Calibri"/>
              <a:sym typeface="Calibri"/>
            </a:endParaRPr>
          </a:p>
        </p:txBody>
      </p:sp>
      <p:sp>
        <p:nvSpPr>
          <p:cNvPr id="479" name="Google Shape;479;p34"/>
          <p:cNvSpPr/>
          <p:nvPr/>
        </p:nvSpPr>
        <p:spPr>
          <a:xfrm>
            <a:off x="3931925" y="1828791"/>
            <a:ext cx="4867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300"/>
              <a:buFont typeface="Consolas"/>
              <a:buNone/>
            </a:pPr>
            <a:r>
              <a:rPr b="0" i="0" lang="en-US" sz="1300" u="none" cap="none" strike="noStrike">
                <a:solidFill>
                  <a:srgbClr val="0D9488"/>
                </a:solidFill>
                <a:latin typeface="Consolas"/>
                <a:ea typeface="Consolas"/>
                <a:cs typeface="Consolas"/>
                <a:sym typeface="Consolas"/>
              </a:rPr>
              <a:t>opentelemetry.io</a:t>
            </a:r>
            <a:endParaRPr b="0" i="0" sz="1300" u="none" cap="none" strike="noStrike">
              <a:solidFill>
                <a:schemeClr val="dk1"/>
              </a:solidFill>
              <a:latin typeface="Calibri"/>
              <a:ea typeface="Calibri"/>
              <a:cs typeface="Calibri"/>
              <a:sym typeface="Calibri"/>
            </a:endParaRPr>
          </a:p>
        </p:txBody>
      </p:sp>
      <p:sp>
        <p:nvSpPr>
          <p:cNvPr id="480" name="Google Shape;480;p34"/>
          <p:cNvSpPr/>
          <p:nvPr/>
        </p:nvSpPr>
        <p:spPr>
          <a:xfrm>
            <a:off x="640080" y="237744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Spring Boot 4 OTel</a:t>
            </a:r>
            <a:endParaRPr b="0" i="0" sz="1500" u="none" cap="none" strike="noStrike">
              <a:solidFill>
                <a:schemeClr val="dk1"/>
              </a:solidFill>
              <a:latin typeface="Calibri"/>
              <a:ea typeface="Calibri"/>
              <a:cs typeface="Calibri"/>
              <a:sym typeface="Calibri"/>
            </a:endParaRPr>
          </a:p>
        </p:txBody>
      </p:sp>
      <p:sp>
        <p:nvSpPr>
          <p:cNvPr id="481" name="Google Shape;481;p34"/>
          <p:cNvSpPr/>
          <p:nvPr/>
        </p:nvSpPr>
        <p:spPr>
          <a:xfrm>
            <a:off x="3931925" y="2377432"/>
            <a:ext cx="4867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300"/>
              <a:buFont typeface="Consolas"/>
              <a:buNone/>
            </a:pPr>
            <a:r>
              <a:rPr b="0" i="0" lang="en-US" sz="1300" u="none" cap="none" strike="noStrike">
                <a:solidFill>
                  <a:srgbClr val="0D9488"/>
                </a:solidFill>
                <a:latin typeface="Consolas"/>
                <a:ea typeface="Consolas"/>
                <a:cs typeface="Consolas"/>
                <a:sym typeface="Consolas"/>
              </a:rPr>
              <a:t>spring.io/blog/2025/11/18/opentelemetry-with-spring-boot</a:t>
            </a:r>
            <a:endParaRPr b="0" i="0" sz="1300" u="none" cap="none" strike="noStrike">
              <a:solidFill>
                <a:schemeClr val="dk1"/>
              </a:solidFill>
              <a:latin typeface="Calibri"/>
              <a:ea typeface="Calibri"/>
              <a:cs typeface="Calibri"/>
              <a:sym typeface="Calibri"/>
            </a:endParaRPr>
          </a:p>
        </p:txBody>
      </p:sp>
      <p:sp>
        <p:nvSpPr>
          <p:cNvPr id="482" name="Google Shape;482;p34"/>
          <p:cNvSpPr/>
          <p:nvPr/>
        </p:nvSpPr>
        <p:spPr>
          <a:xfrm>
            <a:off x="640080" y="292608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Project Leyden</a:t>
            </a:r>
            <a:endParaRPr b="0" i="0" sz="1500" u="none" cap="none" strike="noStrike">
              <a:solidFill>
                <a:schemeClr val="dk1"/>
              </a:solidFill>
              <a:latin typeface="Calibri"/>
              <a:ea typeface="Calibri"/>
              <a:cs typeface="Calibri"/>
              <a:sym typeface="Calibri"/>
            </a:endParaRPr>
          </a:p>
        </p:txBody>
      </p:sp>
      <p:sp>
        <p:nvSpPr>
          <p:cNvPr id="483" name="Google Shape;483;p34"/>
          <p:cNvSpPr/>
          <p:nvPr/>
        </p:nvSpPr>
        <p:spPr>
          <a:xfrm>
            <a:off x="3931925" y="2926073"/>
            <a:ext cx="4867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300"/>
              <a:buFont typeface="Consolas"/>
              <a:buNone/>
            </a:pPr>
            <a:r>
              <a:rPr b="0" i="0" lang="en-US" sz="1300" u="none" cap="none" strike="noStrike">
                <a:solidFill>
                  <a:srgbClr val="0D9488"/>
                </a:solidFill>
                <a:latin typeface="Consolas"/>
                <a:ea typeface="Consolas"/>
                <a:cs typeface="Consolas"/>
                <a:sym typeface="Consolas"/>
              </a:rPr>
              <a:t>openjdk.org/projects/leyden</a:t>
            </a:r>
            <a:endParaRPr b="0" i="0" sz="1300" u="none" cap="none" strike="noStrike">
              <a:solidFill>
                <a:schemeClr val="dk1"/>
              </a:solidFill>
              <a:latin typeface="Calibri"/>
              <a:ea typeface="Calibri"/>
              <a:cs typeface="Calibri"/>
              <a:sym typeface="Calibri"/>
            </a:endParaRPr>
          </a:p>
        </p:txBody>
      </p:sp>
      <p:sp>
        <p:nvSpPr>
          <p:cNvPr id="484" name="Google Shape;484;p34"/>
          <p:cNvSpPr/>
          <p:nvPr/>
        </p:nvSpPr>
        <p:spPr>
          <a:xfrm>
            <a:off x="640080" y="347472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Grafana LGTM</a:t>
            </a:r>
            <a:endParaRPr b="0" i="0" sz="1500" u="none" cap="none" strike="noStrike">
              <a:solidFill>
                <a:schemeClr val="dk1"/>
              </a:solidFill>
              <a:latin typeface="Calibri"/>
              <a:ea typeface="Calibri"/>
              <a:cs typeface="Calibri"/>
              <a:sym typeface="Calibri"/>
            </a:endParaRPr>
          </a:p>
        </p:txBody>
      </p:sp>
      <p:sp>
        <p:nvSpPr>
          <p:cNvPr id="485" name="Google Shape;485;p34"/>
          <p:cNvSpPr/>
          <p:nvPr/>
        </p:nvSpPr>
        <p:spPr>
          <a:xfrm>
            <a:off x="3931925" y="3474713"/>
            <a:ext cx="4867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300"/>
              <a:buFont typeface="Consolas"/>
              <a:buNone/>
            </a:pPr>
            <a:r>
              <a:rPr b="0" i="0" lang="en-US" sz="1300" u="none" cap="none" strike="noStrike">
                <a:solidFill>
                  <a:srgbClr val="0D9488"/>
                </a:solidFill>
                <a:latin typeface="Consolas"/>
                <a:ea typeface="Consolas"/>
                <a:cs typeface="Consolas"/>
                <a:sym typeface="Consolas"/>
              </a:rPr>
              <a:t>github.com/grafana/docker-otel-lgtm</a:t>
            </a:r>
            <a:endParaRPr b="0" i="0" sz="1300" u="none" cap="none" strike="noStrike">
              <a:solidFill>
                <a:schemeClr val="dk1"/>
              </a:solidFill>
              <a:latin typeface="Calibri"/>
              <a:ea typeface="Calibri"/>
              <a:cs typeface="Calibri"/>
              <a:sym typeface="Calibri"/>
            </a:endParaRPr>
          </a:p>
        </p:txBody>
      </p:sp>
      <p:sp>
        <p:nvSpPr>
          <p:cNvPr id="486" name="Google Shape;486;p34"/>
          <p:cNvSpPr/>
          <p:nvPr/>
        </p:nvSpPr>
        <p:spPr>
          <a:xfrm>
            <a:off x="640080" y="402336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OTel Collector</a:t>
            </a:r>
            <a:endParaRPr b="0" i="0" sz="1500" u="none" cap="none" strike="noStrike">
              <a:solidFill>
                <a:schemeClr val="dk1"/>
              </a:solidFill>
              <a:latin typeface="Calibri"/>
              <a:ea typeface="Calibri"/>
              <a:cs typeface="Calibri"/>
              <a:sym typeface="Calibri"/>
            </a:endParaRPr>
          </a:p>
        </p:txBody>
      </p:sp>
      <p:sp>
        <p:nvSpPr>
          <p:cNvPr id="487" name="Google Shape;487;p34"/>
          <p:cNvSpPr/>
          <p:nvPr/>
        </p:nvSpPr>
        <p:spPr>
          <a:xfrm>
            <a:off x="3931925" y="4023354"/>
            <a:ext cx="4867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300"/>
              <a:buFont typeface="Consolas"/>
              <a:buNone/>
            </a:pPr>
            <a:r>
              <a:rPr b="0" i="0" lang="en-US" sz="1300" u="none" cap="none" strike="noStrike">
                <a:solidFill>
                  <a:srgbClr val="0D9488"/>
                </a:solidFill>
                <a:latin typeface="Consolas"/>
                <a:ea typeface="Consolas"/>
                <a:cs typeface="Consolas"/>
                <a:sym typeface="Consolas"/>
              </a:rPr>
              <a:t>github.com/open-telemetry/opentelemetry-collector</a:t>
            </a:r>
            <a:endParaRPr b="0" i="0" sz="1300" u="none" cap="none" strike="noStrike">
              <a:solidFill>
                <a:schemeClr val="dk1"/>
              </a:solidFill>
              <a:latin typeface="Calibri"/>
              <a:ea typeface="Calibri"/>
              <a:cs typeface="Calibri"/>
              <a:sym typeface="Calibri"/>
            </a:endParaRPr>
          </a:p>
        </p:txBody>
      </p:sp>
      <p:sp>
        <p:nvSpPr>
          <p:cNvPr id="488" name="Google Shape;488;p34"/>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489" name="Google Shape;489;p34"/>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94" name="Shape 494"/>
        <p:cNvGrpSpPr/>
        <p:nvPr/>
      </p:nvGrpSpPr>
      <p:grpSpPr>
        <a:xfrm>
          <a:off x="0" y="0"/>
          <a:ext cx="0" cy="0"/>
          <a:chOff x="0" y="0"/>
          <a:chExt cx="0" cy="0"/>
        </a:xfrm>
      </p:grpSpPr>
      <p:sp>
        <p:nvSpPr>
          <p:cNvPr id="495" name="Google Shape;495;p35"/>
          <p:cNvSpPr/>
          <p:nvPr/>
        </p:nvSpPr>
        <p:spPr>
          <a:xfrm>
            <a:off x="4114800" y="914400"/>
            <a:ext cx="365760" cy="365760"/>
          </a:xfrm>
          <a:prstGeom prst="ellipse">
            <a:avLst/>
          </a:pr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5"/>
          <p:cNvSpPr/>
          <p:nvPr/>
        </p:nvSpPr>
        <p:spPr>
          <a:xfrm>
            <a:off x="4572000" y="914400"/>
            <a:ext cx="365760" cy="36576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5"/>
          <p:cNvSpPr/>
          <p:nvPr/>
        </p:nvSpPr>
        <p:spPr>
          <a:xfrm>
            <a:off x="5029200" y="914400"/>
            <a:ext cx="365760" cy="365760"/>
          </a:xfrm>
          <a:prstGeom prst="ellipse">
            <a:avLst/>
          </a:pr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5"/>
          <p:cNvSpPr/>
          <p:nvPr/>
        </p:nvSpPr>
        <p:spPr>
          <a:xfrm>
            <a:off x="457200" y="1737360"/>
            <a:ext cx="822960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7200"/>
              <a:buFont typeface="Calibri"/>
              <a:buNone/>
            </a:pPr>
            <a:r>
              <a:rPr b="1" i="0" lang="en-US" sz="7200" u="none" cap="none" strike="noStrike">
                <a:solidFill>
                  <a:srgbClr val="14B8A6"/>
                </a:solidFill>
                <a:latin typeface="Calibri"/>
                <a:ea typeface="Calibri"/>
                <a:cs typeface="Calibri"/>
                <a:sym typeface="Calibri"/>
              </a:rPr>
              <a:t>Questions?</a:t>
            </a:r>
            <a:endParaRPr b="0" i="0" sz="7200" u="none" cap="none" strike="noStrike">
              <a:solidFill>
                <a:schemeClr val="dk1"/>
              </a:solidFill>
              <a:latin typeface="Calibri"/>
              <a:ea typeface="Calibri"/>
              <a:cs typeface="Calibri"/>
              <a:sym typeface="Calibri"/>
            </a:endParaRPr>
          </a:p>
        </p:txBody>
      </p:sp>
      <p:sp>
        <p:nvSpPr>
          <p:cNvPr id="499" name="Google Shape;499;p35"/>
          <p:cNvSpPr/>
          <p:nvPr/>
        </p:nvSpPr>
        <p:spPr>
          <a:xfrm>
            <a:off x="457200" y="3017520"/>
            <a:ext cx="82296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2800"/>
              <a:buFont typeface="Calibri"/>
              <a:buNone/>
            </a:pPr>
            <a:r>
              <a:rPr b="0" i="1" lang="en-US" sz="2800" u="none" cap="none" strike="noStrike">
                <a:solidFill>
                  <a:srgbClr val="F8FAFC"/>
                </a:solidFill>
                <a:latin typeface="Calibri"/>
                <a:ea typeface="Calibri"/>
                <a:cs typeface="Calibri"/>
                <a:sym typeface="Calibri"/>
              </a:rPr>
              <a:t>Thank you.</a:t>
            </a:r>
            <a:endParaRPr b="0" i="0" sz="2800" u="none" cap="none" strike="noStrike">
              <a:solidFill>
                <a:schemeClr val="dk1"/>
              </a:solidFill>
              <a:latin typeface="Calibri"/>
              <a:ea typeface="Calibri"/>
              <a:cs typeface="Calibri"/>
              <a:sym typeface="Calibri"/>
            </a:endParaRPr>
          </a:p>
        </p:txBody>
      </p:sp>
      <p:sp>
        <p:nvSpPr>
          <p:cNvPr id="500" name="Google Shape;500;p35"/>
          <p:cNvSpPr/>
          <p:nvPr/>
        </p:nvSpPr>
        <p:spPr>
          <a:xfrm>
            <a:off x="457200" y="420624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[Speaker]  ·  [Twitter/X · GitHub · email]</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5" name="Shape 505"/>
        <p:cNvGrpSpPr/>
        <p:nvPr/>
      </p:nvGrpSpPr>
      <p:grpSpPr>
        <a:xfrm>
          <a:off x="0" y="0"/>
          <a:ext cx="0" cy="0"/>
          <a:chOff x="0" y="0"/>
          <a:chExt cx="0" cy="0"/>
        </a:xfrm>
      </p:grpSpPr>
      <p:sp>
        <p:nvSpPr>
          <p:cNvPr id="506" name="Google Shape;506;p36"/>
          <p:cNvSpPr/>
          <p:nvPr/>
        </p:nvSpPr>
        <p:spPr>
          <a:xfrm>
            <a:off x="457200" y="457200"/>
            <a:ext cx="1188720" cy="548640"/>
          </a:xfrm>
          <a:prstGeom prst="rect">
            <a:avLst/>
          </a:pr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6"/>
          <p:cNvSpPr/>
          <p:nvPr/>
        </p:nvSpPr>
        <p:spPr>
          <a:xfrm>
            <a:off x="457200" y="457200"/>
            <a:ext cx="11887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Bonus</a:t>
            </a:r>
            <a:endParaRPr b="0" i="0" sz="1600" u="none" cap="none" strike="noStrike">
              <a:solidFill>
                <a:schemeClr val="dk1"/>
              </a:solidFill>
              <a:latin typeface="Calibri"/>
              <a:ea typeface="Calibri"/>
              <a:cs typeface="Calibri"/>
              <a:sym typeface="Calibri"/>
            </a:endParaRPr>
          </a:p>
        </p:txBody>
      </p:sp>
      <p:sp>
        <p:nvSpPr>
          <p:cNvPr id="508" name="Google Shape;508;p36"/>
          <p:cNvSpPr/>
          <p:nvPr/>
        </p:nvSpPr>
        <p:spPr>
          <a:xfrm>
            <a:off x="1828800" y="365760"/>
            <a:ext cx="6858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600"/>
              <a:buFont typeface="Calibri"/>
              <a:buNone/>
            </a:pPr>
            <a:r>
              <a:rPr b="1" i="0" lang="en-US" sz="2600" u="none" cap="none" strike="noStrike">
                <a:solidFill>
                  <a:srgbClr val="0F172A"/>
                </a:solidFill>
                <a:latin typeface="Calibri"/>
                <a:ea typeface="Calibri"/>
                <a:cs typeface="Calibri"/>
                <a:sym typeface="Calibri"/>
              </a:rPr>
              <a:t>Shenandoah is one flag away on UBI</a:t>
            </a:r>
            <a:endParaRPr b="0" i="0" sz="2600" u="none" cap="none" strike="noStrike">
              <a:solidFill>
                <a:schemeClr val="dk1"/>
              </a:solidFill>
              <a:latin typeface="Calibri"/>
              <a:ea typeface="Calibri"/>
              <a:cs typeface="Calibri"/>
              <a:sym typeface="Calibri"/>
            </a:endParaRPr>
          </a:p>
        </p:txBody>
      </p:sp>
      <p:sp>
        <p:nvSpPr>
          <p:cNvPr id="509" name="Google Shape;509;p36"/>
          <p:cNvSpPr/>
          <p:nvPr/>
        </p:nvSpPr>
        <p:spPr>
          <a:xfrm>
            <a:off x="457200" y="1371600"/>
            <a:ext cx="4023360" cy="320040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6"/>
          <p:cNvSpPr/>
          <p:nvPr/>
        </p:nvSpPr>
        <p:spPr>
          <a:xfrm>
            <a:off x="640080" y="150876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600"/>
              <a:buFont typeface="Calibri"/>
              <a:buNone/>
            </a:pPr>
            <a:r>
              <a:rPr b="1" i="0" lang="en-US" sz="1600" u="none" cap="none" strike="noStrike">
                <a:solidFill>
                  <a:srgbClr val="0D9488"/>
                </a:solidFill>
                <a:latin typeface="Calibri"/>
                <a:ea typeface="Calibri"/>
                <a:cs typeface="Calibri"/>
                <a:sym typeface="Calibri"/>
              </a:rPr>
              <a:t>The story</a:t>
            </a:r>
            <a:endParaRPr b="0" i="0" sz="1600" u="none" cap="none" strike="noStrike">
              <a:solidFill>
                <a:schemeClr val="dk1"/>
              </a:solidFill>
              <a:latin typeface="Calibri"/>
              <a:ea typeface="Calibri"/>
              <a:cs typeface="Calibri"/>
              <a:sym typeface="Calibri"/>
            </a:endParaRPr>
          </a:p>
        </p:txBody>
      </p:sp>
      <p:sp>
        <p:nvSpPr>
          <p:cNvPr id="511" name="Google Shape;511;p36"/>
          <p:cNvSpPr/>
          <p:nvPr/>
        </p:nvSpPr>
        <p:spPr>
          <a:xfrm>
            <a:off x="640080" y="1920240"/>
            <a:ext cx="3657600" cy="25603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Red Hat develops &amp; maintains Shenandoah</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Generational since JDK 21</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Sub-10ms pauses on multi-GB heaps</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Built into UBI9 OpenJDK — already there</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JVM ergonomically picks G1 (we verified)</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Switch with one JVM flag, no rebuild</a:t>
            </a:r>
            <a:endParaRPr b="0" i="0" sz="1300" u="none" cap="none" strike="noStrike">
              <a:solidFill>
                <a:schemeClr val="dk1"/>
              </a:solidFill>
              <a:latin typeface="Calibri"/>
              <a:ea typeface="Calibri"/>
              <a:cs typeface="Calibri"/>
              <a:sym typeface="Calibri"/>
            </a:endParaRPr>
          </a:p>
        </p:txBody>
      </p:sp>
      <p:sp>
        <p:nvSpPr>
          <p:cNvPr id="512" name="Google Shape;512;p36"/>
          <p:cNvSpPr/>
          <p:nvPr/>
        </p:nvSpPr>
        <p:spPr>
          <a:xfrm>
            <a:off x="4663440" y="1371600"/>
            <a:ext cx="4023360" cy="320040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6"/>
          <p:cNvSpPr/>
          <p:nvPr/>
        </p:nvSpPr>
        <p:spPr>
          <a:xfrm>
            <a:off x="4846320" y="150876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600"/>
              <a:buFont typeface="Calibri"/>
              <a:buNone/>
            </a:pPr>
            <a:r>
              <a:rPr b="1" i="0" lang="en-US" sz="1600" u="none" cap="none" strike="noStrike">
                <a:solidFill>
                  <a:srgbClr val="14B8A6"/>
                </a:solidFill>
                <a:latin typeface="Calibri"/>
                <a:ea typeface="Calibri"/>
                <a:cs typeface="Calibri"/>
                <a:sym typeface="Calibri"/>
              </a:rPr>
              <a:t>How</a:t>
            </a:r>
            <a:endParaRPr b="0" i="0" sz="1600" u="none" cap="none" strike="noStrike">
              <a:solidFill>
                <a:schemeClr val="dk1"/>
              </a:solidFill>
              <a:latin typeface="Calibri"/>
              <a:ea typeface="Calibri"/>
              <a:cs typeface="Calibri"/>
              <a:sym typeface="Calibri"/>
            </a:endParaRPr>
          </a:p>
        </p:txBody>
      </p:sp>
      <p:sp>
        <p:nvSpPr>
          <p:cNvPr id="514" name="Google Shape;514;p36"/>
          <p:cNvSpPr/>
          <p:nvPr/>
        </p:nvSpPr>
        <p:spPr>
          <a:xfrm>
            <a:off x="4846320" y="196596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onsolas"/>
              <a:buNone/>
            </a:pPr>
            <a:r>
              <a:rPr b="0" i="0" lang="en-US" sz="1100" u="none" cap="none" strike="noStrike">
                <a:solidFill>
                  <a:srgbClr val="64748B"/>
                </a:solidFill>
                <a:latin typeface="Consolas"/>
                <a:ea typeface="Consolas"/>
                <a:cs typeface="Consolas"/>
                <a:sym typeface="Consolas"/>
              </a:rPr>
              <a:t># Shenandoah</a:t>
            </a:r>
            <a:endParaRPr b="0" i="0" sz="1100" u="none" cap="none" strike="noStrike">
              <a:solidFill>
                <a:schemeClr val="dk1"/>
              </a:solidFill>
              <a:latin typeface="Calibri"/>
              <a:ea typeface="Calibri"/>
              <a:cs typeface="Calibri"/>
              <a:sym typeface="Calibri"/>
            </a:endParaRPr>
          </a:p>
        </p:txBody>
      </p:sp>
      <p:sp>
        <p:nvSpPr>
          <p:cNvPr id="515" name="Google Shape;515;p36"/>
          <p:cNvSpPr/>
          <p:nvPr/>
        </p:nvSpPr>
        <p:spPr>
          <a:xfrm>
            <a:off x="4846320" y="224028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onsolas"/>
              <a:buNone/>
            </a:pPr>
            <a:r>
              <a:rPr b="0" i="0" lang="en-US" sz="1400" u="none" cap="none" strike="noStrike">
                <a:solidFill>
                  <a:srgbClr val="14B8A6"/>
                </a:solidFill>
                <a:latin typeface="Consolas"/>
                <a:ea typeface="Consolas"/>
                <a:cs typeface="Consolas"/>
                <a:sym typeface="Consolas"/>
              </a:rPr>
              <a:t>-XX:+UseShenandoahGC</a:t>
            </a:r>
            <a:endParaRPr b="0" i="0" sz="1400" u="none" cap="none" strike="noStrike">
              <a:solidFill>
                <a:schemeClr val="dk1"/>
              </a:solidFill>
              <a:latin typeface="Calibri"/>
              <a:ea typeface="Calibri"/>
              <a:cs typeface="Calibri"/>
              <a:sym typeface="Calibri"/>
            </a:endParaRPr>
          </a:p>
        </p:txBody>
      </p:sp>
      <p:sp>
        <p:nvSpPr>
          <p:cNvPr id="516" name="Google Shape;516;p36"/>
          <p:cNvSpPr/>
          <p:nvPr/>
        </p:nvSpPr>
        <p:spPr>
          <a:xfrm>
            <a:off x="4846320" y="278892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onsolas"/>
              <a:buNone/>
            </a:pPr>
            <a:r>
              <a:rPr b="0" i="0" lang="en-US" sz="1100" u="none" cap="none" strike="noStrike">
                <a:solidFill>
                  <a:srgbClr val="64748B"/>
                </a:solidFill>
                <a:latin typeface="Consolas"/>
                <a:ea typeface="Consolas"/>
                <a:cs typeface="Consolas"/>
                <a:sym typeface="Consolas"/>
              </a:rPr>
              <a:t># G1 (default)</a:t>
            </a:r>
            <a:endParaRPr b="0" i="0" sz="1100" u="none" cap="none" strike="noStrike">
              <a:solidFill>
                <a:schemeClr val="dk1"/>
              </a:solidFill>
              <a:latin typeface="Calibri"/>
              <a:ea typeface="Calibri"/>
              <a:cs typeface="Calibri"/>
              <a:sym typeface="Calibri"/>
            </a:endParaRPr>
          </a:p>
        </p:txBody>
      </p:sp>
      <p:sp>
        <p:nvSpPr>
          <p:cNvPr id="517" name="Google Shape;517;p36"/>
          <p:cNvSpPr/>
          <p:nvPr/>
        </p:nvSpPr>
        <p:spPr>
          <a:xfrm>
            <a:off x="4846320" y="306324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00"/>
              <a:buFont typeface="Consolas"/>
              <a:buNone/>
            </a:pPr>
            <a:r>
              <a:rPr b="0" i="0" lang="en-US" sz="1400" u="none" cap="none" strike="noStrike">
                <a:solidFill>
                  <a:srgbClr val="F8FAFC"/>
                </a:solidFill>
                <a:latin typeface="Consolas"/>
                <a:ea typeface="Consolas"/>
                <a:cs typeface="Consolas"/>
                <a:sym typeface="Consolas"/>
              </a:rPr>
              <a:t>-XX:+UseG1GC</a:t>
            </a:r>
            <a:endParaRPr b="0" i="0" sz="1400" u="none" cap="none" strike="noStrike">
              <a:solidFill>
                <a:schemeClr val="dk1"/>
              </a:solidFill>
              <a:latin typeface="Calibri"/>
              <a:ea typeface="Calibri"/>
              <a:cs typeface="Calibri"/>
              <a:sym typeface="Calibri"/>
            </a:endParaRPr>
          </a:p>
        </p:txBody>
      </p:sp>
      <p:sp>
        <p:nvSpPr>
          <p:cNvPr id="518" name="Google Shape;518;p36"/>
          <p:cNvSpPr/>
          <p:nvPr/>
        </p:nvSpPr>
        <p:spPr>
          <a:xfrm>
            <a:off x="4846320" y="361188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onsolas"/>
              <a:buNone/>
            </a:pPr>
            <a:r>
              <a:rPr b="0" i="0" lang="en-US" sz="1100" u="none" cap="none" strike="noStrike">
                <a:solidFill>
                  <a:srgbClr val="64748B"/>
                </a:solidFill>
                <a:latin typeface="Consolas"/>
                <a:ea typeface="Consolas"/>
                <a:cs typeface="Consolas"/>
                <a:sym typeface="Consolas"/>
              </a:rPr>
              <a:t># ZGC (low-pause alt)</a:t>
            </a:r>
            <a:endParaRPr b="0" i="0" sz="1100" u="none" cap="none" strike="noStrike">
              <a:solidFill>
                <a:schemeClr val="dk1"/>
              </a:solidFill>
              <a:latin typeface="Calibri"/>
              <a:ea typeface="Calibri"/>
              <a:cs typeface="Calibri"/>
              <a:sym typeface="Calibri"/>
            </a:endParaRPr>
          </a:p>
        </p:txBody>
      </p:sp>
      <p:sp>
        <p:nvSpPr>
          <p:cNvPr id="519" name="Google Shape;519;p36"/>
          <p:cNvSpPr/>
          <p:nvPr/>
        </p:nvSpPr>
        <p:spPr>
          <a:xfrm>
            <a:off x="4846320" y="388620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00"/>
              <a:buFont typeface="Consolas"/>
              <a:buNone/>
            </a:pPr>
            <a:r>
              <a:rPr b="0" i="0" lang="en-US" sz="1400" u="none" cap="none" strike="noStrike">
                <a:solidFill>
                  <a:srgbClr val="F8FAFC"/>
                </a:solidFill>
                <a:latin typeface="Consolas"/>
                <a:ea typeface="Consolas"/>
                <a:cs typeface="Consolas"/>
                <a:sym typeface="Consolas"/>
              </a:rPr>
              <a:t>-XX:+UseZGC</a:t>
            </a:r>
            <a:endParaRPr b="0" i="0" sz="1400" u="none" cap="none" strike="noStrike">
              <a:solidFill>
                <a:schemeClr val="dk1"/>
              </a:solidFill>
              <a:latin typeface="Calibri"/>
              <a:ea typeface="Calibri"/>
              <a:cs typeface="Calibri"/>
              <a:sym typeface="Calibri"/>
            </a:endParaRPr>
          </a:p>
        </p:txBody>
      </p:sp>
      <p:sp>
        <p:nvSpPr>
          <p:cNvPr id="520" name="Google Shape;520;p36"/>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521" name="Google Shape;521;p36"/>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28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6" name="Shape 526"/>
        <p:cNvGrpSpPr/>
        <p:nvPr/>
      </p:nvGrpSpPr>
      <p:grpSpPr>
        <a:xfrm>
          <a:off x="0" y="0"/>
          <a:ext cx="0" cy="0"/>
          <a:chOff x="0" y="0"/>
          <a:chExt cx="0" cy="0"/>
        </a:xfrm>
      </p:grpSpPr>
      <p:sp>
        <p:nvSpPr>
          <p:cNvPr id="527" name="Google Shape;527;p37"/>
          <p:cNvSpPr/>
          <p:nvPr/>
        </p:nvSpPr>
        <p:spPr>
          <a:xfrm>
            <a:off x="457200" y="457200"/>
            <a:ext cx="1188600" cy="548700"/>
          </a:xfrm>
          <a:prstGeom prst="rect">
            <a:avLst/>
          </a:pr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7"/>
          <p:cNvSpPr/>
          <p:nvPr/>
        </p:nvSpPr>
        <p:spPr>
          <a:xfrm>
            <a:off x="457200" y="457200"/>
            <a:ext cx="11886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Bonus</a:t>
            </a:r>
            <a:endParaRPr b="0" i="0" sz="1600" u="none" cap="none" strike="noStrike">
              <a:solidFill>
                <a:schemeClr val="dk1"/>
              </a:solidFill>
              <a:latin typeface="Calibri"/>
              <a:ea typeface="Calibri"/>
              <a:cs typeface="Calibri"/>
              <a:sym typeface="Calibri"/>
            </a:endParaRPr>
          </a:p>
        </p:txBody>
      </p:sp>
      <p:sp>
        <p:nvSpPr>
          <p:cNvPr id="529" name="Google Shape;529;p37"/>
          <p:cNvSpPr/>
          <p:nvPr/>
        </p:nvSpPr>
        <p:spPr>
          <a:xfrm>
            <a:off x="1828800" y="365760"/>
            <a:ext cx="68580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600"/>
              <a:buFont typeface="Calibri"/>
              <a:buNone/>
            </a:pPr>
            <a:r>
              <a:rPr b="1" i="0" lang="en-US" sz="2600" u="none" cap="none" strike="noStrike">
                <a:solidFill>
                  <a:srgbClr val="0F172A"/>
                </a:solidFill>
                <a:latin typeface="Calibri"/>
                <a:ea typeface="Calibri"/>
                <a:cs typeface="Calibri"/>
                <a:sym typeface="Calibri"/>
              </a:rPr>
              <a:t>Shenandoah is one flag away on UBI</a:t>
            </a:r>
            <a:endParaRPr b="0" i="0" sz="2600" u="none" cap="none" strike="noStrike">
              <a:solidFill>
                <a:schemeClr val="dk1"/>
              </a:solidFill>
              <a:latin typeface="Calibri"/>
              <a:ea typeface="Calibri"/>
              <a:cs typeface="Calibri"/>
              <a:sym typeface="Calibri"/>
            </a:endParaRPr>
          </a:p>
        </p:txBody>
      </p:sp>
      <p:sp>
        <p:nvSpPr>
          <p:cNvPr id="530" name="Google Shape;530;p37"/>
          <p:cNvSpPr/>
          <p:nvPr/>
        </p:nvSpPr>
        <p:spPr>
          <a:xfrm>
            <a:off x="457200" y="475488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531" name="Google Shape;531;p37"/>
          <p:cNvSpPr/>
          <p:nvPr/>
        </p:nvSpPr>
        <p:spPr>
          <a:xfrm>
            <a:off x="8229600" y="4754880"/>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28</a:t>
            </a:r>
            <a:endParaRPr b="0" i="0" sz="900" u="none" cap="none" strike="noStrike">
              <a:solidFill>
                <a:schemeClr val="dk1"/>
              </a:solidFill>
              <a:latin typeface="Calibri"/>
              <a:ea typeface="Calibri"/>
              <a:cs typeface="Calibri"/>
              <a:sym typeface="Calibri"/>
            </a:endParaRPr>
          </a:p>
        </p:txBody>
      </p:sp>
      <p:pic>
        <p:nvPicPr>
          <p:cNvPr id="532" name="Google Shape;532;p37"/>
          <p:cNvPicPr preferRelativeResize="0"/>
          <p:nvPr/>
        </p:nvPicPr>
        <p:blipFill>
          <a:blip r:embed="rId3">
            <a:alphaModFix/>
          </a:blip>
          <a:stretch>
            <a:fillRect/>
          </a:stretch>
        </p:blipFill>
        <p:spPr>
          <a:xfrm>
            <a:off x="1402975" y="1249549"/>
            <a:ext cx="6338032" cy="35053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7" name="Shape 537"/>
        <p:cNvGrpSpPr/>
        <p:nvPr/>
      </p:nvGrpSpPr>
      <p:grpSpPr>
        <a:xfrm>
          <a:off x="0" y="0"/>
          <a:ext cx="0" cy="0"/>
          <a:chOff x="0" y="0"/>
          <a:chExt cx="0" cy="0"/>
        </a:xfrm>
      </p:grpSpPr>
      <p:sp>
        <p:nvSpPr>
          <p:cNvPr id="538" name="Google Shape;538;p38"/>
          <p:cNvSpPr/>
          <p:nvPr/>
        </p:nvSpPr>
        <p:spPr>
          <a:xfrm>
            <a:off x="457200" y="457200"/>
            <a:ext cx="1188720" cy="548640"/>
          </a:xfrm>
          <a:prstGeom prst="rect">
            <a:avLst/>
          </a:pr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8"/>
          <p:cNvSpPr/>
          <p:nvPr/>
        </p:nvSpPr>
        <p:spPr>
          <a:xfrm>
            <a:off x="457200" y="457200"/>
            <a:ext cx="11887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Bonus</a:t>
            </a:r>
            <a:endParaRPr b="0" i="0" sz="1600" u="none" cap="none" strike="noStrike">
              <a:solidFill>
                <a:schemeClr val="dk1"/>
              </a:solidFill>
              <a:latin typeface="Calibri"/>
              <a:ea typeface="Calibri"/>
              <a:cs typeface="Calibri"/>
              <a:sym typeface="Calibri"/>
            </a:endParaRPr>
          </a:p>
        </p:txBody>
      </p:sp>
      <p:sp>
        <p:nvSpPr>
          <p:cNvPr id="540" name="Google Shape;540;p38"/>
          <p:cNvSpPr/>
          <p:nvPr/>
        </p:nvSpPr>
        <p:spPr>
          <a:xfrm>
            <a:off x="1828800" y="365760"/>
            <a:ext cx="6858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600"/>
              <a:buFont typeface="Calibri"/>
              <a:buNone/>
            </a:pPr>
            <a:r>
              <a:rPr b="1" i="0" lang="en-US" sz="2600" u="none" cap="none" strike="noStrike">
                <a:solidFill>
                  <a:srgbClr val="0F172A"/>
                </a:solidFill>
                <a:latin typeface="Calibri"/>
                <a:ea typeface="Calibri"/>
                <a:cs typeface="Calibri"/>
                <a:sym typeface="Calibri"/>
              </a:rPr>
              <a:t>Reproduce on your laptop</a:t>
            </a:r>
            <a:endParaRPr b="0" i="0" sz="2600" u="none" cap="none" strike="noStrike">
              <a:solidFill>
                <a:schemeClr val="dk1"/>
              </a:solidFill>
              <a:latin typeface="Calibri"/>
              <a:ea typeface="Calibri"/>
              <a:cs typeface="Calibri"/>
              <a:sym typeface="Calibri"/>
            </a:endParaRPr>
          </a:p>
        </p:txBody>
      </p:sp>
      <p:sp>
        <p:nvSpPr>
          <p:cNvPr id="541" name="Google Shape;541;p38"/>
          <p:cNvSpPr/>
          <p:nvPr/>
        </p:nvSpPr>
        <p:spPr>
          <a:xfrm>
            <a:off x="457200" y="1371600"/>
            <a:ext cx="8229600" cy="320040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8"/>
          <p:cNvSpPr/>
          <p:nvPr/>
        </p:nvSpPr>
        <p:spPr>
          <a:xfrm>
            <a:off x="731520" y="1508760"/>
            <a:ext cx="7680960" cy="2926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4B8A6"/>
              </a:buClr>
              <a:buSzPts val="1300"/>
              <a:buFont typeface="Consolas"/>
              <a:buNone/>
            </a:pPr>
            <a:r>
              <a:rPr b="0" i="1" lang="en-US" sz="1300" u="none" cap="none" strike="noStrike">
                <a:solidFill>
                  <a:srgbClr val="14B8A6"/>
                </a:solidFill>
                <a:latin typeface="Consolas"/>
                <a:ea typeface="Consolas"/>
                <a:cs typeface="Consolas"/>
                <a:sym typeface="Consolas"/>
              </a:rPr>
              <a:t># Prereqs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8FAFC"/>
              </a:buClr>
              <a:buSzPts val="1300"/>
              <a:buFont typeface="Consolas"/>
              <a:buNone/>
            </a:pPr>
            <a:r>
              <a:rPr b="0" i="0" lang="en-US" sz="1300" u="none" cap="none" strike="noStrike">
                <a:solidFill>
                  <a:srgbClr val="F8FAFC"/>
                </a:solidFill>
                <a:latin typeface="Consolas"/>
                <a:ea typeface="Consolas"/>
                <a:cs typeface="Consolas"/>
                <a:sym typeface="Consolas"/>
              </a:rPr>
              <a:t>Fedora 43+</a:t>
            </a:r>
            <a:r>
              <a:rPr lang="en-US" sz="1300">
                <a:solidFill>
                  <a:srgbClr val="F8FAFC"/>
                </a:solidFill>
                <a:latin typeface="Consolas"/>
                <a:ea typeface="Consolas"/>
                <a:cs typeface="Consolas"/>
                <a:sym typeface="Consolas"/>
              </a:rPr>
              <a:t> / Mac OS</a:t>
            </a:r>
            <a:r>
              <a:rPr b="0" i="0" lang="en-US" sz="1300" u="none" cap="none" strike="noStrike">
                <a:solidFill>
                  <a:srgbClr val="F8FAFC"/>
                </a:solidFill>
                <a:latin typeface="Consolas"/>
                <a:ea typeface="Consolas"/>
                <a:cs typeface="Consolas"/>
                <a:sym typeface="Consolas"/>
              </a:rPr>
              <a:t>, podman 5.x, JDK 25 (Temurin)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8FAFC"/>
              </a:buClr>
              <a:buSzPts val="1300"/>
              <a:buFont typeface="Consolas"/>
              <a:buNone/>
            </a:pPr>
            <a:r>
              <a:rPr b="0" i="0" lang="en-US" sz="1300" u="none" cap="none" strike="noStrike">
                <a:solidFill>
                  <a:srgbClr val="F8FAFC"/>
                </a:solidFill>
                <a:latin typeface="Consolas"/>
                <a:ea typeface="Consolas"/>
                <a:cs typeface="Consolas"/>
                <a:sym typeface="Consolas"/>
              </a:rPr>
              <a:t>git clone github.com/patterncatalyst/otel-observability-demos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8FAFC"/>
              </a:buClr>
              <a:buSzPts val="1300"/>
              <a:buFont typeface="Consolas"/>
              <a:buNone/>
            </a:pPr>
            <a:r>
              <a:rPr b="0" i="0" lang="en-US" sz="1300" u="none" cap="none" strike="noStrike">
                <a:solidFill>
                  <a:srgbClr val="F8FAFC"/>
                </a:solidFill>
                <a:latin typeface="Consolas"/>
                <a:ea typeface="Consolas"/>
                <a:cs typeface="Consolas"/>
                <a:sym typeface="Consolas"/>
              </a:rPr>
              <a:t>cd otel-observability-demos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4B8A6"/>
              </a:buClr>
              <a:buSzPts val="1300"/>
              <a:buFont typeface="Consolas"/>
              <a:buNone/>
            </a:pPr>
            <a:r>
              <a:rPr b="0" i="1" lang="en-US" sz="1300" u="none" cap="none" strike="noStrike">
                <a:solidFill>
                  <a:srgbClr val="14B8A6"/>
                </a:solidFill>
                <a:latin typeface="Consolas"/>
                <a:ea typeface="Consolas"/>
                <a:cs typeface="Consolas"/>
                <a:sym typeface="Consolas"/>
              </a:rPr>
              <a:t># Run any demo end-to-end</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8FAFC"/>
              </a:buClr>
              <a:buSzPts val="1300"/>
              <a:buFont typeface="Consolas"/>
              <a:buNone/>
            </a:pPr>
            <a:r>
              <a:rPr b="0" i="0" lang="en-US" sz="1300" u="none" cap="none" strike="noStrike">
                <a:solidFill>
                  <a:srgbClr val="F8FAFC"/>
                </a:solidFill>
                <a:latin typeface="Consolas"/>
                <a:ea typeface="Consolas"/>
                <a:cs typeface="Consolas"/>
                <a:sym typeface="Consolas"/>
              </a:rPr>
              <a:t>cd demo-01-three-signals &amp;&amp; ./demo.sh</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8FAFC"/>
              </a:buClr>
              <a:buSzPts val="1300"/>
              <a:buFont typeface="Consolas"/>
              <a:buNone/>
            </a:pPr>
            <a:r>
              <a:rPr b="0" i="0" lang="en-US" sz="1300" u="none" cap="none" strike="noStrike">
                <a:solidFill>
                  <a:srgbClr val="F8FAFC"/>
                </a:solidFill>
                <a:latin typeface="Consolas"/>
                <a:ea typeface="Consolas"/>
                <a:cs typeface="Consolas"/>
                <a:sym typeface="Consolas"/>
              </a:rPr>
              <a:t>cd demo-02-cardinality &amp;&amp; ./demo.sh</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8FAFC"/>
              </a:buClr>
              <a:buSzPts val="1300"/>
              <a:buFont typeface="Consolas"/>
              <a:buNone/>
            </a:pPr>
            <a:r>
              <a:rPr b="0" i="0" lang="en-US" sz="1300" u="none" cap="none" strike="noStrike">
                <a:solidFill>
                  <a:srgbClr val="F8FAFC"/>
                </a:solidFill>
                <a:latin typeface="Consolas"/>
                <a:ea typeface="Consolas"/>
                <a:cs typeface="Consolas"/>
                <a:sym typeface="Consolas"/>
              </a:rPr>
              <a:t>cd demo-03-tail-sampling &amp;&amp; ./demo.sh</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8FAFC"/>
              </a:buClr>
              <a:buSzPts val="1300"/>
              <a:buFont typeface="Consolas"/>
              <a:buNone/>
            </a:pPr>
            <a:r>
              <a:rPr b="0" i="0" lang="en-US" sz="1300" u="none" cap="none" strike="noStrike">
                <a:solidFill>
                  <a:srgbClr val="F8FAFC"/>
                </a:solidFill>
                <a:latin typeface="Consolas"/>
                <a:ea typeface="Consolas"/>
                <a:cs typeface="Consolas"/>
                <a:sym typeface="Consolas"/>
              </a:rPr>
              <a:t>cd demo-04-jvm-metrics-shenandoah &amp;&amp; ./demo.sh</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4B8A6"/>
              </a:buClr>
              <a:buSzPts val="1300"/>
              <a:buFont typeface="Consolas"/>
              <a:buNone/>
            </a:pPr>
            <a:r>
              <a:rPr b="0" i="1" lang="en-US" sz="1300" u="none" cap="none" strike="noStrike">
                <a:solidFill>
                  <a:srgbClr val="14B8A6"/>
                </a:solidFill>
                <a:latin typeface="Consolas"/>
                <a:ea typeface="Consolas"/>
                <a:cs typeface="Consolas"/>
                <a:sym typeface="Consolas"/>
              </a:rPr>
              <a:t># The headline: 8-way cold start comparison (~10 minutes)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8FAFC"/>
              </a:buClr>
              <a:buSzPts val="1300"/>
              <a:buFont typeface="Consolas"/>
              <a:buNone/>
            </a:pPr>
            <a:r>
              <a:rPr b="0" i="0" lang="en-US" sz="1300" u="none" cap="none" strike="noStrike">
                <a:solidFill>
                  <a:srgbClr val="F8FAFC"/>
                </a:solidFill>
                <a:latin typeface="Consolas"/>
                <a:ea typeface="Consolas"/>
                <a:cs typeface="Consolas"/>
                <a:sym typeface="Consolas"/>
              </a:rPr>
              <a:t>cd demo-05-aot-coldstart &amp;&amp; ./demo.sh time-all</a:t>
            </a:r>
            <a:endParaRPr b="0" i="0" sz="1300" u="none" cap="none" strike="noStrike">
              <a:solidFill>
                <a:schemeClr val="dk1"/>
              </a:solidFill>
              <a:latin typeface="Calibri"/>
              <a:ea typeface="Calibri"/>
              <a:cs typeface="Calibri"/>
              <a:sym typeface="Calibri"/>
            </a:endParaRPr>
          </a:p>
        </p:txBody>
      </p:sp>
      <p:sp>
        <p:nvSpPr>
          <p:cNvPr id="543" name="Google Shape;543;p38"/>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544" name="Google Shape;544;p38"/>
          <p:cNvSpPr/>
          <p:nvPr/>
        </p:nvSpPr>
        <p:spPr>
          <a:xfrm>
            <a:off x="8229600" y="475488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29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9" name="Shape 549"/>
        <p:cNvGrpSpPr/>
        <p:nvPr/>
      </p:nvGrpSpPr>
      <p:grpSpPr>
        <a:xfrm>
          <a:off x="0" y="0"/>
          <a:ext cx="0" cy="0"/>
          <a:chOff x="0" y="0"/>
          <a:chExt cx="0" cy="0"/>
        </a:xfrm>
      </p:grpSpPr>
      <p:sp>
        <p:nvSpPr>
          <p:cNvPr id="550" name="Google Shape;550;p39"/>
          <p:cNvSpPr/>
          <p:nvPr/>
        </p:nvSpPr>
        <p:spPr>
          <a:xfrm>
            <a:off x="457200" y="457200"/>
            <a:ext cx="1188600" cy="548700"/>
          </a:xfrm>
          <a:prstGeom prst="rect">
            <a:avLst/>
          </a:pr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9"/>
          <p:cNvSpPr/>
          <p:nvPr/>
        </p:nvSpPr>
        <p:spPr>
          <a:xfrm>
            <a:off x="457200" y="457200"/>
            <a:ext cx="11886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Bonus</a:t>
            </a:r>
            <a:endParaRPr b="0" i="0" sz="1600" u="none" cap="none" strike="noStrike">
              <a:solidFill>
                <a:schemeClr val="dk1"/>
              </a:solidFill>
              <a:latin typeface="Calibri"/>
              <a:ea typeface="Calibri"/>
              <a:cs typeface="Calibri"/>
              <a:sym typeface="Calibri"/>
            </a:endParaRPr>
          </a:p>
        </p:txBody>
      </p:sp>
      <p:sp>
        <p:nvSpPr>
          <p:cNvPr id="552" name="Google Shape;552;p39"/>
          <p:cNvSpPr/>
          <p:nvPr/>
        </p:nvSpPr>
        <p:spPr>
          <a:xfrm>
            <a:off x="1828800" y="365760"/>
            <a:ext cx="68580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600"/>
              <a:buFont typeface="Calibri"/>
              <a:buNone/>
            </a:pPr>
            <a:r>
              <a:rPr b="1" lang="en-US" sz="2600">
                <a:solidFill>
                  <a:srgbClr val="0F172A"/>
                </a:solidFill>
                <a:latin typeface="Calibri"/>
                <a:ea typeface="Calibri"/>
                <a:cs typeface="Calibri"/>
                <a:sym typeface="Calibri"/>
              </a:rPr>
              <a:t>Kubernetes Framing</a:t>
            </a:r>
            <a:endParaRPr b="0" i="0" sz="2600" u="none" cap="none" strike="noStrike">
              <a:solidFill>
                <a:schemeClr val="dk1"/>
              </a:solidFill>
              <a:latin typeface="Calibri"/>
              <a:ea typeface="Calibri"/>
              <a:cs typeface="Calibri"/>
              <a:sym typeface="Calibri"/>
            </a:endParaRPr>
          </a:p>
        </p:txBody>
      </p:sp>
      <p:sp>
        <p:nvSpPr>
          <p:cNvPr id="553" name="Google Shape;553;p39"/>
          <p:cNvSpPr/>
          <p:nvPr/>
        </p:nvSpPr>
        <p:spPr>
          <a:xfrm>
            <a:off x="457200" y="475488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Three Signals, One Story</a:t>
            </a:r>
            <a:endParaRPr b="0" i="0" sz="900" u="none" cap="none" strike="noStrike">
              <a:solidFill>
                <a:schemeClr val="dk1"/>
              </a:solidFill>
              <a:latin typeface="Calibri"/>
              <a:ea typeface="Calibri"/>
              <a:cs typeface="Calibri"/>
              <a:sym typeface="Calibri"/>
            </a:endParaRPr>
          </a:p>
        </p:txBody>
      </p:sp>
      <p:sp>
        <p:nvSpPr>
          <p:cNvPr id="554" name="Google Shape;554;p39"/>
          <p:cNvSpPr/>
          <p:nvPr/>
        </p:nvSpPr>
        <p:spPr>
          <a:xfrm>
            <a:off x="8229600" y="4754880"/>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29</a:t>
            </a:r>
            <a:endParaRPr b="0" i="0" sz="900" u="none" cap="none" strike="noStrike">
              <a:solidFill>
                <a:schemeClr val="dk1"/>
              </a:solidFill>
              <a:latin typeface="Calibri"/>
              <a:ea typeface="Calibri"/>
              <a:cs typeface="Calibri"/>
              <a:sym typeface="Calibri"/>
            </a:endParaRPr>
          </a:p>
        </p:txBody>
      </p:sp>
      <p:pic>
        <p:nvPicPr>
          <p:cNvPr id="555" name="Google Shape;555;p39"/>
          <p:cNvPicPr preferRelativeResize="0"/>
          <p:nvPr/>
        </p:nvPicPr>
        <p:blipFill>
          <a:blip r:embed="rId3">
            <a:alphaModFix/>
          </a:blip>
          <a:stretch>
            <a:fillRect/>
          </a:stretch>
        </p:blipFill>
        <p:spPr>
          <a:xfrm>
            <a:off x="1282550" y="1097150"/>
            <a:ext cx="6578899" cy="36577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