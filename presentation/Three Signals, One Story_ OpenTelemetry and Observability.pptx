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D3A2C5-4D92-4AAF-8EA4-4A743951FC3B}">
  <a:tblStyle styleId="{2FD3A2C5-4D92-4AAF-8EA4-4A743951FC3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the dots. The three signals — traces, metrics, logs — are the canonical taxonomy of observability. Most observability tooling treats them as separate problems. This talk argues they're one problem, and OpenTelemetry is the unification.</a:t>
            </a:r>
            <a:br>
              <a:rPr lang="en-US"/>
            </a:br>
            <a:br>
              <a:rPr lang="en-US"/>
            </a:br>
            <a:r>
              <a:rPr lang="en-US"/>
              <a:t>Quick intro: name, role, why I care about observability cost (not just observability).</a:t>
            </a:r>
            <a:br>
              <a:rPr lang="en-US"/>
            </a:br>
            <a:br>
              <a:rPr lang="en-US"/>
            </a:br>
            <a:r>
              <a:rPr lang="en-US"/>
              <a:t>Energy: warm, conversational. We have a lot to cover; don't open slowly.</a:t>
            </a:r>
            <a:br>
              <a:rPr lang="en-US"/>
            </a:br>
            <a:br>
              <a:rPr lang="en-US"/>
            </a:br>
            <a:r>
              <a:rPr lang="en-US"/>
              <a:t>Time check at this slide: 0:00 / 35 min.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columns: the problem, the pitch, the proof.</a:t>
            </a:r>
            <a:br>
              <a:rPr lang="en-US"/>
            </a:br>
            <a:br>
              <a:rPr lang="en-US"/>
            </a:br>
            <a:r>
              <a:rPr lang="en-US"/>
              <a:t>Don't read every bullet. Pick one from each column to anchor: "trace IDs don't reach the logs" (left) → "cross-signal correlation by trace_id" (middle) → "all three signals, one trace_id" (right). That's the throughline of the whole talk.</a:t>
            </a:r>
            <a:br>
              <a:rPr lang="en-US"/>
            </a:br>
            <a:br>
              <a:rPr lang="en-US"/>
            </a:br>
            <a:r>
              <a:rPr lang="en-US"/>
              <a:t>OpenTelemetry's promises are mostly true. The practitioner's question is: at what cost? That's what we'll measure.</a:t>
            </a:r>
            <a:br>
              <a:rPr lang="en-US"/>
            </a:br>
            <a:br>
              <a:rPr lang="en-US"/>
            </a:br>
            <a:r>
              <a:rPr lang="en-US"/>
              <a:t>[OPTIONAL: insert real-world story here — an outage you've seen where signals didn't correlate. 30s anecdote.]</a:t>
            </a:r>
            <a:br>
              <a:rPr lang="en-US"/>
            </a:br>
            <a:br>
              <a:rPr lang="en-US"/>
            </a:br>
            <a:r>
              <a:rPr lang="en-US"/>
              <a:t>Time: ~2 min.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Roadmap. Don't read all five — gesture down the list and call out: "this builds. We'll start with the foundation, the trace_id flowing through everything, and end somewhere most observability talks don't go: measuring what observability actually costs at startup."</a:t>
            </a:r>
            <a:br>
              <a:rPr lang="en-US"/>
            </a:br>
            <a:br>
              <a:rPr lang="en-US"/>
            </a:br>
            <a:r>
              <a:rPr lang="en-US"/>
              <a:t>Demos 01-04 are about correctness — making observability work. Demo 05 is about cost — what you pay for the work.</a:t>
            </a:r>
            <a:br>
              <a:rPr lang="en-US"/>
            </a:br>
            <a:br>
              <a:rPr lang="en-US"/>
            </a:br>
            <a:r>
              <a:rPr lang="en-US"/>
              <a:t>Reproducibility commitment: all five demos run on a laptop with podman. No cloud account, no credentials, no kubernetes cluster. The full Grafana/Tempo/Mimir/Loki/Collector stack is one container.</a:t>
            </a:r>
            <a:br>
              <a:rPr lang="en-US"/>
            </a:br>
            <a:br>
              <a:rPr lang="en-US"/>
            </a:br>
            <a:r>
              <a:rPr lang="en-US"/>
              <a:t>[OPTIONAL: show GitHub repo URL on screen briefly]</a:t>
            </a:r>
            <a:br>
              <a:rPr lang="en-US"/>
            </a:br>
            <a:br>
              <a:rPr lang="en-US"/>
            </a:br>
            <a:r>
              <a:rPr lang="en-US"/>
              <a:t>Time: ~3 min.</a:t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minutes here. Brief but make sure each color sticks — purple traces, amber metrics, cyan logs. These colors recur across the whole deck and on the dashboards we'll see in the demos.</a:t>
            </a:r>
            <a:br>
              <a:rPr lang="en-US"/>
            </a:br>
            <a:br>
              <a:rPr lang="en-US"/>
            </a:br>
            <a:r>
              <a:rPr lang="en-US"/>
              <a:t>Each signal has a strength and a failure mode:</a:t>
            </a:r>
            <a:br>
              <a:rPr lang="en-US"/>
            </a:br>
            <a:r>
              <a:rPr lang="en-US"/>
              <a:t>- Traces are amazing for finding bottlenecks but you can't keep all of them. Sampling is mandatory.</a:t>
            </a:r>
            <a:br>
              <a:rPr lang="en-US"/>
            </a:br>
            <a:r>
              <a:rPr lang="en-US"/>
              <a:t>- Metrics are cheap and great for alerts, but adding the wrong label to a metric can take down your TSDB. Demo 02 is the cardinality bomb.</a:t>
            </a:r>
            <a:br>
              <a:rPr lang="en-US"/>
            </a:br>
            <a:r>
              <a:rPr lang="en-US"/>
              <a:t>- Logs have the highest fidelity but the volume can crush your storage budget. </a:t>
            </a:r>
            <a:br>
              <a:rPr lang="en-US"/>
            </a:br>
            <a:br>
              <a:rPr lang="en-US"/>
            </a:br>
            <a:r>
              <a:rPr lang="en-US"/>
              <a:t>What we want is the strengths of all three correlated by one trace_id, with the cost trade-offs explicit.</a:t>
            </a:r>
            <a:br>
              <a:rPr lang="en-US"/>
            </a:br>
            <a:br>
              <a:rPr lang="en-US"/>
            </a:br>
            <a:r>
              <a:rPr lang="en-US"/>
              <a:t>Time: ~5 min.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b1bb68cb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db1bb68cb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right. The application doesn't change shape; it emits OTLP. From there, instrumentation choices vary: a Java agent that rewrites bytecode at startup, or an SDK linked into the app at compile time.</a:t>
            </a:r>
            <a:br>
              <a:rPr lang="en-US"/>
            </a:br>
            <a:br>
              <a:rPr lang="en-US"/>
            </a:br>
            <a:r>
              <a:rPr lang="en-US"/>
              <a:t>Both produce OTLP. OTLP is HTTP/protobuf or gRPC, port 4318 by convention. Protocol-level standardization is what makes vendor neutrality real — you can swap Tempo for Jaeger, Mimir for Cortex, Loki for Elasticsearch, without touching the application.</a:t>
            </a:r>
            <a:br>
              <a:rPr lang="en-US"/>
            </a:br>
            <a:br>
              <a:rPr lang="en-US"/>
            </a:br>
            <a:r>
              <a:rPr lang="en-US"/>
              <a:t>The Collector is the underrated piece. It's where you do filtering, sampling, aggregation, redaction, routing, format translation. Demo 02 and Demo 03 both live in the Collector.</a:t>
            </a:r>
            <a:br>
              <a:rPr lang="en-US"/>
            </a:br>
            <a:br>
              <a:rPr lang="en-US"/>
            </a:br>
            <a:r>
              <a:rPr lang="en-US"/>
              <a:t>Important context for the rest of the talk: as of November 2025, Spring Boot 4 ships a native OpenTelemetry starter. You no longer need the Java agent for Spring Boot apps — there's a real SDK alternative now. Demo 05 measures both.</a:t>
            </a:r>
            <a:br>
              <a:rPr lang="en-US"/>
            </a:br>
            <a:br>
              <a:rPr lang="en-US"/>
            </a:br>
            <a:r>
              <a:rPr lang="en-US"/>
              <a:t>Time: ~7 min.</a:t>
            </a:r>
            <a:endParaRPr/>
          </a:p>
        </p:txBody>
      </p:sp>
      <p:sp>
        <p:nvSpPr>
          <p:cNvPr id="112" name="Google Shape;112;g3db1bb68cb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b1bb68cb5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db1bb68cb5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right. The application doesn't change shape; it emits OTLP. From there, instrumentation choices vary: a Java agent that rewrites bytecode at startup, or an SDK linked into the app at compile time.</a:t>
            </a:r>
            <a:br>
              <a:rPr lang="en-US"/>
            </a:br>
            <a:br>
              <a:rPr lang="en-US"/>
            </a:br>
            <a:r>
              <a:rPr lang="en-US"/>
              <a:t>Both produce OTLP. OTLP is HTTP/protobuf or gRPC, port 4318 by convention. Protocol-level standardization is what makes vendor neutrality real — you can swap Tempo for Jaeger, Mimir for Cortex, Loki for Elasticsearch, without touching the application.</a:t>
            </a:r>
            <a:br>
              <a:rPr lang="en-US"/>
            </a:br>
            <a:br>
              <a:rPr lang="en-US"/>
            </a:br>
            <a:r>
              <a:rPr lang="en-US"/>
              <a:t>The Collector is the underrated piece. It's where you do filtering, sampling, aggregation, redaction, routing, format translation. Demo 02 and Demo 03 both live in the Collector.</a:t>
            </a:r>
            <a:br>
              <a:rPr lang="en-US"/>
            </a:br>
            <a:br>
              <a:rPr lang="en-US"/>
            </a:br>
            <a:r>
              <a:rPr lang="en-US"/>
              <a:t>Important context for the rest of the talk: as of November 2025, Spring Boot 4 ships a native OpenTelemetry starter. You no longer need the Java agent for Spring Boot apps — there's a real SDK alternative now. Demo 05 measures both.</a:t>
            </a:r>
            <a:br>
              <a:rPr lang="en-US"/>
            </a:br>
            <a:br>
              <a:rPr lang="en-US"/>
            </a:br>
            <a:r>
              <a:rPr lang="en-US"/>
              <a:t>Time: ~7 min.</a:t>
            </a:r>
            <a:endParaRPr/>
          </a:p>
        </p:txBody>
      </p:sp>
      <p:sp>
        <p:nvSpPr>
          <p:cNvPr id="124" name="Google Shape;124;g3db1bb68cb5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 overview. Grafana's `otel-lgtm` image is the underrated hero of this talk — Grafana plus Loki, Grafana plus Tempo, Grafana plus Mimir, all bundled. One container, ~600 MB.</a:t>
            </a:r>
            <a:br>
              <a:rPr lang="en-US"/>
            </a:br>
            <a:br>
              <a:rPr lang="en-US"/>
            </a:br>
            <a:r>
              <a:rPr lang="en-US"/>
              <a:t>Each demo runs in its own compose file with its own port range (3005, 3006, etc.) so I can leave one demo running while bringing up the next.</a:t>
            </a:r>
            <a:br>
              <a:rPr lang="en-US"/>
            </a:br>
            <a:br>
              <a:rPr lang="en-US"/>
            </a:br>
            <a:r>
              <a:rPr lang="en-US"/>
              <a:t>If anyone in the audience wants to follow along: clone the repo, `cd demo-01-three-signals`, `./demo.sh`. That's the entire on-ramp.</a:t>
            </a:r>
            <a:br>
              <a:rPr lang="en-US"/>
            </a:br>
            <a:br>
              <a:rPr lang="en-US"/>
            </a:br>
            <a:r>
              <a:rPr lang="en-US"/>
              <a:t>[SCREENSHOT placeholder: Grafana home page with the three datasources visible — Tempo, Mimir, Loki — to anchor the visual before we go live.]</a:t>
            </a:r>
            <a:br>
              <a:rPr lang="en-US"/>
            </a:br>
            <a:br>
              <a:rPr lang="en-US"/>
            </a:br>
            <a:r>
              <a:rPr lang="en-US"/>
              <a:t>Time: ~9 min. (Foundation done. Now the demos.)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b1bb68cb5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db1bb68cb5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 overview. Grafana's `otel-lgtm` image is the underrated hero of this talk — Grafana plus Loki, Grafana plus Tempo, Grafana plus Mimir, all bundled. One container, ~600 MB.</a:t>
            </a:r>
            <a:br>
              <a:rPr lang="en-US"/>
            </a:br>
            <a:br>
              <a:rPr lang="en-US"/>
            </a:br>
            <a:r>
              <a:rPr lang="en-US"/>
              <a:t>Each demo runs in its own compose file with its own port range (3005, 3006, etc.) so I can leave one demo running while bringing up the next.</a:t>
            </a:r>
            <a:br>
              <a:rPr lang="en-US"/>
            </a:br>
            <a:br>
              <a:rPr lang="en-US"/>
            </a:br>
            <a:r>
              <a:rPr lang="en-US"/>
              <a:t>If anyone in the audience wants to follow along: clone the repo, `cd demo-01-three-signals`, `./demo.sh`. That's the entire on-ramp.</a:t>
            </a:r>
            <a:br>
              <a:rPr lang="en-US"/>
            </a:br>
            <a:br>
              <a:rPr lang="en-US"/>
            </a:br>
            <a:r>
              <a:rPr lang="en-US"/>
              <a:t>[SCREENSHOT placeholder: Grafana home page with the three datasources visible — Tempo, Mimir, Loki — to anchor the visual before we go live.]</a:t>
            </a:r>
            <a:br>
              <a:rPr lang="en-US"/>
            </a:br>
            <a:br>
              <a:rPr lang="en-US"/>
            </a:br>
            <a:r>
              <a:rPr lang="en-US"/>
              <a:t>Time: ~9 min. (Foundation done. Now the demos.)</a:t>
            </a:r>
            <a:endParaRPr/>
          </a:p>
        </p:txBody>
      </p:sp>
      <p:sp>
        <p:nvSpPr>
          <p:cNvPr id="161" name="Google Shape;161;g3db1bb68cb5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Setup for Demo 01. The simplest demo, but it's the foundation everything else builds on.</a:t>
            </a:r>
            <a:br>
              <a:rPr lang="en-US"/>
            </a:br>
            <a:br>
              <a:rPr lang="en-US"/>
            </a:br>
            <a:r>
              <a:rPr lang="en-US"/>
              <a:t>Key concept: trace_id is a 128-bit identifier. The agent generates it for the inbound HTTP request and propagates it down through the call stack. Logback's MDC picks it up. Micrometer attaches it to metric exemplars.</a:t>
            </a:r>
            <a:br>
              <a:rPr lang="en-US"/>
            </a:br>
            <a:br>
              <a:rPr lang="en-US"/>
            </a:br>
            <a:r>
              <a:rPr lang="en-US"/>
              <a:t>What you're going to see: I hit the service with a single curl. Then in Grafana I find a slow trace in Tempo. From the trace, I jump to the logs for the same trace_id with one click. From the logs, I jump to a metric chart showing the same request's latency.</a:t>
            </a:r>
            <a:br>
              <a:rPr lang="en-US"/>
            </a:br>
            <a:br>
              <a:rPr lang="en-US"/>
            </a:br>
            <a:r>
              <a:rPr lang="en-US"/>
              <a:t>If this works, we have a unified observability platform. If it doesn't, we're back to grep across servers.</a:t>
            </a:r>
            <a:br>
              <a:rPr lang="en-US"/>
            </a:br>
            <a:br>
              <a:rPr lang="en-US"/>
            </a:br>
            <a:r>
              <a:rPr lang="en-US"/>
              <a:t>Time: ~10 min.</a:t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b1bb68cb5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b1bb68cb5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Setup for Demo 01. The simplest demo, but it's the foundation everything else builds on.</a:t>
            </a:r>
            <a:br>
              <a:rPr lang="en-US"/>
            </a:br>
            <a:br>
              <a:rPr lang="en-US"/>
            </a:br>
            <a:r>
              <a:rPr lang="en-US"/>
              <a:t>Key concept: trace_id is a 128-bit identifier. The agent generates it for the inbound HTTP request and propagates it down through the call stack. Logback's MDC picks it up. Micrometer attaches it to metric exemplars.</a:t>
            </a:r>
            <a:br>
              <a:rPr lang="en-US"/>
            </a:br>
            <a:br>
              <a:rPr lang="en-US"/>
            </a:br>
            <a:r>
              <a:rPr lang="en-US"/>
              <a:t>What you're going to see: I hit the service with a single curl. Then in Grafana I find a slow trace in Tempo. From the trace, I jump to the logs for the same trace_id with one click. From the logs, I jump to a metric chart showing the same request's latency.</a:t>
            </a:r>
            <a:br>
              <a:rPr lang="en-US"/>
            </a:br>
            <a:br>
              <a:rPr lang="en-US"/>
            </a:br>
            <a:r>
              <a:rPr lang="en-US"/>
              <a:t>If this works, we have a unified observability platform. If it doesn't, we're back to grep across servers.</a:t>
            </a:r>
            <a:br>
              <a:rPr lang="en-US"/>
            </a:br>
            <a:br>
              <a:rPr lang="en-US"/>
            </a:br>
            <a:r>
              <a:rPr lang="en-US"/>
              <a:t>Time: ~10 min.</a:t>
            </a:r>
            <a:endParaRPr/>
          </a:p>
        </p:txBody>
      </p:sp>
      <p:sp>
        <p:nvSpPr>
          <p:cNvPr id="183" name="Google Shape;183;g3db1bb68cb5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DEMO. Estimate: 4 minutes.</a:t>
            </a:r>
            <a:br>
              <a:rPr lang="en-US"/>
            </a:br>
            <a:br>
              <a:rPr lang="en-US"/>
            </a:br>
            <a:r>
              <a:rPr lang="en-US"/>
              <a:t>Demo flow:</a:t>
            </a:r>
            <a:br>
              <a:rPr lang="en-US"/>
            </a:br>
            <a:r>
              <a:rPr lang="en-US"/>
              <a:t>1. `./demo.sh` brings up the service + lgtm + Collector. Wait for green checkmarks.</a:t>
            </a:r>
            <a:br>
              <a:rPr lang="en-US"/>
            </a:br>
            <a:r>
              <a:rPr lang="en-US"/>
              <a:t>2. Hit `/api/hello` 3-4 times in the terminal. Show response.</a:t>
            </a:r>
            <a:br>
              <a:rPr lang="en-US"/>
            </a:br>
            <a:r>
              <a:rPr lang="en-US"/>
              <a:t>3. Open Grafana (localhost:3001). Show the dashboard.</a:t>
            </a:r>
            <a:br>
              <a:rPr lang="en-US"/>
            </a:br>
            <a:r>
              <a:rPr lang="en-US"/>
              <a:t>4. Pick a trace in Tempo. Show the span tree. Highlight trace_id.</a:t>
            </a:r>
            <a:br>
              <a:rPr lang="en-US"/>
            </a:br>
            <a:r>
              <a:rPr lang="en-US"/>
              <a:t>5. Click "Logs for this trace" → Loki shows correlated log lines.</a:t>
            </a:r>
            <a:br>
              <a:rPr lang="en-US"/>
            </a:br>
            <a:r>
              <a:rPr lang="en-US"/>
              <a:t>6. Click on a metric exemplar dot → jumps back to the trace.</a:t>
            </a:r>
            <a:br>
              <a:rPr lang="en-US"/>
            </a:br>
            <a:br>
              <a:rPr lang="en-US"/>
            </a:br>
            <a:r>
              <a:rPr lang="en-US"/>
              <a:t>If something fails:</a:t>
            </a:r>
            <a:br>
              <a:rPr lang="en-US"/>
            </a:br>
            <a:r>
              <a:rPr lang="en-US"/>
              <a:t>- Service didn't come up: `podman logs demo01-app | tail -30`</a:t>
            </a:r>
            <a:br>
              <a:rPr lang="en-US"/>
            </a:br>
            <a:r>
              <a:rPr lang="en-US"/>
              <a:t>- Grafana datasource red: wait 60s, refresh; provisioning is async</a:t>
            </a:r>
            <a:br>
              <a:rPr lang="en-US"/>
            </a:br>
            <a:r>
              <a:rPr lang="en-US"/>
              <a:t>- No traces yet: send 5 more requests, the Collector batches</a:t>
            </a:r>
            <a:br>
              <a:rPr lang="en-US"/>
            </a:br>
            <a:br>
              <a:rPr lang="en-US"/>
            </a:br>
            <a:r>
              <a:rPr lang="en-US"/>
              <a:t>Fallback: pre-recorded screencap on USB stick if everything is on fire.</a:t>
            </a:r>
            <a:br>
              <a:rPr lang="en-US"/>
            </a:br>
            <a:br>
              <a:rPr lang="en-US"/>
            </a:br>
            <a:r>
              <a:rPr lang="en-US"/>
              <a:t>[SCREENSHOT placeholder: Grafana trace view with logs panel below — backup in case the live demo fails.]</a:t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After the live demo, take 30 seconds here to anchor the takeaway: correlation is a *platform* property. You can't bolt it on after an incident.</a:t>
            </a:r>
            <a:br>
              <a:rPr lang="en-US"/>
            </a:br>
            <a:br>
              <a:rPr lang="en-US"/>
            </a:br>
            <a:r>
              <a:rPr lang="en-US"/>
              <a:t>Foreshadow Demo 05: the agent that made all this work has a runtime cost we'll measure later.</a:t>
            </a:r>
            <a:br>
              <a:rPr lang="en-US"/>
            </a:br>
            <a:br>
              <a:rPr lang="en-US"/>
            </a:br>
            <a:r>
              <a:rPr lang="en-US"/>
              <a:t>Foreshadow Demos 02 and 03: the Collector that we just glossed over is where the next two demos live.</a:t>
            </a:r>
            <a:br>
              <a:rPr lang="en-US"/>
            </a:br>
            <a:br>
              <a:rPr lang="en-US"/>
            </a:br>
            <a:r>
              <a:rPr lang="en-US"/>
              <a:t>Time: ~14 min.</a:t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02 setup. The trap: you have a metric `http_requests_total`. You add a label `user_id` because it sounded useful in standup. Now your metric has one time series per user. Active users? That's your series count. TSDB falls over at 10M series; many fall over at 1M.</a:t>
            </a:r>
            <a:br>
              <a:rPr lang="en-US"/>
            </a:br>
            <a:br>
              <a:rPr lang="en-US"/>
            </a:br>
            <a:r>
              <a:rPr lang="en-US"/>
              <a:t>What we'll see live: an app that emits a metric with bounded labels (~100 series). Then we flip a feature flag that adds user_id as a label. Watch series count climb in real time.</a:t>
            </a:r>
            <a:br>
              <a:rPr lang="en-US"/>
            </a:br>
            <a:br>
              <a:rPr lang="en-US"/>
            </a:br>
            <a:r>
              <a:rPr lang="en-US"/>
              <a:t>Then we watch the Collector's `transform` processor strip the offending label before it reaches Mimir. Same problem, fixed at the right architectural layer.</a:t>
            </a:r>
            <a:br>
              <a:rPr lang="en-US"/>
            </a:br>
            <a:br>
              <a:rPr lang="en-US"/>
            </a:br>
            <a:r>
              <a:rPr lang="en-US"/>
              <a:t>Time: ~14 min.</a:t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b1bb68cb5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db1bb68cb5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02 setup. The trap: you have a metric `http_requests_total`. You add a label `user_id` because it sounded useful in standup. Now your metric has one time series per user. Active users? That's your series count. TSDB falls over at 10M series; many fall over at 1M.</a:t>
            </a:r>
            <a:br>
              <a:rPr lang="en-US"/>
            </a:br>
            <a:br>
              <a:rPr lang="en-US"/>
            </a:br>
            <a:r>
              <a:rPr lang="en-US"/>
              <a:t>What we'll see live: an app that emits a metric with bounded labels (~100 series). Then we flip a feature flag that adds user_id as a label. Watch series count climb in real time.</a:t>
            </a:r>
            <a:br>
              <a:rPr lang="en-US"/>
            </a:br>
            <a:br>
              <a:rPr lang="en-US"/>
            </a:br>
            <a:r>
              <a:rPr lang="en-US"/>
              <a:t>Then we watch the Collector's `transform` processor strip the offending label before it reaches Mimir. Same problem, fixed at the right architectural layer.</a:t>
            </a:r>
            <a:br>
              <a:rPr lang="en-US"/>
            </a:br>
            <a:br>
              <a:rPr lang="en-US"/>
            </a:br>
            <a:r>
              <a:rPr lang="en-US"/>
              <a:t>Time: ~14 min.</a:t>
            </a:r>
            <a:endParaRPr/>
          </a:p>
        </p:txBody>
      </p:sp>
      <p:sp>
        <p:nvSpPr>
          <p:cNvPr id="226" name="Google Shape;226;g3db1bb68cb5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DEMO. Estimate: 3-4 minutes.</a:t>
            </a:r>
            <a:br>
              <a:rPr lang="en-US"/>
            </a:br>
            <a:br>
              <a:rPr lang="en-US"/>
            </a:br>
            <a:r>
              <a:rPr lang="en-US"/>
              <a:t>Demo flow:</a:t>
            </a:r>
            <a:br>
              <a:rPr lang="en-US"/>
            </a:br>
            <a:r>
              <a:rPr lang="en-US"/>
              <a:t>1. `./demo.sh` brings up the stack and starts low-card load (100 unique requests).</a:t>
            </a:r>
            <a:br>
              <a:rPr lang="en-US"/>
            </a:br>
            <a:r>
              <a:rPr lang="en-US"/>
              <a:t>2. Show Mimir's series count metric: ~100 series. Stable.</a:t>
            </a:r>
            <a:br>
              <a:rPr lang="en-US"/>
            </a:br>
            <a:r>
              <a:rPr lang="en-US"/>
              <a:t>3. Send a `POST /toggle-user-label` to flip the feature flag.</a:t>
            </a:r>
            <a:br>
              <a:rPr lang="en-US"/>
            </a:br>
            <a:r>
              <a:rPr lang="en-US"/>
              <a:t>4. Send 10,000 requests with unique user IDs. Watch series count climb.</a:t>
            </a:r>
            <a:br>
              <a:rPr lang="en-US"/>
            </a:br>
            <a:r>
              <a:rPr lang="en-US"/>
              <a:t>5. Mimir starts complaining about scrape limits.</a:t>
            </a:r>
            <a:br>
              <a:rPr lang="en-US"/>
            </a:br>
            <a:r>
              <a:rPr lang="en-US"/>
              <a:t>6. Apply the Collector config that strips `user_id` label. Reload.</a:t>
            </a:r>
            <a:br>
              <a:rPr lang="en-US"/>
            </a:br>
            <a:r>
              <a:rPr lang="en-US"/>
              <a:t>7. Series count plateaus. Crisis averted.</a:t>
            </a:r>
            <a:br>
              <a:rPr lang="en-US"/>
            </a:br>
            <a:br>
              <a:rPr lang="en-US"/>
            </a:br>
            <a:r>
              <a:rPr lang="en-US"/>
              <a:t>Pacing: drive sustained traffic for 90+ seconds before pivoting. Internal scrape interval is 60s — need 2 samples for rate() to look right.</a:t>
            </a:r>
            <a:br>
              <a:rPr lang="en-US"/>
            </a:br>
            <a:br>
              <a:rPr lang="en-US"/>
            </a:br>
            <a:r>
              <a:rPr lang="en-US"/>
              <a:t>[SCREENSHOT placeholder: Mimir series count graph showing the climb-and-plateau pattern.]</a:t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Recap. The lesson is architectural, not technical: high-cardinality data is for traces, where it's queryable. Metrics are for aggregates.</a:t>
            </a:r>
            <a:br>
              <a:rPr lang="en-US"/>
            </a:br>
            <a:br>
              <a:rPr lang="en-US"/>
            </a:br>
            <a:r>
              <a:rPr lang="en-US"/>
              <a:t>The Collector pattern matters: enforce the limit at the edge of your platform, not in the storage layer at 3 AM.</a:t>
            </a:r>
            <a:br>
              <a:rPr lang="en-US"/>
            </a:br>
            <a:br>
              <a:rPr lang="en-US"/>
            </a:br>
            <a:r>
              <a:rPr lang="en-US"/>
              <a:t>Time: ~18 min.</a:t>
            </a:r>
            <a:endParaRPr/>
          </a:p>
        </p:txBody>
      </p:sp>
      <p:sp>
        <p:nvSpPr>
          <p:cNvPr id="245" name="Google Shape;2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03 setup. The problem: at scale you can't keep every trace. Head sampling ("keep 10% randomly") is cheap but stupid — you might drop the slow requests and keep all the fast ones.</a:t>
            </a:r>
            <a:br>
              <a:rPr lang="en-US"/>
            </a:br>
            <a:br>
              <a:rPr lang="en-US"/>
            </a:br>
            <a:r>
              <a:rPr lang="en-US"/>
              <a:t>Tail sampling waits until the trace completes, then decides based on properties: was it slow? Did it error? Did it touch a sensitive endpoint? Keep all the interesting ones, drop a fraction of the boring ones.</a:t>
            </a:r>
            <a:br>
              <a:rPr lang="en-US"/>
            </a:br>
            <a:br>
              <a:rPr lang="en-US"/>
            </a:br>
            <a:r>
              <a:rPr lang="en-US"/>
              <a:t>The cost: tail sampling needs the full trace in memory. The Collector buffers spans for 30-60 seconds. That's the trade-off.</a:t>
            </a:r>
            <a:br>
              <a:rPr lang="en-US"/>
            </a:br>
            <a:br>
              <a:rPr lang="en-US"/>
            </a:br>
            <a:r>
              <a:rPr lang="en-US"/>
              <a:t>Time: ~18 min.</a:t>
            </a:r>
            <a:endParaRPr/>
          </a:p>
        </p:txBody>
      </p:sp>
      <p:sp>
        <p:nvSpPr>
          <p:cNvPr id="257" name="Google Shape;25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b1bb68cb5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db1bb68cb5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03 setup. The problem: at scale you can't keep every trace. Head sampling ("keep 10% randomly") is cheap but stupid — you might drop the slow requests and keep all the fast ones.</a:t>
            </a:r>
            <a:br>
              <a:rPr lang="en-US"/>
            </a:br>
            <a:br>
              <a:rPr lang="en-US"/>
            </a:br>
            <a:r>
              <a:rPr lang="en-US"/>
              <a:t>Tail sampling waits until the trace completes, then decides based on properties: was it slow? Did it error? Did it touch a sensitive endpoint? Keep all the interesting ones, drop a fraction of the boring ones.</a:t>
            </a:r>
            <a:br>
              <a:rPr lang="en-US"/>
            </a:br>
            <a:br>
              <a:rPr lang="en-US"/>
            </a:br>
            <a:r>
              <a:rPr lang="en-US"/>
              <a:t>The cost: tail sampling needs the full trace in memory. The Collector buffers spans for 30-60 seconds. That's the trade-off.</a:t>
            </a:r>
            <a:br>
              <a:rPr lang="en-US"/>
            </a:br>
            <a:br>
              <a:rPr lang="en-US"/>
            </a:br>
            <a:r>
              <a:rPr lang="en-US"/>
              <a:t>Time: ~18 min.</a:t>
            </a:r>
            <a:endParaRPr/>
          </a:p>
        </p:txBody>
      </p:sp>
      <p:sp>
        <p:nvSpPr>
          <p:cNvPr id="269" name="Google Shape;269;g3db1bb68cb5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DEMO. Estimate: 3-4 minutes.</a:t>
            </a:r>
            <a:br>
              <a:rPr lang="en-US"/>
            </a:br>
            <a:br>
              <a:rPr lang="en-US"/>
            </a:br>
            <a:r>
              <a:rPr lang="en-US"/>
              <a:t>Demo flow:</a:t>
            </a:r>
            <a:br>
              <a:rPr lang="en-US"/>
            </a:br>
            <a:r>
              <a:rPr lang="en-US"/>
              <a:t>1. `./demo.sh` brings up Collector with tail_sampling configured.</a:t>
            </a:r>
            <a:br>
              <a:rPr lang="en-US"/>
            </a:br>
            <a:r>
              <a:rPr lang="en-US"/>
              <a:t>2. Show the policy in collector-config.yaml: 100% slow + errors, 1% fast successes.</a:t>
            </a:r>
            <a:br>
              <a:rPr lang="en-US"/>
            </a:br>
            <a:r>
              <a:rPr lang="en-US"/>
              <a:t>3. Run load: 95% fast/successful, 5% slow or erroring.</a:t>
            </a:r>
            <a:br>
              <a:rPr lang="en-US"/>
            </a:br>
            <a:r>
              <a:rPr lang="en-US"/>
              <a:t>4. Tempo trace count: total ingested vs. total kept.</a:t>
            </a:r>
            <a:br>
              <a:rPr lang="en-US"/>
            </a:br>
            <a:r>
              <a:rPr lang="en-US"/>
              <a:t>5. Spot-check that all the slow traces are present, and ~1% of fast ones.</a:t>
            </a:r>
            <a:br>
              <a:rPr lang="en-US"/>
            </a:br>
            <a:br>
              <a:rPr lang="en-US"/>
            </a:br>
            <a:r>
              <a:rPr lang="en-US"/>
              <a:t>Watch the latency: traces appear in Tempo ~30s after they complete (the buffer window). Don't pivot too fast or it looks like nothing's happening.</a:t>
            </a:r>
            <a:br>
              <a:rPr lang="en-US"/>
            </a:br>
            <a:br>
              <a:rPr lang="en-US"/>
            </a:br>
            <a:r>
              <a:rPr lang="en-US"/>
              <a:t>[SCREENSHOT placeholder: Collector dashboard showing total received vs. total exported, with the policy decision breakdown.]</a:t>
            </a:r>
            <a:endParaRPr/>
          </a:p>
        </p:txBody>
      </p:sp>
      <p:sp>
        <p:nvSpPr>
          <p:cNvPr id="280" name="Google Shape;2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Recap.</a:t>
            </a:r>
            <a:br>
              <a:rPr lang="en-US"/>
            </a:br>
            <a:br>
              <a:rPr lang="en-US"/>
            </a:br>
            <a:r>
              <a:rPr lang="en-US"/>
              <a:t>The mental model: the Collector becomes a circuit breaker for your observability data. You decide what survives. The application doesn't have to know.</a:t>
            </a:r>
            <a:br>
              <a:rPr lang="en-US"/>
            </a:br>
            <a:br>
              <a:rPr lang="en-US"/>
            </a:br>
            <a:r>
              <a:rPr lang="en-US"/>
              <a:t>Time: ~22 min.</a:t>
            </a:r>
            <a:endParaRPr/>
          </a:p>
        </p:txBody>
      </p:sp>
      <p:sp>
        <p:nvSpPr>
          <p:cNvPr id="288" name="Google Shape;28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04 setup. JVM metrics are the test case where observability moves from "nice to have" to "how do you debug production at all."</a:t>
            </a:r>
            <a:br>
              <a:rPr lang="en-US"/>
            </a:br>
            <a:br>
              <a:rPr lang="en-US"/>
            </a:br>
            <a:r>
              <a:rPr lang="en-US"/>
              <a:t>What we'll show: same app, same load, three different garbage collectors. Each leaves a different shape on the dashboard. You can identify the GC from the chart without being told.</a:t>
            </a:r>
            <a:br>
              <a:rPr lang="en-US"/>
            </a:br>
            <a:br>
              <a:rPr lang="en-US"/>
            </a:br>
            <a:r>
              <a:rPr lang="en-US"/>
              <a:t>Why it matters: GC choice is an operational decision that you can verify with telemetry. Don't pick a GC because of a blog post; pick it because you measured it in your environment.</a:t>
            </a:r>
            <a:br>
              <a:rPr lang="en-US"/>
            </a:br>
            <a:br>
              <a:rPr lang="en-US"/>
            </a:br>
            <a:r>
              <a:rPr lang="en-US"/>
              <a:t>Time: ~22 min.</a:t>
            </a:r>
            <a:endParaRPr/>
          </a:p>
        </p:txBody>
      </p:sp>
      <p:sp>
        <p:nvSpPr>
          <p:cNvPr id="300" name="Google Shape;30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b1bb68cb5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db1bb68cb5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04 setup. JVM metrics are the test case where observability moves from "nice to have" to "how do you debug production at all."</a:t>
            </a:r>
            <a:br>
              <a:rPr lang="en-US"/>
            </a:br>
            <a:br>
              <a:rPr lang="en-US"/>
            </a:br>
            <a:r>
              <a:rPr lang="en-US"/>
              <a:t>What we'll show: same app, same load, three different garbage collectors. Each leaves a different shape on the dashboard. You can identify the GC from the chart without being told.</a:t>
            </a:r>
            <a:br>
              <a:rPr lang="en-US"/>
            </a:br>
            <a:br>
              <a:rPr lang="en-US"/>
            </a:br>
            <a:r>
              <a:rPr lang="en-US"/>
              <a:t>Why it matters: GC choice is an operational decision that you can verify with telemetry. Don't pick a GC because of a blog post; pick it because you measured it in your environment.</a:t>
            </a:r>
            <a:br>
              <a:rPr lang="en-US"/>
            </a:br>
            <a:br>
              <a:rPr lang="en-US"/>
            </a:br>
            <a:r>
              <a:rPr lang="en-US"/>
              <a:t>Time: ~22 min.</a:t>
            </a:r>
            <a:endParaRPr/>
          </a:p>
        </p:txBody>
      </p:sp>
      <p:sp>
        <p:nvSpPr>
          <p:cNvPr id="312" name="Google Shape;312;g3db1bb68cb5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DEMO. Estimate: 4 minutes.</a:t>
            </a:r>
            <a:br>
              <a:rPr lang="en-US"/>
            </a:br>
            <a:br>
              <a:rPr lang="en-US"/>
            </a:br>
            <a:r>
              <a:rPr lang="en-US"/>
              <a:t>Demo flow:</a:t>
            </a:r>
            <a:br>
              <a:rPr lang="en-US"/>
            </a:br>
            <a:r>
              <a:rPr lang="en-US"/>
              <a:t>1. `./demo.sh` runs the same app three times, swapping the GC flag each time.</a:t>
            </a:r>
            <a:br>
              <a:rPr lang="en-US"/>
            </a:br>
            <a:r>
              <a:rPr lang="en-US"/>
              <a:t>2. After each run, Grafana dashboard shows: heap usage, GC frequency, pause durations.</a:t>
            </a:r>
            <a:br>
              <a:rPr lang="en-US"/>
            </a:br>
            <a:r>
              <a:rPr lang="en-US"/>
              <a:t>3. Side-by-side comparison panel at the end.</a:t>
            </a:r>
            <a:br>
              <a:rPr lang="en-US"/>
            </a:br>
            <a:r>
              <a:rPr lang="en-US"/>
              <a:t>4. Point out the visible differences: G1 has occasional 50-100ms pauses, Shenandoah and ZGC stay under 10ms.</a:t>
            </a:r>
            <a:br>
              <a:rPr lang="en-US"/>
            </a:br>
            <a:br>
              <a:rPr lang="en-US"/>
            </a:br>
            <a:r>
              <a:rPr lang="en-US"/>
              <a:t>Pre-restart Grafana 60+ seconds before showing the dashboard — provisioning is async after the container reports started.</a:t>
            </a:r>
            <a:br>
              <a:rPr lang="en-US"/>
            </a:br>
            <a:br>
              <a:rPr lang="en-US"/>
            </a:br>
            <a:r>
              <a:rPr lang="en-US"/>
              <a:t>Hard browser refresh (Ctrl+Shift+R) after switching dashboards — Grafana caches panel definitions.</a:t>
            </a:r>
            <a:br>
              <a:rPr lang="en-US"/>
            </a:br>
            <a:br>
              <a:rPr lang="en-US"/>
            </a:br>
            <a:r>
              <a:rPr lang="en-US"/>
              <a:t>[SCREENSHOT placeholder: Three-GC comparison dashboard at end of demo, showing distinct pause profiles.]</a:t>
            </a:r>
            <a:endParaRPr/>
          </a:p>
        </p:txBody>
      </p:sp>
      <p:sp>
        <p:nvSpPr>
          <p:cNvPr id="323" name="Google Shape;32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Recap. The point is empirical: don't guess about GC. Measure.</a:t>
            </a:r>
            <a:br>
              <a:rPr lang="en-US"/>
            </a:br>
            <a:br>
              <a:rPr lang="en-US"/>
            </a:br>
            <a:r>
              <a:rPr lang="en-US"/>
              <a:t>Note for accuracy (we verified this in prep): UBI9 OpenJDK ergonomically picks G1 by default on every variant we tested (17, 21, 25; both builder and runtime). Shenandoah is *available* — Red Hat compiles it in — it's just not selected by JVM ergonomics. One flag activates it.</a:t>
            </a:r>
            <a:br>
              <a:rPr lang="en-US"/>
            </a:br>
            <a:br>
              <a:rPr lang="en-US"/>
            </a:br>
            <a:r>
              <a:rPr lang="en-US"/>
              <a:t>Time: ~26 min.</a:t>
            </a:r>
            <a:endParaRPr/>
          </a:p>
        </p:txBody>
      </p:sp>
      <p:sp>
        <p:nvSpPr>
          <p:cNvPr id="331" name="Google Shape;33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problem: a typical Spring Boot app on JDK 21 took 5-8 seconds to boot. That's fine for long-running services, but it's an eternity for serverless or scale-from-zero workloads.</a:t>
            </a:r>
            <a:br>
              <a:rPr lang="en-US"/>
            </a:br>
            <a:br>
              <a:rPr lang="en-US"/>
            </a:br>
            <a:r>
              <a:rPr lang="en-US"/>
              <a:t>Project Leyden is the JDK's response. Started years ago, productized in JDK 24/25. The big shipped feature is JEP 514 — AOT cache. Cache classloading work and JIT profiles to disk during a training run; reuse them at startup.</a:t>
            </a:r>
            <a:br>
              <a:rPr lang="en-US"/>
            </a:br>
            <a:br>
              <a:rPr lang="en-US"/>
            </a:br>
            <a:r>
              <a:rPr lang="en-US"/>
              <a:t>Spring Boot 4 also has its own AOT layer that pre-computes bean factory state at build time. Combined, they should reduce startup substantially.</a:t>
            </a:r>
            <a:br>
              <a:rPr lang="en-US"/>
            </a:br>
            <a:br>
              <a:rPr lang="en-US"/>
            </a:br>
            <a:r>
              <a:rPr lang="en-US"/>
              <a:t>We're going to measure exactly how much.</a:t>
            </a:r>
            <a:br>
              <a:rPr lang="en-US"/>
            </a:br>
            <a:br>
              <a:rPr lang="en-US"/>
            </a:br>
            <a:r>
              <a:rPr lang="en-US"/>
              <a:t>Time: ~26 min.</a:t>
            </a:r>
            <a:endParaRPr/>
          </a:p>
        </p:txBody>
      </p:sp>
      <p:sp>
        <p:nvSpPr>
          <p:cNvPr id="343" name="Google Shape;34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pipeline. Four Docker stages.</a:t>
            </a:r>
            <a:br>
              <a:rPr lang="en-US"/>
            </a:br>
            <a:br>
              <a:rPr lang="en-US"/>
            </a:br>
            <a:r>
              <a:rPr lang="en-US"/>
              <a:t>1. Build: standard mvn package, produces Spring Boot fat JAR.</a:t>
            </a:r>
            <a:br>
              <a:rPr lang="en-US"/>
            </a:br>
            <a:r>
              <a:rPr lang="en-US"/>
              <a:t>2. Extract: Spring Boot's tools jarmode unpacks the fat JAR into a flat layout. The JDK's AOT cache can't see classes inside nested JARs through Spring Boot's custom classloader — extracting first solves that.</a:t>
            </a:r>
            <a:br>
              <a:rPr lang="en-US"/>
            </a:br>
            <a:r>
              <a:rPr lang="en-US"/>
              <a:t>3. Cache: boot the extracted app with -XX:AOTCacheOutput. Use spring.context.exit=onRefresh to exit cleanly right after Spring's bean factory is populated. That clean exit is what triggers the cache write. Result: ~120 MB binary cache.</a:t>
            </a:r>
            <a:br>
              <a:rPr lang="en-US"/>
            </a:br>
            <a:r>
              <a:rPr lang="en-US"/>
              <a:t>4. Runtime: ship extracted layout + cache. Launch with -XX:AOTCache=app.aot.</a:t>
            </a:r>
            <a:br>
              <a:rPr lang="en-US"/>
            </a:br>
            <a:br>
              <a:rPr lang="en-US"/>
            </a:br>
            <a:r>
              <a:rPr lang="en-US"/>
              <a:t>We landed on this design after a lot of trial and error. Piotr Minkowski's writeup from March 2026 was the breakthrough — the onRefresh trick is the key piece most online tutorials miss.</a:t>
            </a:r>
            <a:br>
              <a:rPr lang="en-US"/>
            </a:br>
            <a:br>
              <a:rPr lang="en-US"/>
            </a:br>
            <a:r>
              <a:rPr lang="en-US"/>
              <a:t>Quarkus does this entirely differently — we'll get to that in two slides.</a:t>
            </a:r>
            <a:br>
              <a:rPr lang="en-US"/>
            </a:br>
            <a:br>
              <a:rPr lang="en-US"/>
            </a:br>
            <a:r>
              <a:rPr lang="en-US"/>
              <a:t>[DIAGRAM placeholder: a fuller pipeline diagram showing the JVM that does the training match the JVM that runs the cache. We hit a real bug here where Temurin-trained caches were rejected by Red Hat OpenJDK at runtime.]</a:t>
            </a:r>
            <a:br>
              <a:rPr lang="en-US"/>
            </a:br>
            <a:br>
              <a:rPr lang="en-US"/>
            </a:br>
            <a:r>
              <a:rPr lang="en-US"/>
              <a:t>Time: ~28 min.</a:t>
            </a:r>
            <a:endParaRPr/>
          </a:p>
        </p:txBody>
      </p:sp>
      <p:sp>
        <p:nvSpPr>
          <p:cNvPr id="360" name="Google Shape;36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DEMO. This is the headline. Estimate: 5 minutes.</a:t>
            </a:r>
            <a:br>
              <a:rPr lang="en-US"/>
            </a:br>
            <a:br>
              <a:rPr lang="en-US"/>
            </a:br>
            <a:r>
              <a:rPr lang="en-US"/>
              <a:t>Demo flow:</a:t>
            </a:r>
            <a:br>
              <a:rPr lang="en-US"/>
            </a:br>
            <a:r>
              <a:rPr lang="en-US"/>
              <a:t>1. `./demo.sh time-all` runs 24 cold starts (3 per variant, 8 variants).</a:t>
            </a:r>
            <a:br>
              <a:rPr lang="en-US"/>
            </a:br>
            <a:r>
              <a:rPr lang="en-US"/>
              <a:t>2. Talk while it runs — explain what each variant tests:</a:t>
            </a:r>
            <a:br>
              <a:rPr lang="en-US"/>
            </a:br>
            <a:r>
              <a:rPr lang="en-US"/>
              <a:t>   - Spring Classic + agent</a:t>
            </a:r>
            <a:br>
              <a:rPr lang="en-US"/>
            </a:br>
            <a:r>
              <a:rPr lang="en-US"/>
              <a:t>   - Spring Classic + SDK telemetry (Spring Boot 4's new opentelemetry starter)</a:t>
            </a:r>
            <a:br>
              <a:rPr lang="en-US"/>
            </a:br>
            <a:r>
              <a:rPr lang="en-US"/>
              <a:t>   - Spring Classic, no telemetry (control)</a:t>
            </a:r>
            <a:br>
              <a:rPr lang="en-US"/>
            </a:br>
            <a:r>
              <a:rPr lang="en-US"/>
              <a:t>   - Spring AOT + agent</a:t>
            </a:r>
            <a:br>
              <a:rPr lang="en-US"/>
            </a:br>
            <a:r>
              <a:rPr lang="en-US"/>
              <a:t>   - Spring AOT + SDK</a:t>
            </a:r>
            <a:br>
              <a:rPr lang="en-US"/>
            </a:br>
            <a:r>
              <a:rPr lang="en-US"/>
              <a:t>   - Spring AOT, no telemetry</a:t>
            </a:r>
            <a:br>
              <a:rPr lang="en-US"/>
            </a:br>
            <a:r>
              <a:rPr lang="en-US"/>
              <a:t>   - Quarkus baseline (no telemetry)</a:t>
            </a:r>
            <a:br>
              <a:rPr lang="en-US"/>
            </a:br>
            <a:r>
              <a:rPr lang="en-US"/>
              <a:t>   - Quarkus + Leyden (no telemetry)</a:t>
            </a:r>
            <a:br>
              <a:rPr lang="en-US"/>
            </a:br>
            <a:r>
              <a:rPr lang="en-US"/>
              <a:t>3. Final cross-framework table prints automatically.</a:t>
            </a:r>
            <a:br>
              <a:rPr lang="en-US"/>
            </a:br>
            <a:br>
              <a:rPr lang="en-US"/>
            </a:br>
            <a:r>
              <a:rPr lang="en-US"/>
              <a:t>Pacing: this takes ~10 minutes to run. Talk during the runs. Show the running terminal as the medians come in. The drama is the contrast between Spring Boot's slow Classic and Quarkus's tiny Leyden.</a:t>
            </a:r>
            <a:br>
              <a:rPr lang="en-US"/>
            </a:br>
            <a:br>
              <a:rPr lang="en-US"/>
            </a:br>
            <a:r>
              <a:rPr lang="en-US"/>
              <a:t>If something fails: we have pre-recorded numbers in TALK-NOTES.md. The rebuild fallback is to skip live and go to the next slide with the pre-baked table.</a:t>
            </a:r>
            <a:endParaRPr/>
          </a:p>
        </p:txBody>
      </p:sp>
      <p:sp>
        <p:nvSpPr>
          <p:cNvPr id="390" name="Google Shape;39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Money slide #1 — Spring Boot 4 telemetry comparison.</a:t>
            </a:r>
            <a:br>
              <a:rPr lang="en-US"/>
            </a:br>
            <a:br>
              <a:rPr lang="en-US"/>
            </a:br>
            <a:r>
              <a:rPr lang="en-US"/>
              <a:t>Read the table left to right, top to bottom. Then the three callouts below.</a:t>
            </a:r>
            <a:br>
              <a:rPr lang="en-US"/>
            </a:br>
            <a:br>
              <a:rPr lang="en-US"/>
            </a:br>
            <a:r>
              <a:rPr lang="en-US"/>
              <a:t>Key talking points:</a:t>
            </a:r>
            <a:br>
              <a:rPr lang="en-US"/>
            </a:br>
            <a:r>
              <a:rPr lang="en-US"/>
              <a:t>- Agent costs ~750ms regardless of whether AOT is on. This is consistent runtime instrumentation overhead.</a:t>
            </a:r>
            <a:br>
              <a:rPr lang="en-US"/>
            </a:br>
            <a:r>
              <a:rPr lang="en-US"/>
              <a:t>- SDK is essentially free. Spring Boot 4's new OpenTelemetry starter shipped November 2025; it's the modern answer.</a:t>
            </a:r>
            <a:br>
              <a:rPr lang="en-US"/>
            </a:br>
            <a:r>
              <a:rPr lang="en-US"/>
              <a:t>- AOT cache saves ~700ms (~18%). Real, measurable, but modest. Nothing like the dramatic numbers you may have read about.</a:t>
            </a:r>
            <a:br>
              <a:rPr lang="en-US"/>
            </a:br>
            <a:br>
              <a:rPr lang="en-US"/>
            </a:br>
            <a:r>
              <a:rPr lang="en-US"/>
              <a:t>The 18% number is honest. AOT cache speeds classloading. JPA initialization is mostly post-classloading work — connection pool setup, schema introspection, entity metamodel. AOT can't accelerate any of that.</a:t>
            </a:r>
            <a:br>
              <a:rPr lang="en-US"/>
            </a:br>
            <a:br>
              <a:rPr lang="en-US"/>
            </a:br>
            <a:r>
              <a:rPr lang="en-US"/>
              <a:t>This is the realistic Spring Boot 4 production picture. Now — same JDK, same Leyden flag, different framework. Watch what happens.</a:t>
            </a:r>
            <a:br>
              <a:rPr lang="en-US"/>
            </a:br>
            <a:br>
              <a:rPr lang="en-US"/>
            </a:br>
            <a:r>
              <a:rPr lang="en-US"/>
              <a:t>Time: ~32 min.</a:t>
            </a:r>
            <a:endParaRPr/>
          </a:p>
        </p:txBody>
      </p:sp>
      <p:sp>
        <p:nvSpPr>
          <p:cNvPr id="398" name="Google Shape;39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Money slide #2 — and the talk's actual punchline.</a:t>
            </a:r>
            <a:br>
              <a:rPr lang="en-US"/>
            </a:br>
            <a:br>
              <a:rPr lang="en-US"/>
            </a:br>
            <a:r>
              <a:rPr lang="en-US"/>
              <a:t>Same JDK 25. Same -XX:AOTCache flag. Same Project Leyden underneath. Two side-by-side cards.</a:t>
            </a:r>
            <a:br>
              <a:rPr lang="en-US"/>
            </a:br>
            <a:br>
              <a:rPr lang="en-US"/>
            </a:br>
            <a:r>
              <a:rPr lang="en-US"/>
              <a:t>Spring Boot 4: 3954ms baseline → 3252ms with AOT. Saves about 700ms, ~18%.</a:t>
            </a:r>
            <a:br>
              <a:rPr lang="en-US"/>
            </a:br>
            <a:r>
              <a:rPr lang="en-US"/>
              <a:t>Quarkus 3.33: 787ms baseline → 181ms with AOT. Saves about 600ms, ~77%.</a:t>
            </a:r>
            <a:br>
              <a:rPr lang="en-US"/>
            </a:br>
            <a:br>
              <a:rPr lang="en-US"/>
            </a:br>
            <a:r>
              <a:rPr lang="en-US"/>
              <a:t>Two findings worth pausing on:</a:t>
            </a:r>
            <a:br>
              <a:rPr lang="en-US"/>
            </a:br>
            <a:r>
              <a:rPr lang="en-US"/>
              <a:t>1. Quarkus's BASELINE is faster than Spring Boot WITH AOT. Quarkus, no flags, beats fully optimized Spring Boot at startup.</a:t>
            </a:r>
            <a:br>
              <a:rPr lang="en-US"/>
            </a:br>
            <a:r>
              <a:rPr lang="en-US"/>
              <a:t>2. Same flag, very different leverage. The reason isn't Leyden — it's framework architecture.</a:t>
            </a:r>
            <a:br>
              <a:rPr lang="en-US"/>
            </a:br>
            <a:br>
              <a:rPr lang="en-US"/>
            </a:br>
            <a:r>
              <a:rPr lang="en-US"/>
              <a:t>Spring Boot does its bean discovery, autoconfiguration evaluation, and JPA initialization at runtime. AOT cache only helps with classloading; the rest can't be cached.</a:t>
            </a:r>
            <a:br>
              <a:rPr lang="en-US"/>
            </a:br>
            <a:br>
              <a:rPr lang="en-US"/>
            </a:br>
            <a:r>
              <a:rPr lang="en-US"/>
              <a:t>Quarkus does almost all of that at BUILD time. The application that boots is mostly pre-baked. AOT cache amplifies an already-fast startup.</a:t>
            </a:r>
            <a:br>
              <a:rPr lang="en-US"/>
            </a:br>
            <a:br>
              <a:rPr lang="en-US"/>
            </a:br>
            <a:r>
              <a:rPr lang="en-US"/>
              <a:t>Takeaway: AOT cache is a JVM feature. How much it helps depends on what your framework does at startup. Your framework, not your vendor, is the cold-start lever.</a:t>
            </a:r>
            <a:br>
              <a:rPr lang="en-US"/>
            </a:br>
            <a:br>
              <a:rPr lang="en-US"/>
            </a:br>
            <a:r>
              <a:rPr lang="en-US"/>
              <a:t>[OPTIONAL: 30s on the implications. If your workload is serverless, this picks the framework. If it's long-running, the agent tax disappears in 5 minutes anyway.]</a:t>
            </a:r>
            <a:br>
              <a:rPr lang="en-US"/>
            </a:br>
            <a:br>
              <a:rPr lang="en-US"/>
            </a:br>
            <a:r>
              <a:rPr lang="en-US"/>
              <a:t>Time: ~33 min.</a:t>
            </a:r>
            <a:endParaRPr/>
          </a:p>
        </p:txBody>
      </p:sp>
      <p:sp>
        <p:nvSpPr>
          <p:cNvPr id="420" name="Google Shape;42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conclusion of Demo 05. Big text, dark slide — let it breathe.</a:t>
            </a:r>
            <a:br>
              <a:rPr lang="en-US"/>
            </a:br>
            <a:br>
              <a:rPr lang="en-US"/>
            </a:br>
            <a:r>
              <a:rPr lang="en-US"/>
              <a:t>This is where I hand the audience an actual decision-making framework, not just numbers. The agent vs SDK question used to be theological — "agents are easier, SDKs are cleaner." Now it's empirical: the agent costs about 750ms, the SDK is free. That cost matters or it doesn't, depending on whether you cold-start often.</a:t>
            </a:r>
            <a:br>
              <a:rPr lang="en-US"/>
            </a:br>
            <a:br>
              <a:rPr lang="en-US"/>
            </a:br>
            <a:r>
              <a:rPr lang="en-US"/>
              <a:t>Long-running services: 750ms doesn't matter. The agent's runtime overhead is also negligible after warmup. Use the agent. Less code change.</a:t>
            </a:r>
            <a:br>
              <a:rPr lang="en-US"/>
            </a:br>
            <a:br>
              <a:rPr lang="en-US"/>
            </a:br>
            <a:r>
              <a:rPr lang="en-US"/>
              <a:t>Serverless / scale-from-zero / cold-scaling Kubernetes: 750ms is everything. Use the SDK starter. Modernize your tooling.</a:t>
            </a:r>
            <a:br>
              <a:rPr lang="en-US"/>
            </a:br>
            <a:br>
              <a:rPr lang="en-US"/>
            </a:br>
            <a:r>
              <a:rPr lang="en-US"/>
              <a:t>And if cold-scale really matters, look at Quarkus. Same Leyden, 4x the leverage.</a:t>
            </a:r>
            <a:br>
              <a:rPr lang="en-US"/>
            </a:br>
            <a:br>
              <a:rPr lang="en-US"/>
            </a:br>
            <a:r>
              <a:rPr lang="en-US"/>
              <a:t>Time: ~34 min. Heading into close.</a:t>
            </a:r>
            <a:endParaRPr/>
          </a:p>
        </p:txBody>
      </p:sp>
      <p:sp>
        <p:nvSpPr>
          <p:cNvPr id="445" name="Google Shape;44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summary. Three things you can take to your team Monday morning.</a:t>
            </a:r>
            <a:br>
              <a:rPr lang="en-US"/>
            </a:br>
            <a:br>
              <a:rPr lang="en-US"/>
            </a:br>
            <a:r>
              <a:rPr lang="en-US"/>
              <a:t>Each takeaway maps to a demo:</a:t>
            </a:r>
            <a:br>
              <a:rPr lang="en-US"/>
            </a:br>
            <a:r>
              <a:rPr lang="en-US"/>
              <a:t>1. Correlation: Demo 01</a:t>
            </a:r>
            <a:br>
              <a:rPr lang="en-US"/>
            </a:br>
            <a:r>
              <a:rPr lang="en-US"/>
              <a:t>2. Cardinality: Demo 02 (and the principle from Demo 03)</a:t>
            </a:r>
            <a:br>
              <a:rPr lang="en-US"/>
            </a:br>
            <a:r>
              <a:rPr lang="en-US"/>
              <a:t>3. Telemetry-to-workload: Demo 05</a:t>
            </a:r>
            <a:br>
              <a:rPr lang="en-US"/>
            </a:br>
            <a:br>
              <a:rPr lang="en-US"/>
            </a:br>
            <a:r>
              <a:rPr lang="en-US"/>
              <a:t>Don't read the long descriptions. Just announce the three titles and let the audience read the details. Confidence in delivery here is more important than coverage.</a:t>
            </a:r>
            <a:br>
              <a:rPr lang="en-US"/>
            </a:br>
            <a:br>
              <a:rPr lang="en-US"/>
            </a:br>
            <a:r>
              <a:rPr lang="en-US"/>
              <a:t>Time: ~35 min.</a:t>
            </a:r>
            <a:endParaRPr/>
          </a:p>
        </p:txBody>
      </p:sp>
      <p:sp>
        <p:nvSpPr>
          <p:cNvPr id="453" name="Google Shape;45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 slide. Don't read the URLs. Just point to the repo URL at the top. "Everything I showed today is in this repo. Clone it, run any demo, send me a PR."</a:t>
            </a:r>
            <a:br>
              <a:rPr lang="en-US"/>
            </a:br>
            <a:br>
              <a:rPr lang="en-US"/>
            </a:br>
            <a:r>
              <a:rPr lang="en-US"/>
              <a:t>[OPTIONAL: have a QR code for the GitHub URL. Many in the audience won't be able to type a URL from a slide while listening.]</a:t>
            </a:r>
            <a:br>
              <a:rPr lang="en-US"/>
            </a:br>
            <a:br>
              <a:rPr lang="en-US"/>
            </a:br>
            <a:r>
              <a:rPr lang="en-US"/>
              <a:t>Time: ~35 min.</a:t>
            </a:r>
            <a:endParaRPr/>
          </a:p>
        </p:txBody>
      </p:sp>
      <p:sp>
        <p:nvSpPr>
          <p:cNvPr id="473" name="Google Shape;47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Q&amp;A. Common questions to anticipate:</a:t>
            </a:r>
            <a:br>
              <a:rPr lang="en-US"/>
            </a:br>
            <a:br>
              <a:rPr lang="en-US"/>
            </a:br>
            <a:r>
              <a:rPr lang="en-US"/>
              <a:t>Q: "Doesn't GraalVM native image beat both of these?"</a:t>
            </a:r>
            <a:br>
              <a:rPr lang="en-US"/>
            </a:br>
            <a:r>
              <a:rPr lang="en-US"/>
              <a:t>A: Yes — for cold start. Native image is ~50ms. Trade-off: build is 5-10 min, no JFR, restricted reflection, no dynamic class loading. Different commitment level. If cold start is the only metric, go native.</a:t>
            </a:r>
            <a:br>
              <a:rPr lang="en-US"/>
            </a:br>
            <a:br>
              <a:rPr lang="en-US"/>
            </a:br>
            <a:r>
              <a:rPr lang="en-US"/>
              <a:t>Q: "Why not use the OTel agent with Quarkus?"</a:t>
            </a:r>
            <a:br>
              <a:rPr lang="en-US"/>
            </a:br>
            <a:r>
              <a:rPr lang="en-US"/>
              <a:t>A: You can. Quarkus has native OTel support though — `quarkus-opentelemetry` extension. SDK approach with Quarkus's build-time wiring is the canonical pattern.</a:t>
            </a:r>
            <a:br>
              <a:rPr lang="en-US"/>
            </a:br>
            <a:br>
              <a:rPr lang="en-US"/>
            </a:br>
            <a:r>
              <a:rPr lang="en-US"/>
              <a:t>Q: "What about Micronaut?"</a:t>
            </a:r>
            <a:br>
              <a:rPr lang="en-US"/>
            </a:br>
            <a:r>
              <a:rPr lang="en-US"/>
              <a:t>A: Same family as Quarkus — build-time wiring framework. I'd expect similar AOT cache numbers. Haven't tested, would love to see a PR with measurements.</a:t>
            </a:r>
            <a:br>
              <a:rPr lang="en-US"/>
            </a:br>
            <a:br>
              <a:rPr lang="en-US"/>
            </a:br>
            <a:r>
              <a:rPr lang="en-US"/>
              <a:t>Q: "How representative is your JPA app?"</a:t>
            </a:r>
            <a:br>
              <a:rPr lang="en-US"/>
            </a:br>
            <a:r>
              <a:rPr lang="en-US"/>
              <a:t>A: It's a deliberate medium-weight app: H2 + 1 JPA repository + 6 entities + REST + actuator + scheduler. Smaller apps see less Spring Boot AOT savings; larger apps see more. Quarkus relative numbers are stable across app size.</a:t>
            </a:r>
            <a:br>
              <a:rPr lang="en-US"/>
            </a:br>
            <a:br>
              <a:rPr lang="en-US"/>
            </a:br>
            <a:r>
              <a:rPr lang="en-US"/>
              <a:t>Q: "Does this matter for non-cold-start workloads?"</a:t>
            </a:r>
            <a:br>
              <a:rPr lang="en-US"/>
            </a:br>
            <a:r>
              <a:rPr lang="en-US"/>
              <a:t>A: Less so. The agent tax doesn't compound for long-running services. AOT cache memory savings (resident set size) are still real, but startup latency is the headline.</a:t>
            </a:r>
            <a:br>
              <a:rPr lang="en-US"/>
            </a:br>
            <a:br>
              <a:rPr lang="en-US"/>
            </a:br>
            <a:r>
              <a:rPr lang="en-US"/>
              <a:t>If no questions: thank, repo URL, off.</a:t>
            </a:r>
            <a:endParaRPr/>
          </a:p>
        </p:txBody>
      </p:sp>
      <p:sp>
        <p:nvSpPr>
          <p:cNvPr id="493" name="Google Shape;49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Bonus slide — only show if there's time and someone asks about GC.</a:t>
            </a:r>
            <a:br>
              <a:rPr lang="en-US"/>
            </a:br>
            <a:br>
              <a:rPr lang="en-US"/>
            </a:br>
            <a:r>
              <a:rPr lang="en-US"/>
              <a:t>The honest framing: UBI9 OpenJDK ergonomically picks G1, on every variant we tested (17, 21, 25; both builder and runtime images). G1 is the JVM's default for server-class machines.</a:t>
            </a:r>
            <a:br>
              <a:rPr lang="en-US"/>
            </a:br>
            <a:br>
              <a:rPr lang="en-US"/>
            </a:br>
            <a:r>
              <a:rPr lang="en-US"/>
              <a:t>Shenandoah is *available* — Red Hat compiles it in — it's just not selected by the JVM's ergonomics. One flag activates it. Worth knowing about for low-pause workloads.</a:t>
            </a:r>
            <a:br>
              <a:rPr lang="en-US"/>
            </a:br>
            <a:br>
              <a:rPr lang="en-US"/>
            </a:br>
            <a:r>
              <a:rPr lang="en-US"/>
              <a:t>Don't use this slide if I'm tight on time. The Demo 04 recap covered the substance.</a:t>
            </a:r>
            <a:endParaRPr/>
          </a:p>
        </p:txBody>
      </p:sp>
      <p:sp>
        <p:nvSpPr>
          <p:cNvPr id="504" name="Google Shape;50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b1bb68cb5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db1bb68cb5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Bonus slide — only show if there's time and someone asks about GC.</a:t>
            </a:r>
            <a:br>
              <a:rPr lang="en-US"/>
            </a:br>
            <a:br>
              <a:rPr lang="en-US"/>
            </a:br>
            <a:r>
              <a:rPr lang="en-US"/>
              <a:t>The honest framing: UBI9 OpenJDK ergonomically picks G1, on every variant we tested (17, 21, 25; both builder and runtime images). G1 is the JVM's default for server-class machines.</a:t>
            </a:r>
            <a:br>
              <a:rPr lang="en-US"/>
            </a:br>
            <a:br>
              <a:rPr lang="en-US"/>
            </a:br>
            <a:r>
              <a:rPr lang="en-US"/>
              <a:t>Shenandoah is *available* — Red Hat compiles it in — it's just not selected by the JVM's ergonomics. One flag activates it. Worth knowing about for low-pause workloads.</a:t>
            </a:r>
            <a:br>
              <a:rPr lang="en-US"/>
            </a:br>
            <a:br>
              <a:rPr lang="en-US"/>
            </a:br>
            <a:r>
              <a:rPr lang="en-US"/>
              <a:t>Don't use this slide if I'm tight on time. The Demo 04 recap covered the substance.</a:t>
            </a:r>
            <a:endParaRPr/>
          </a:p>
        </p:txBody>
      </p:sp>
      <p:sp>
        <p:nvSpPr>
          <p:cNvPr id="525" name="Google Shape;525;g3db1bb68cb5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Bonus slide — show only if there's time, otherwise it's in the repo README.</a:t>
            </a:r>
            <a:br>
              <a:rPr lang="en-US"/>
            </a:br>
            <a:br>
              <a:rPr lang="en-US"/>
            </a:br>
            <a:r>
              <a:rPr lang="en-US"/>
              <a:t>The point: clone, cd, ./demo.sh. Five commands and you have everything I just showed running on your laptop.</a:t>
            </a:r>
            <a:br>
              <a:rPr lang="en-US"/>
            </a:br>
            <a:br>
              <a:rPr lang="en-US"/>
            </a:br>
            <a:r>
              <a:rPr lang="en-US"/>
              <a:t>Common questions about prereqs:</a:t>
            </a:r>
            <a:br>
              <a:rPr lang="en-US"/>
            </a:br>
            <a:r>
              <a:rPr lang="en-US"/>
              <a:t>- Does it work on macOS? Probably; podman runs on macOS but I haven't tested.</a:t>
            </a:r>
            <a:br>
              <a:rPr lang="en-US"/>
            </a:br>
            <a:r>
              <a:rPr lang="en-US"/>
              <a:t>- Does it work on Windows? Probably with WSL2; not tested.</a:t>
            </a:r>
            <a:br>
              <a:rPr lang="en-US"/>
            </a:br>
            <a:r>
              <a:rPr lang="en-US"/>
              <a:t>- Why podman not Docker? Personal preference. The compose files should work in both.</a:t>
            </a:r>
            <a:endParaRPr/>
          </a:p>
        </p:txBody>
      </p:sp>
      <p:sp>
        <p:nvSpPr>
          <p:cNvPr id="536" name="Google Shape;53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b1bb68cb5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db1bb68cb5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Bonus slide — show only if there's time, otherwise it's in the repo README.</a:t>
            </a:r>
            <a:br>
              <a:rPr lang="en-US"/>
            </a:br>
            <a:br>
              <a:rPr lang="en-US"/>
            </a:br>
            <a:r>
              <a:rPr lang="en-US"/>
              <a:t>The point: clone, cd, ./demo.sh. Five commands and you have everything I just showed running on your laptop.</a:t>
            </a:r>
            <a:br>
              <a:rPr lang="en-US"/>
            </a:br>
            <a:br>
              <a:rPr lang="en-US"/>
            </a:br>
            <a:r>
              <a:rPr lang="en-US"/>
              <a:t>Common questions about prereqs:</a:t>
            </a:r>
            <a:br>
              <a:rPr lang="en-US"/>
            </a:br>
            <a:r>
              <a:rPr lang="en-US"/>
              <a:t>- Does it work on macOS? Probably; podman runs on macOS but I haven't tested.</a:t>
            </a:r>
            <a:br>
              <a:rPr lang="en-US"/>
            </a:br>
            <a:r>
              <a:rPr lang="en-US"/>
              <a:t>- Does it work on Windows? Probably with WSL2; not tested.</a:t>
            </a:r>
            <a:br>
              <a:rPr lang="en-US"/>
            </a:br>
            <a:r>
              <a:rPr lang="en-US"/>
              <a:t>- Why podman not Docker? Personal preference. The compose files should work in both.</a:t>
            </a:r>
            <a:endParaRPr/>
          </a:p>
        </p:txBody>
      </p:sp>
      <p:sp>
        <p:nvSpPr>
          <p:cNvPr id="548" name="Google Shape;548;g3db1bb68cb5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114800" y="109728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0" y="10972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0" y="10972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Three Signals,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4688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One Story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OpenTelemetry and Observability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[Speaker name]  · 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[Conference]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·  [date]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Why Unified Observability?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Symptoms today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1828800"/>
            <a:ext cx="23774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Fragmented tooling per 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Vendor lock-in for each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Trace IDs don't reach the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Cardinality bombs in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GC pauses you only see post-mortem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46120" y="1280160"/>
            <a:ext cx="2651760" cy="31089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OpenTelemetry promises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429000" y="1828800"/>
            <a:ext cx="23774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One vendor-neutral protocol (OTLP)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Auto-instrumentation across libraries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Cross-signal correlation by trace_id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Pluggable processing in the Collector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Consistent semantic conventions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217920" y="14173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What we'll prove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217920" y="1828800"/>
            <a:ext cx="23774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 three signals, one trace_id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Cardinality is taming, not magic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Tail sampling keeps the interesting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GC choice has visible operational shape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Cold start: agent vs SDK is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Five Demos, Live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demo runs end-to-end on a single laptop. Code on GitHub.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7200" y="1417320"/>
            <a:ext cx="82296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57200" y="1417320"/>
            <a:ext cx="73152" cy="5669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40080" y="141732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371600" y="141732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937760" y="141732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trace_id flows across traces, metrics, 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2093976"/>
            <a:ext cx="82296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57200" y="2093976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40080" y="2093976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371600" y="2093976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Cardinality Bomb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937760" y="2093976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when labels explode and what to do about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2770632"/>
            <a:ext cx="82296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57200" y="2770632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0080" y="277063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371600" y="277063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Tail Sampling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937760" y="2770632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keep what's interesting, discard the 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3447288"/>
            <a:ext cx="82296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57200" y="3447288"/>
            <a:ext cx="73152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40080" y="344728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371600" y="3447288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JVM Metrics &amp; GC Stories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937760" y="3447288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Shenandoah, G1, ZGC: each has visible shape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4123944"/>
            <a:ext cx="82296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7200" y="4123944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40080" y="4123944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371600" y="4123944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Cold Start: Frameworks Compared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937760" y="4123944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Spring Boot 4 vs Quarkus, same JDK + Leyden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Three Signals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1188720"/>
            <a:ext cx="269748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40080" y="1234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1645920"/>
            <a:ext cx="269748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40080" y="178308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Causal chains across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Hello → User Service →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40080" y="297180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Find the bottleneck, see latency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0080" y="35204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Watch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4008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Sampling is essential at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291840" y="1188720"/>
            <a:ext cx="26974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3474720" y="1234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291840" y="1645920"/>
            <a:ext cx="269748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474720" y="178308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Aggregated time-series counters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http_requests_total{status=200}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474720" y="27432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474720" y="297180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Cheap to store, easy to alert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474720" y="35204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Watch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47472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Cardinality bombs are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309360" y="1234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126480" y="1645920"/>
            <a:ext cx="269748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309360" y="178308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Discrete events with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INFO  HikariPool started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309360" y="27432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309360" y="297180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Highest fidelity, lowest skill bar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309360" y="35204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Watch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309360" y="3749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Volume explodes; storage costs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457200" y="3657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OpenTelemetry: The Unification Layer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" y="9144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protocol. One SDK. Three signals — preserved, correlated, vendor-neutral.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57200" y="397765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It's the protocol that matters, not the library used.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443485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Spring Boot 4 (Nov 2025) ships a native OpenTelemetry SDK starter — no agent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463" y="1379275"/>
            <a:ext cx="5247084" cy="25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457200" y="3657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OpenTelemetry: The Unification Layer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" y="9144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protocol. One SDK. Three signals — preserved, correlated, vendor-neutral.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75" y="1496950"/>
            <a:ext cx="8839199" cy="284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Reference Stack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stack across all 5 demos. One Grafana, three signal backends.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57200" y="1581912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868680" y="14630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Tempo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2468880" y="14630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storage 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57200" y="2176272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868680" y="20574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Mimir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2468880" y="20574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Prometheus-compatible TSDB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57200" y="2770632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68680" y="26517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Loki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2468880" y="26517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 aggregation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57200" y="3364992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868680" y="32461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2468880" y="32461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Unified UI for all three signals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57200" y="3959352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868680" y="38404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Collector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468880" y="38404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OTLP ingest, processing, routing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126480" y="1463040"/>
            <a:ext cx="2560320" cy="3017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30936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How to access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309360" y="1920240"/>
            <a:ext cx="23774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Grafana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localhost:300X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OTLP endpoint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localhost:443XX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grafana/otel-lgtm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457200" y="3657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Reference Stack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57200" y="9144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stack across all 5 demos. One Grafana, three signal backends.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200" y="1310700"/>
            <a:ext cx="6123590" cy="33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trace_id should appear in every signal it touches.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640080" y="2011680"/>
            <a:ext cx="7772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Spring Boot service emits all three signals via OTel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Logs include trace_id and span_id via Logback MDC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Metrics carry trace exemplars linking to a sample span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Grafana → Tempo → Logs jump works in one click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1828800" y="365760"/>
            <a:ext cx="6858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3388" y="1173349"/>
            <a:ext cx="6757231" cy="35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 LIVE DEMO 01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demo-01-three-signals &amp;&amp; ./demo.sh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Switch to terminal · run the demo · come back when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Recap — Demo 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Correlation is a feature you build into the platform — not a query you run.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640080" y="2468880"/>
            <a:ext cx="7772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Each signal is more valuable when it shares context with the others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trace_id is the universal join key across traces, metrics, and logs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OTel agent or SDK both work; agents trade overhead for zero code change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Collector is where you decide what survives the trip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Cardinality Bomb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Adding a label looks free. It isn't.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640080" y="2011680"/>
            <a:ext cx="7772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Each unique label combination is a separate time series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user_id as a label = unbounded series count = OOM the TSDB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Watch a service emit ~100 series, then ~10,000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Show the Collector's transform processor stripping high-card labels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1828800" y="365760"/>
            <a:ext cx="6858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Cardinality Bomb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50" y="1249560"/>
            <a:ext cx="8059905" cy="335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LIVE DEMO 02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demo-02-cardinality &amp;&amp; ./demo.sh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Switch to terminal · run the demo · come back when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Recap — Demo 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Cardinality is the ops cost of metrics. Budget it like compute.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640080" y="2468880"/>
            <a:ext cx="7772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User-supplied values (user_id, request_id) belong in traces, not metric labels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Bucket continuous values (latency → quantile) before exporting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 the Collector's transform/filter processors to enforce limits at the edge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Build alerts on series count growth — catch the bomb before the OOM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Tail Sampling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Head sampling is cheap. Tail sampling is correct.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640080" y="2011680"/>
            <a:ext cx="7772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Head sampling: decide at trace start (no context yet)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Tail sampling: decide after the trace completes (full context)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Sample slow requests at 100%, fast successful ones at 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Configured in the Collector's tail_sampling processor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1828800" y="365760"/>
            <a:ext cx="6858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Tail Sampling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013" y="1249550"/>
            <a:ext cx="7771976" cy="35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 LIVE DEMO 03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demo-03-tail-sampling &amp;&amp; ./demo.sh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Switch to terminal · run the demo · come back when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Recap — Demo 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Sample for what's interesting, not what's typical.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40080" y="2468880"/>
            <a:ext cx="7772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Tail sampling needs the full trace in memory before it can decide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Latency, error status, and route are the most useful sampling axes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sample rate per-policy is independent — keep all errors, 5% of 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Trade-off: tail sampling adds 30-60s latency before traces appear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JVM Metrics &amp; GC Stories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garbage collector has a fingerprint.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640080" y="2011680"/>
            <a:ext cx="7772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Heap, GC pauses, thread count — all visible via Micrometer + OTel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Three GC sweeps: Shenandoah, G1, ZGC under matching load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Pause-time profiles look distinct on a dashboard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Spring Boot 4 metric names match OTel semantic conventions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1828800" y="365760"/>
            <a:ext cx="6858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JVM Metrics &amp; GC Stories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713" y="1249560"/>
            <a:ext cx="6678580" cy="335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→ LIVE DEMO 04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demo-04-jvm-metrics-shenandoah &amp;&amp; ./demo.sh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Switch to terminal · run the demo · come back when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Recap — Demo 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6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GC choice is an operational shape choice, not a tuning afterthought.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640080" y="2468880"/>
            <a:ext cx="7772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Shenandoah and ZGC keep pauses under 10ms even on multi-GB heaps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G1 trades occasional 50-100ms pauses for higher throughput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Fingerprint your service: which pause profile fits SLO budget?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 JDK 21+ on UBI, Shenandoah is one flag away: -XX:+UseShenandoahGC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Cold Start: What Telemetry Costs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Java cold-start problem.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457200" y="1920240"/>
            <a:ext cx="4023360" cy="25603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7"/>
          <p:cNvSpPr/>
          <p:nvPr/>
        </p:nvSpPr>
        <p:spPr>
          <a:xfrm>
            <a:off x="640080" y="2057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Why Java is slow to start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640080" y="246888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Classloading: parse, verify, link bytecode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JIT warmup: profile, recompile hot paths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Framework init: bean discovery, autoconfig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JPA: schema gen, entity scan, proxy gen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Agent: bytecode rewriting at startup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4663440" y="1920240"/>
            <a:ext cx="4023360" cy="256032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4846320" y="2057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Project Leyden's promise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4846320" y="246888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JDK 24+: pre-link classes (JEP 483)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JDK 25: AOT cache (JEP 514) — production-ready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Spring AOT: pre-compute bean factory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JPA repository AOT: parse queries at 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 compose into shorter cold 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AOT Cache Pipeline (JDK 25 + Spring Boot 4)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 stages, one Containerfile, ~120 MB cache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457200" y="1554480"/>
            <a:ext cx="192024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8"/>
          <p:cNvSpPr/>
          <p:nvPr/>
        </p:nvSpPr>
        <p:spPr>
          <a:xfrm>
            <a:off x="548640" y="1600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457200" y="2011680"/>
            <a:ext cx="192024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8"/>
          <p:cNvSpPr/>
          <p:nvPr/>
        </p:nvSpPr>
        <p:spPr>
          <a:xfrm>
            <a:off x="548640" y="2103120"/>
            <a:ext cx="1737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mvn package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548640" y="3337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Spring Boot fat JAR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2514600" y="1554480"/>
            <a:ext cx="192024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8"/>
          <p:cNvSpPr/>
          <p:nvPr/>
        </p:nvSpPr>
        <p:spPr>
          <a:xfrm>
            <a:off x="2606040" y="1600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Extract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2514600" y="2011680"/>
            <a:ext cx="192024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8"/>
          <p:cNvSpPr/>
          <p:nvPr/>
        </p:nvSpPr>
        <p:spPr>
          <a:xfrm>
            <a:off x="2606040" y="2103120"/>
            <a:ext cx="1737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java -Djarmode=tools extract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2606040" y="3337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Flat layout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4572000" y="1554480"/>
            <a:ext cx="19202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"/>
          <p:cNvSpPr/>
          <p:nvPr/>
        </p:nvSpPr>
        <p:spPr>
          <a:xfrm>
            <a:off x="4663440" y="1600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Cache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4572000" y="2011680"/>
            <a:ext cx="192024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4663440" y="2103120"/>
            <a:ext cx="1737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java -XX:AOTCacheOutput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-Dspring.context.exit=onRefresh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4663440" y="3337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+ write 120MB cache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6629400" y="1554480"/>
            <a:ext cx="19202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8"/>
          <p:cNvSpPr/>
          <p:nvPr/>
        </p:nvSpPr>
        <p:spPr>
          <a:xfrm>
            <a:off x="6720840" y="1600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Runtime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6629400" y="2011680"/>
            <a:ext cx="192024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8"/>
          <p:cNvSpPr/>
          <p:nvPr/>
        </p:nvSpPr>
        <p:spPr>
          <a:xfrm>
            <a:off x="6720840" y="2103120"/>
            <a:ext cx="1737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java -XX:AOTCache=app.aot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6720840" y="3337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cache, fast boot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Source: Piotr Minkowski's Spring Boot + Project Leyden writeup (Mar 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→ LIVE DEMO 05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demo-05-aot-coldstart &amp;&amp; ./demo.sh time-all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Switch to terminal · run the demo · come back when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Cold-Start Cost of Telemetry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Spring Boot 4 + JDK 25, JPA-heavy app, median of 3 cold starts each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2" name="Google Shape;402;p30"/>
          <p:cNvGraphicFramePr/>
          <p:nvPr/>
        </p:nvGraphicFramePr>
        <p:xfrm>
          <a:off x="9144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{2FD3A2C5-4D92-4AAF-8EA4-4A743951FC3B}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Agent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SDK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telemetry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4748B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 JDK 25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4.7 s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4.0 s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4.0 s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AOT cache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4.3 s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3.3 s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D948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3.3 s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3" name="Google Shape;403;p30"/>
          <p:cNvSpPr/>
          <p:nvPr/>
        </p:nvSpPr>
        <p:spPr>
          <a:xfrm>
            <a:off x="457200" y="3657600"/>
            <a:ext cx="260604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0"/>
          <p:cNvSpPr/>
          <p:nvPr/>
        </p:nvSpPr>
        <p:spPr>
          <a:xfrm>
            <a:off x="457200" y="3657600"/>
            <a:ext cx="26060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"/>
          <p:cNvSpPr/>
          <p:nvPr/>
        </p:nvSpPr>
        <p:spPr>
          <a:xfrm>
            <a:off x="594360" y="37490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Agent 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594360" y="40233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~750 ms — runtime instrumentation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3246120" y="3657600"/>
            <a:ext cx="260604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3246120" y="3657600"/>
            <a:ext cx="26060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"/>
          <p:cNvSpPr/>
          <p:nvPr/>
        </p:nvSpPr>
        <p:spPr>
          <a:xfrm>
            <a:off x="3383280" y="37490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SDK 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3383280" y="40233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~30 ms — basically 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6035040" y="3657600"/>
            <a:ext cx="260604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0"/>
          <p:cNvSpPr/>
          <p:nvPr/>
        </p:nvSpPr>
        <p:spPr>
          <a:xfrm>
            <a:off x="6035040" y="3657600"/>
            <a:ext cx="2606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6172200" y="37490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AOT savings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6172200" y="40233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~700 ms (~18%) regardless of telemetry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Same JDK. Same Leyden. Different Framework.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No-telemetry baseline — apples-to-apples cold 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1"/>
          <p:cNvSpPr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1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1"/>
          <p:cNvSpPr/>
          <p:nvPr/>
        </p:nvSpPr>
        <p:spPr>
          <a:xfrm>
            <a:off x="457200" y="1920240"/>
            <a:ext cx="402336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64008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3954 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 AOT cache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>
            <a:off x="640080" y="3200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3252 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solidFill>
            <a:srgbClr val="469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1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Quarkus 3.33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1"/>
          <p:cNvSpPr/>
          <p:nvPr/>
        </p:nvSpPr>
        <p:spPr>
          <a:xfrm>
            <a:off x="4663440" y="1920240"/>
            <a:ext cx="402336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1"/>
          <p:cNvSpPr/>
          <p:nvPr/>
        </p:nvSpPr>
        <p:spPr>
          <a:xfrm>
            <a:off x="4846320" y="2057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484632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787 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4846320" y="2880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 Leyden AOT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4846320" y="3200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95EB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4695EB"/>
                </a:solidFill>
                <a:latin typeface="Consolas"/>
                <a:ea typeface="Consolas"/>
                <a:cs typeface="Consolas"/>
                <a:sym typeface="Consolas"/>
              </a:rPr>
              <a:t>181 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Spring Boot saves ~18% with AOT.   Quarkus saves ~77%.   Same flag. Same JDK.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The agent tax doesn't amortize on cold scale.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Long-running services? </a:t>
            </a:r>
            <a:r>
              <a:rPr b="0" i="1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Agent tax disappears in 5 minutes. Use the agent.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Serverless / scale-from-zero? </a:t>
            </a:r>
            <a:r>
              <a:rPr b="0" i="1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750ms is your entire startup budget. Use the SDK starter.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Match your telemetry to your workload's startup sensitivity.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Three Things to Take Home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3"/>
          <p:cNvSpPr/>
          <p:nvPr/>
        </p:nvSpPr>
        <p:spPr>
          <a:xfrm>
            <a:off x="457200" y="132588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45720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3"/>
          <p:cNvSpPr/>
          <p:nvPr/>
        </p:nvSpPr>
        <p:spPr>
          <a:xfrm>
            <a:off x="1371600" y="1234440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Correlation is a feature, not a query.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3"/>
          <p:cNvSpPr/>
          <p:nvPr/>
        </p:nvSpPr>
        <p:spPr>
          <a:xfrm>
            <a:off x="1371600" y="1645920"/>
            <a:ext cx="7040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 trace_id propagation into your platform. Across signals, across services, across processes. Without it, every observability question becomes archaeology.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3"/>
          <p:cNvSpPr/>
          <p:nvPr/>
        </p:nvSpPr>
        <p:spPr>
          <a:xfrm>
            <a:off x="457200" y="251460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3"/>
          <p:cNvSpPr/>
          <p:nvPr/>
        </p:nvSpPr>
        <p:spPr>
          <a:xfrm>
            <a:off x="457200" y="2514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3"/>
          <p:cNvSpPr/>
          <p:nvPr/>
        </p:nvSpPr>
        <p:spPr>
          <a:xfrm>
            <a:off x="1371600" y="2423160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Cardinality is an ops cost. Budget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3"/>
          <p:cNvSpPr/>
          <p:nvPr/>
        </p:nvSpPr>
        <p:spPr>
          <a:xfrm>
            <a:off x="1371600" y="2834640"/>
            <a:ext cx="7040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IDs go in traces. Latency goes in histograms. Continuous values get bucketed. The Collector is where you enforce the budget at the edge — not the TSDB at 3am.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457200" y="3703320"/>
            <a:ext cx="731520" cy="7315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3"/>
          <p:cNvSpPr/>
          <p:nvPr/>
        </p:nvSpPr>
        <p:spPr>
          <a:xfrm>
            <a:off x="457200" y="3703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1371600" y="3611880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Match telemetry to workload sensitivity.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1371600" y="4023360"/>
            <a:ext cx="7040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OTel agent for long-running services where the 750ms tax amortizes. SDK starter for cold-scale and serverless. Framework choice matters more than vendor.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Resources &amp; References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640080" y="12801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This talk's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>
            <a:off x="3931920" y="128016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github.com/patterncatalyst/otel-observability-demos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4"/>
          <p:cNvSpPr/>
          <p:nvPr/>
        </p:nvSpPr>
        <p:spPr>
          <a:xfrm>
            <a:off x="640080" y="18288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OpenTelemetry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4"/>
          <p:cNvSpPr/>
          <p:nvPr/>
        </p:nvSpPr>
        <p:spPr>
          <a:xfrm>
            <a:off x="3931920" y="18288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opentelemetry.io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4"/>
          <p:cNvSpPr/>
          <p:nvPr/>
        </p:nvSpPr>
        <p:spPr>
          <a:xfrm>
            <a:off x="640080" y="23774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Spring Boot 4 OTel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3931920" y="23774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spring.io/blog/2025/11/18/opentelemetry-with-spring-boot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640080" y="29260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Project Leyden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4"/>
          <p:cNvSpPr/>
          <p:nvPr/>
        </p:nvSpPr>
        <p:spPr>
          <a:xfrm>
            <a:off x="3931920" y="29260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openjdk.org/projects/leyden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640080" y="34747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Grafana LGTM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4"/>
          <p:cNvSpPr/>
          <p:nvPr/>
        </p:nvSpPr>
        <p:spPr>
          <a:xfrm>
            <a:off x="3931920" y="34747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github.com/grafana/docker-otel-lgtm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640080" y="40233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OTel Collector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3931920" y="402336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github.com/open-telemetry/opentelemetry-collector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5"/>
          <p:cNvSpPr/>
          <p:nvPr/>
        </p:nvSpPr>
        <p:spPr>
          <a:xfrm>
            <a:off x="4114800" y="9144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5"/>
          <p:cNvSpPr/>
          <p:nvPr/>
        </p:nvSpPr>
        <p:spPr>
          <a:xfrm>
            <a:off x="4572000" y="914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5"/>
          <p:cNvSpPr/>
          <p:nvPr/>
        </p:nvSpPr>
        <p:spPr>
          <a:xfrm>
            <a:off x="5029200" y="91440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5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[Speaker]  ·  [Twitter/X · GitHub · email]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6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Shenandoah is one flag away on UBI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6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story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6"/>
          <p:cNvSpPr/>
          <p:nvPr/>
        </p:nvSpPr>
        <p:spPr>
          <a:xfrm>
            <a:off x="640080" y="192024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Red Hat develops &amp; maintains Shenandoah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Generational since JDK 21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Sub-10ms pauses on multi-GB heaps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Built into UBI9 OpenJDK — already there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JVM ergonomically picks G1 (we verified)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Switch with one JVM flag, no rebuild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6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Shenandoah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484632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-XX:+UseShenandoahGC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G1 (default)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-XX:+UseG1GC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ZGC (low-pause alt)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4846320" y="3886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-XX:+UseZGC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7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7"/>
          <p:cNvSpPr/>
          <p:nvPr/>
        </p:nvSpPr>
        <p:spPr>
          <a:xfrm>
            <a:off x="1828800" y="365760"/>
            <a:ext cx="6858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Shenandoah is one flag away on UBI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2" name="Google Shape;5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975" y="1249549"/>
            <a:ext cx="6338032" cy="35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8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8"/>
          <p:cNvSpPr/>
          <p:nvPr/>
        </p:nvSpPr>
        <p:spPr>
          <a:xfrm>
            <a:off x="457200" y="457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8"/>
          <p:cNvSpPr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Reproduce on your laptop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8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8"/>
          <p:cNvSpPr/>
          <p:nvPr/>
        </p:nvSpPr>
        <p:spPr>
          <a:xfrm>
            <a:off x="731520" y="1508760"/>
            <a:ext cx="7680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# Prereqs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Fedora 43+ / Ubuntu 24+, podman 5.x, JDK 25 (Temurin)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git clone github.com/patterncatalyst/otel-observability-demos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otel-observability-demos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# Run any demo end-to-end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demo-01-three-signals &amp;&amp; ./demo.sh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demo-02-cardinality &amp;&amp; ./demo.sh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demo-03-tail-sampling &amp;&amp; ./demo.sh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demo-04-jvm-metrics-shenandoah &amp;&amp; ./demo.sh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# The headline: 8-way cold start comparison (~10 minutes)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cd demo-05-aot-coldstart &amp;&amp; ./demo.sh time-all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9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9"/>
          <p:cNvSpPr/>
          <p:nvPr/>
        </p:nvSpPr>
        <p:spPr>
          <a:xfrm>
            <a:off x="457200" y="457200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9"/>
          <p:cNvSpPr/>
          <p:nvPr/>
        </p:nvSpPr>
        <p:spPr>
          <a:xfrm>
            <a:off x="1828800" y="365760"/>
            <a:ext cx="6858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Kubernetes Framing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9"/>
          <p:cNvSpPr/>
          <p:nvPr/>
        </p:nvSpPr>
        <p:spPr>
          <a:xfrm>
            <a:off x="457200" y="4754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Signals, One 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" name="Google Shape;5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550" y="1097150"/>
            <a:ext cx="6578899" cy="3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