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dots. The three signals — traces, metrics, logs — are the canonical taxonomy of observability. Most observability tooling treats them as separate problems. This talk argues they're one problem, and OpenTelemetry is the unification.
Quick intro: name, role, why I care about observability cost (not just observability).
Energy: warm, conversational. We have a lot to cover; don't open slowly.
Time check at this slide: 0:00 / 35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columns: the problem, the pitch, the proof.
Don't read every bullet. Pick one from each column to anchor: "trace IDs don't reach the logs" (left) → "cross-signal correlation by trace_id" (middle) → "all three signals, one trace_id" (right). That's the throughline of the whole talk.
OpenTelemetry's promises are mostly true. The practitioner's question is: at what cost? That's what we'll measure.
[OPTIONAL: insert real-world story here — an outage you've seen where signals didn't correlate. 30s anecdote.]
Time: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Don't read all five — gesture down the list and call out: "this builds. We'll start with the foundation, the trace_id flowing through everything, and end somewhere most observability talks don't go: measuring what observability actually costs at startup."
Demos 01-04 are about correctness — making observability work. Demo 05 is about cost — what you pay for the work.
Reproducibility commitment: all five demos run on a laptop with podman. No cloud account, no credentials, no kubernetes cluster. The full Grafana/Tempo/Mimir/Loki/Collector stack is one container.
[OPTIONAL: show GitHub repo URL on screen briefly]
Time: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here. Brief but make sure each color sticks — purple traces, amber metrics, cyan logs. These colors recur across the whole deck and on the dashboards we'll see in the demos.
Each signal has a strength and a failure mode:
- Traces are amazing for finding bottlenecks but you can't keep all of them. Sampling is mandatory.
- Metrics are cheap and great for alerts, but adding the wrong label to a metric can take down your TSDB. Demo 02 is the cardinality bomb.
- Logs have the highest fidelity but the volume can crush your storage budget. 
What we want is the strengths of all three correlated by one trace_id, with the cost trade-offs explicit.
Time: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The application doesn't change shape; it emits OTLP. From there, instrumentation choices vary: a Java agent that rewrites bytecode at startup, or an SDK linked into the app at compile time.
Both produce OTLP. OTLP is HTTP/protobuf or gRPC, port 4318 by convention. Protocol-level standardization is what makes vendor neutrality real — you can swap Tempo for Jaeger, Mimir for Cortex, Loki for Elasticsearch, without touching the application.
The Collector is the underrated piece. It's where you do filtering, sampling, aggregation, redaction, routing, format translation. Demo 02 and Demo 03 both live in the Collector.
Important context for the rest of the talk: as of November 2025, Spring Boot 4 ships a native OpenTelemetry starter. You no longer need the Java agent for Spring Boot apps — there's a real SDK alternative now. Demo 05 measures both.
Time: ~7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Stack overview. Grafana's `otel-lgtm` image is the underrated hero of this talk — Grafana plus Loki, Grafana plus Tempo, Grafana plus Mimir, all bundled. One container, ~600 MB.
Each demo runs in its own compose file with its own port range (3005, 3006, etc.) so I can leave one demo running while bringing up the next.
If anyone in the audience wants to follow along: clone the repo, `cd demo-01-three-signals`, `./demo.sh`. That's the entire on-ramp.
[SCREENSHOT placeholder: Grafana home page with the three datasources visible — Tempo, Mimir, Loki — to anchor the visual before we go live.]
Time: ~9 min. (Foundation done. Now the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for Demo 01. The simplest demo, but it's the foundation everything else builds on.
Key concept: trace_id is a 128-bit identifier. The agent generates it for the inbound HTTP request and propagates it down through the call stack. Logback's MDC picks it up. Micrometer attaches it to metric exemplars.
What you're going to see: I hit the service with a single curl. Then in Grafana I find a slow trace in Tempo. From the trace, I jump to the logs for the same trace_id with one click. From the logs, I jump to a metric chart showing the same request's latency.
If this works, we have a unified observability platform. If it doesn't, we're back to grep across servers.
Time: ~10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Estimate: 4 minutes.
Demo flow:
1. `./demo.sh` brings up the service + lgtm + Collector. Wait for green checkmarks.
2. Hit `/api/hello` 3-4 times in the terminal. Show response.
3. Open Grafana (localhost:3001). Show the dashboard.
4. Pick a trace in Tempo. Show the span tree. Highlight trace_id.
5. Click "Logs for this trace" → Loki shows correlated log lines.
6. Click on a metric exemplar dot → jumps back to the trace.
If something fails:
- Service didn't come up: `podman logs demo01-app | tail -30`
- Grafana datasource red: wait 60s, refresh; provisioning is async
- No traces yet: send 5 more requests, the Collector batches
Fallback: pre-recorded screencap on USB stick if everything is on fire.
[SCREENSHOT placeholder: Grafana trace view with logs panel below — backup in case the live demo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live demo, take 30 seconds here to anchor the takeaway: correlation is a *platform* property. You can't bolt it on after an incident.
Foreshadow Demo 05: the agent that made all this work has a runtime cost we'll measure later.
Foreshadow Demos 02 and 03: the Collector that we just glossed over is where the next two demos live.
Time: ~14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02 setup. The trap: you have a metric `http_requests_total`. You add a label `user_id` because it sounded useful in standup. Now your metric has one time series per user. Active users? That's your series count. TSDB falls over at 10M series; many fall over at 1M.
What we'll see live: an app that emits a metric with bounded labels (~100 series). Then we flip a feature flag that adds user_id as a label. Watch series count climb in real time.
Then we watch the Collector's `transform` processor strip the offending label before it reaches Mimir. Same problem, fixed at the right architectural layer.
Time: ~14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Estimate: 3-4 minutes.
Demo flow:
1. `./demo.sh` brings up the stack and starts low-card load (100 unique requests).
2. Show Mimir's series count metric: ~100 series. Stable.
3. Send a `POST /toggle-user-label` to flip the feature flag.
4. Send 10,000 requests with unique user IDs. Watch series count climb.
5. Mimir starts complaining about scrape limits.
6. Apply the Collector config that strips `user_id` label. Reload.
7. Series count plateaus. Crisis averted.
Pacing: drive sustained traffic for 90+ seconds before pivoting. Internal scrape interval is 60s — need 2 samples for rate() to look right.
[SCREENSHOT placeholder: Mimir series count graph showing the climb-and-plateau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lesson is architectural, not technical: high-cardinality data is for traces, where it's queryable. Metrics are for aggregates.
The Collector pattern matters: enforce the limit at the edge of your platform, not in the storage layer at 3 AM.
Time: ~18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03 setup. The problem: at scale you can't keep every trace. Head sampling ("keep 10% randomly") is cheap but stupid — you might drop the slow requests and keep all the fast ones.
Tail sampling waits until the trace completes, then decides based on properties: was it slow? Did it error? Did it touch a sensitive endpoint? Keep all the interesting ones, drop a fraction of the boring ones.
The cost: tail sampling needs the full trace in memory. The Collector buffers spans for 30-60 seconds. That's the trade-off.
Time: ~18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Estimate: 3-4 minutes.
Demo flow:
1. `./demo.sh` brings up Collector with tail_sampling configured.
2. Show the policy in collector-config.yaml: 100% slow + errors, 1% fast successes.
3. Run load: 95% fast/successful, 5% slow or erroring.
4. Tempo trace count: total ingested vs. total kept.
5. Spot-check that all the slow traces are present, and ~1% of fast ones.
Watch the latency: traces appear in Tempo ~30s after they complete (the buffer window). Don't pivot too fast or it looks like nothing's happening.
[SCREENSHOT placeholder: Collector dashboard showing total received vs. total exported, with the policy decision breakdown.]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mental model: the Collector becomes a circuit breaker for your observability data. You decide what survives. The application doesn't have to know.
Time: ~22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04 setup. JVM metrics are the test case where observability moves from "nice to have" to "how do you debug production at all."
What we'll show: same app, same load, three different garbage collectors. Each leaves a different shape on the dashboard. You can identify the GC from the chart without being told.
Why it matters: GC choice is an operational decision that you can verify with telemetry. Don't pick a GC because of a blog post; pick it because you measured it in your environment.
Time: ~22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Estimate: 4 minutes.
Demo flow:
1. `./demo.sh` runs the same app three times, swapping the GC flag each time.
2. After each run, Grafana dashboard shows: heap usage, GC frequency, pause durations.
3. Side-by-side comparison panel at the end.
4. Point out the visible differences: G1 has occasional 50-100ms pauses, Shenandoah and ZGC stay under 10ms.
Pre-restart Grafana 60+ seconds before showing the dashboard — provisioning is async after the container reports started.
Hard browser refresh (Ctrl+Shift+R) after switching dashboards — Grafana caches panel definitions.
[SCREENSHOT placeholder: Three-GC comparison dashboard at end of demo, showing distinct pause profiles.]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point is empirical: don't guess about GC. Measure.
Note for accuracy (we verified this in prep): UBI9 OpenJDK ergonomically picks G1 by default on every variant we tested (17, 21, 25; both builder and runtime). Shenandoah is *available* — Red Hat compiles it in — it's just not selected by JVM ergonomics. One flag activates it.
Time: ~26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a typical Spring Boot app on JDK 21 took 5-8 seconds to boot. That's fine for long-running services, but it's an eternity for serverless or scale-from-zero workloads.
Project Leyden is the JDK's response. Started years ago, productized in JDK 24/25. The big shipped feature is JEP 514 — AOT cache. Cache classloading work and JIT profiles to disk during a training run; reuse them at startup.
Spring Boot 4 also has its own AOT layer that pre-computes bean factory state at build time. Combined, they should reduce startup substantially.
We're going to measure exactly how much.
Time: ~26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Four Docker stages.
1. Build: standard mvn package, produces Spring Boot fat JAR.
2. Extract: Spring Boot's tools jarmode unpacks the fat JAR into a flat layout. The JDK's AOT cache can't see classes inside nested JARs through Spring Boot's custom classloader — extracting first solves that.
3. Cache: boot the extracted app with -XX:AOTCacheOutput. Use spring.context.exit=onRefresh to exit cleanly right after Spring's bean factory is populated. That clean exit is what triggers the cache write. Result: ~120 MB binary cache.
4. Runtime: ship extracted layout + cache. Launch with -XX:AOTCache=app.aot.
We landed on this design after a lot of trial and error. Piotr Minkowski's writeup from March 2026 was the breakthrough — the onRefresh trick is the key piece most online tutorials miss.
Quarkus does this entirely differently — we'll get to that in two slides.
[DIAGRAM placeholder: a fuller pipeline diagram showing the JVM that does the training match the JVM that runs the cache. We hit a real bug here where Temurin-trained caches were rejected by Red Hat OpenJDK at runtime.]
Time: ~28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This is the headline. Estimate: 5 minutes.
Demo flow:
1. `./demo.sh time-all` runs 24 cold starts (3 per variant, 8 variants).
2. Talk while it runs — explain what each variant tests:
   - Spring Classic + agent
   - Spring Classic + SDK telemetry (Spring Boot 4's new opentelemetry starter)
   - Spring Classic, no telemetry (control)
   - Spring AOT + agent
   - Spring AOT + SDK
   - Spring AOT, no telemetry
   - Quarkus baseline (no telemetry)
   - Quarkus + Leyden (no telemetry)
3. Final cross-framework table prints automatically.
Pacing: this takes ~10 minutes to run. Talk during the runs. Show the running terminal as the medians come in. The drama is the contrast between Spring Boot's slow Classic and Quarkus's tiny Leyden.
If something fails: we have pre-recorded numbers in TALK-NOTES.md. The rebuild fallback is to skip live and go to the next slide with the pre-baked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Money slide #1 — Spring Boot 4 telemetry comparison.
Read the table left to right, top to bottom. Then the three callouts below.
Key talking points:
- Agent costs ~750ms regardless of whether AOT is on. This is consistent runtime instrumentation overhead.
- SDK is essentially free. Spring Boot 4's new OpenTelemetry starter shipped November 2025; it's the modern answer.
- AOT cache saves ~700ms (~18%). Real, measurable, but modest. Nothing like the dramatic numbers you may have read about.
The 18% number is honest. AOT cache speeds classloading. JPA initialization is mostly post-classloading work — connection pool setup, schema introspection, entity metamodel. AOT can't accelerate any of that.
This is the realistic Spring Boot 4 production picture. Now — same JDK, same Leyden flag, different framework. Watch what happens.
Time: ~32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Money slide #2 — and the talk's actual punchline.
Same JDK 25. Same -XX:AOTCache flag. Same Project Leyden underneath. Two side-by-side cards.
Spring Boot 4: 3954ms baseline → 3252ms with AOT. Saves about 700ms, ~18%.
Quarkus 3.33: 787ms baseline → 181ms with AOT. Saves about 600ms, ~77%.
Two findings worth pausing on:
1. Quarkus's BASELINE is faster than Spring Boot WITH AOT. Quarkus, no flags, beats fully optimized Spring Boot at startup.
2. Same flag, very different leverage. The reason isn't Leyden — it's framework architecture.
Spring Boot does its bean discovery, autoconfiguration evaluation, and JPA initialization at runtime. AOT cache only helps with classloading; the rest can't be cached.
Quarkus does almost all of that at BUILD time. The application that boots is mostly pre-baked. AOT cache amplifies an already-fast startup.
Takeaway: AOT cache is a JVM feature. How much it helps depends on what your framework does at startup. Your framework, not your vendor, is the cold-start lever.
[OPTIONAL: 30s on the implications. If your workload is serverless, this picks the framework. If it's long-running, the agent tax disappears in 5 minutes anyway.]
Time: ~33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conclusion of Demo 05. Big text, dark slide — let it breathe.
This is where I hand the audience an actual decision-making framework, not just numbers. The agent vs SDK question used to be theological — "agents are easier, SDKs are cleaner." Now it's empirical: the agent costs about 750ms, the SDK is free. That cost matters or it doesn't, depending on whether you cold-start often.
Long-running services: 750ms doesn't matter. The agent's runtime overhead is also negligible after warmup. Use the agent. Less code change.
Serverless / scale-from-zero / cold-scaling Kubernetes: 750ms is everything. Use the SDK starter. Modernize your tooling.
And if cold-scale really matters, look at Quarkus. Same Leyden, 4x the leverage.
Time: ~34 min. Heading into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Three things you can take to your team Monday morning.
Each takeaway maps to a demo:
1. Correlation: Demo 01
2. Cardinality: Demo 02 (and the principle from Demo 03)
3. Telemetry-to-workload: Demo 05
Don't read the long descriptions. Just announce the three titles and let the audience read the details. Confidence in delivery here is more important than coverage.
Time: ~35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slide. Don't read the URLs. Just point to the repo URL at the top. "Everything I showed today is in this repo. Clone it, run any demo, send me a PR."
[OPTIONAL: have a QR code for the GitHub URL. Many in the audience won't be able to type a URL from a slide while listening.]
Time: ~35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Common questions to anticipate:
Q: "Doesn't GraalVM native image beat both of these?"
A: Yes — for cold start. Native image is ~50ms. Trade-off: build is 5-10 min, no JFR, restricted reflection, no dynamic class loading. Different commitment level. If cold start is the only metric, go native.
Q: "Why not use the OTel agent with Quarkus?"
A: You can. Quarkus has native OTel support though — `quarkus-opentelemetry` extension. SDK approach with Quarkus's build-time wiring is the canonical pattern.
Q: "What about Micronaut?"
A: Same family as Quarkus — build-time wiring framework. I'd expect similar AOT cache numbers. Haven't tested, would love to see a PR with measurements.
Q: "How representative is your JPA app?"
A: It's a deliberate medium-weight app: H2 + 1 JPA repository + 6 entities + REST + actuator + scheduler. Smaller apps see less Spring Boot AOT savings; larger apps see more. Quarkus relative numbers are stable across app size.
Q: "Does this matter for non-cold-start workloads?"
A: Less so. The agent tax doesn't compound for long-running services. AOT cache memory savings (resident set size) are still real, but startup latency is the headline.
If no questions: thank, repo URL,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Bonus slide — only show if there's time and someone asks about GC.
The honest framing: UBI9 OpenJDK ergonomically picks G1, on every variant we tested (17, 21, 25; both builder and runtime images). G1 is the JVM's default for server-class machines.
Shenandoah is *available* — Red Hat compiles it in — it's just not selected by the JVM's ergonomics. One flag activates it. Worth knowing about for low-pause workloads.
Don't use this slide if I'm tight on time. The Demo 04 recap covered the substance.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Bonus slide — show only if there's time, otherwise it's in the repo README.
The point: clone, cd, ./demo.sh. Five commands and you have everything I just showed running on your laptop.
Common questions about prereqs:
- Does it work on macOS? Probably; podman runs on macOS but I haven't tested.
- Does it work on Windows? Probably with WSL2; not tested.
- Why podman not Docker? Personal preference. The compose files should work in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114800" y="1097280"/>
            <a:ext cx="365760" cy="365760"/>
          </a:xfrm>
          <a:prstGeom prst="ellipse">
            <a:avLst/>
          </a:prstGeom>
          <a:solidFill>
            <a:srgbClr val="8B5CF6"/>
          </a:solidFill>
          <a:ln/>
        </p:spPr>
      </p:sp>
      <p:sp>
        <p:nvSpPr>
          <p:cNvPr id="3" name="Shape 1"/>
          <p:cNvSpPr/>
          <p:nvPr/>
        </p:nvSpPr>
        <p:spPr>
          <a:xfrm>
            <a:off x="4572000" y="1097280"/>
            <a:ext cx="365760" cy="365760"/>
          </a:xfrm>
          <a:prstGeom prst="ellipse">
            <a:avLst/>
          </a:prstGeom>
          <a:solidFill>
            <a:srgbClr val="F59E0B"/>
          </a:solidFill>
          <a:ln/>
        </p:spPr>
      </p:sp>
      <p:sp>
        <p:nvSpPr>
          <p:cNvPr id="4" name="Shape 2"/>
          <p:cNvSpPr/>
          <p:nvPr/>
        </p:nvSpPr>
        <p:spPr>
          <a:xfrm>
            <a:off x="5029200" y="1097280"/>
            <a:ext cx="365760" cy="365760"/>
          </a:xfrm>
          <a:prstGeom prst="ellipse">
            <a:avLst/>
          </a:prstGeom>
          <a:solidFill>
            <a:srgbClr val="06B6D4"/>
          </a:solidFill>
          <a:ln/>
        </p:spPr>
      </p:sp>
      <p:sp>
        <p:nvSpPr>
          <p:cNvPr id="5" name="Text 3"/>
          <p:cNvSpPr/>
          <p:nvPr/>
        </p:nvSpPr>
        <p:spPr>
          <a:xfrm>
            <a:off x="457200" y="1737360"/>
            <a:ext cx="8229600" cy="777240"/>
          </a:xfrm>
          <a:prstGeom prst="rect">
            <a:avLst/>
          </a:prstGeom>
          <a:noFill/>
          <a:ln/>
        </p:spPr>
        <p:txBody>
          <a:bodyPr wrap="square" lIns="0" tIns="0" rIns="0" bIns="0" rtlCol="0" anchor="ctr"/>
          <a:lstStyle/>
          <a:p>
            <a:pPr algn="ctr" indent="0" marL="0">
              <a:buNone/>
            </a:pPr>
            <a:r>
              <a:rPr lang="en-US" sz="5400" b="1" dirty="0">
                <a:solidFill>
                  <a:srgbClr val="F8FAFC"/>
                </a:solidFill>
                <a:latin typeface="Calibri" pitchFamily="34" charset="0"/>
                <a:ea typeface="Calibri" pitchFamily="34" charset="-122"/>
                <a:cs typeface="Calibri" pitchFamily="34" charset="-120"/>
              </a:rPr>
              <a:t>Three Signals,</a:t>
            </a:r>
            <a:endParaRPr lang="en-US" sz="5400" dirty="0"/>
          </a:p>
        </p:txBody>
      </p:sp>
      <p:sp>
        <p:nvSpPr>
          <p:cNvPr id="6" name="Text 4"/>
          <p:cNvSpPr/>
          <p:nvPr/>
        </p:nvSpPr>
        <p:spPr>
          <a:xfrm>
            <a:off x="457200" y="2468880"/>
            <a:ext cx="8229600" cy="777240"/>
          </a:xfrm>
          <a:prstGeom prst="rect">
            <a:avLst/>
          </a:prstGeom>
          <a:noFill/>
          <a:ln/>
        </p:spPr>
        <p:txBody>
          <a:bodyPr wrap="square" lIns="0" tIns="0" rIns="0" bIns="0" rtlCol="0" anchor="ctr"/>
          <a:lstStyle/>
          <a:p>
            <a:pPr algn="ctr" indent="0" marL="0">
              <a:buNone/>
            </a:pPr>
            <a:r>
              <a:rPr lang="en-US" sz="5400" b="1" dirty="0">
                <a:solidFill>
                  <a:srgbClr val="14B8A6"/>
                </a:solidFill>
                <a:latin typeface="Calibri" pitchFamily="34" charset="0"/>
                <a:ea typeface="Calibri" pitchFamily="34" charset="-122"/>
                <a:cs typeface="Calibri" pitchFamily="34" charset="-120"/>
              </a:rPr>
              <a:t>One Story</a:t>
            </a:r>
            <a:endParaRPr lang="en-US" sz="5400" dirty="0"/>
          </a:p>
        </p:txBody>
      </p:sp>
      <p:sp>
        <p:nvSpPr>
          <p:cNvPr id="7" name="Text 5"/>
          <p:cNvSpPr/>
          <p:nvPr/>
        </p:nvSpPr>
        <p:spPr>
          <a:xfrm>
            <a:off x="457200" y="3383280"/>
            <a:ext cx="8229600" cy="457200"/>
          </a:xfrm>
          <a:prstGeom prst="rect">
            <a:avLst/>
          </a:prstGeom>
          <a:noFill/>
          <a:ln/>
        </p:spPr>
        <p:txBody>
          <a:bodyPr wrap="square" lIns="0" tIns="0" rIns="0" bIns="0" rtlCol="0" anchor="ctr"/>
          <a:lstStyle/>
          <a:p>
            <a:pPr algn="ctr" indent="0" marL="0">
              <a:buNone/>
            </a:pPr>
            <a:r>
              <a:rPr lang="en-US" sz="1800" i="1" dirty="0">
                <a:solidFill>
                  <a:srgbClr val="F8FAFC"/>
                </a:solidFill>
                <a:latin typeface="Calibri" pitchFamily="34" charset="0"/>
                <a:ea typeface="Calibri" pitchFamily="34" charset="-122"/>
                <a:cs typeface="Calibri" pitchFamily="34" charset="-120"/>
              </a:rPr>
              <a:t>What Observability Actually Costs in Containers</a:t>
            </a:r>
            <a:endParaRPr lang="en-US" sz="1800" dirty="0"/>
          </a:p>
        </p:txBody>
      </p:sp>
      <p:sp>
        <p:nvSpPr>
          <p:cNvPr id="8" name="Text 6"/>
          <p:cNvSpPr/>
          <p:nvPr/>
        </p:nvSpPr>
        <p:spPr>
          <a:xfrm>
            <a:off x="457200" y="4389120"/>
            <a:ext cx="8229600" cy="27432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[Speaker name]  ·  WeAreDevelopers World Congress NA  ·  [date]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indent="0" marL="0">
              <a:buNone/>
            </a:pPr>
            <a:r>
              <a:rPr lang="en-US" sz="3600" b="1" dirty="0">
                <a:solidFill>
                  <a:srgbClr val="0F172A"/>
                </a:solidFill>
                <a:latin typeface="Calibri" pitchFamily="34" charset="0"/>
                <a:ea typeface="Calibri" pitchFamily="34" charset="-122"/>
                <a:cs typeface="Calibri" pitchFamily="34" charset="-120"/>
              </a:rPr>
              <a:t>Why Unified Observability?</a:t>
            </a:r>
            <a:endParaRPr lang="en-US" sz="3600" dirty="0"/>
          </a:p>
        </p:txBody>
      </p:sp>
      <p:sp>
        <p:nvSpPr>
          <p:cNvPr id="3" name="Shape 1"/>
          <p:cNvSpPr/>
          <p:nvPr/>
        </p:nvSpPr>
        <p:spPr>
          <a:xfrm>
            <a:off x="457200" y="1280160"/>
            <a:ext cx="2651760" cy="3108960"/>
          </a:xfrm>
          <a:prstGeom prst="rect">
            <a:avLst/>
          </a:prstGeom>
          <a:solidFill>
            <a:srgbClr val="FEF2F2"/>
          </a:solidFill>
          <a:ln/>
        </p:spPr>
      </p:sp>
      <p:sp>
        <p:nvSpPr>
          <p:cNvPr id="4" name="Text 2"/>
          <p:cNvSpPr/>
          <p:nvPr/>
        </p:nvSpPr>
        <p:spPr>
          <a:xfrm>
            <a:off x="640080" y="1417320"/>
            <a:ext cx="2377440" cy="365760"/>
          </a:xfrm>
          <a:prstGeom prst="rect">
            <a:avLst/>
          </a:prstGeom>
          <a:noFill/>
          <a:ln/>
        </p:spPr>
        <p:txBody>
          <a:bodyPr wrap="square" lIns="0" tIns="0" rIns="0" bIns="0" rtlCol="0" anchor="ctr"/>
          <a:lstStyle/>
          <a:p>
            <a:pPr indent="0" marL="0">
              <a:buNone/>
            </a:pPr>
            <a:r>
              <a:rPr lang="en-US" sz="1400" b="1" dirty="0">
                <a:solidFill>
                  <a:srgbClr val="DC2626"/>
                </a:solidFill>
                <a:latin typeface="Calibri" pitchFamily="34" charset="0"/>
                <a:ea typeface="Calibri" pitchFamily="34" charset="-122"/>
                <a:cs typeface="Calibri" pitchFamily="34" charset="-120"/>
              </a:rPr>
              <a:t>Symptoms today</a:t>
            </a:r>
            <a:endParaRPr lang="en-US" sz="1400" dirty="0"/>
          </a:p>
        </p:txBody>
      </p:sp>
      <p:sp>
        <p:nvSpPr>
          <p:cNvPr id="5" name="Text 3"/>
          <p:cNvSpPr/>
          <p:nvPr/>
        </p:nvSpPr>
        <p:spPr>
          <a:xfrm>
            <a:off x="640080" y="1828800"/>
            <a:ext cx="2377440" cy="2468880"/>
          </a:xfrm>
          <a:prstGeom prst="rect">
            <a:avLst/>
          </a:prstGeom>
          <a:noFill/>
          <a:ln/>
        </p:spPr>
        <p:txBody>
          <a:bodyPr wrap="square" rtlCol="0" anchor="ctr"/>
          <a:lstStyle/>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Fragmented tooling per signal</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Vendor lock-in for each layer</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Trace IDs don't reach the logs</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Cardinality bombs in production</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GC pauses you only see post-mortem</a:t>
            </a:r>
            <a:endParaRPr lang="en-US" sz="1200" dirty="0"/>
          </a:p>
        </p:txBody>
      </p:sp>
      <p:sp>
        <p:nvSpPr>
          <p:cNvPr id="6" name="Shape 4"/>
          <p:cNvSpPr/>
          <p:nvPr/>
        </p:nvSpPr>
        <p:spPr>
          <a:xfrm>
            <a:off x="3246120" y="1280160"/>
            <a:ext cx="2651760" cy="3108960"/>
          </a:xfrm>
          <a:prstGeom prst="rect">
            <a:avLst/>
          </a:prstGeom>
          <a:solidFill>
            <a:srgbClr val="FFFBEB"/>
          </a:solidFill>
          <a:ln/>
        </p:spPr>
      </p:sp>
      <p:sp>
        <p:nvSpPr>
          <p:cNvPr id="7" name="Text 5"/>
          <p:cNvSpPr/>
          <p:nvPr/>
        </p:nvSpPr>
        <p:spPr>
          <a:xfrm>
            <a:off x="3429000" y="1417320"/>
            <a:ext cx="2377440" cy="365760"/>
          </a:xfrm>
          <a:prstGeom prst="rect">
            <a:avLst/>
          </a:prstGeom>
          <a:noFill/>
          <a:ln/>
        </p:spPr>
        <p:txBody>
          <a:bodyPr wrap="square" lIns="0" tIns="0" rIns="0" bIns="0" rtlCol="0" anchor="ctr"/>
          <a:lstStyle/>
          <a:p>
            <a:pPr indent="0" marL="0">
              <a:buNone/>
            </a:pPr>
            <a:r>
              <a:rPr lang="en-US" sz="1400" b="1" dirty="0">
                <a:solidFill>
                  <a:srgbClr val="F59E0B"/>
                </a:solidFill>
                <a:latin typeface="Calibri" pitchFamily="34" charset="0"/>
                <a:ea typeface="Calibri" pitchFamily="34" charset="-122"/>
                <a:cs typeface="Calibri" pitchFamily="34" charset="-120"/>
              </a:rPr>
              <a:t>OpenTelemetry promises</a:t>
            </a:r>
            <a:endParaRPr lang="en-US" sz="1400" dirty="0"/>
          </a:p>
        </p:txBody>
      </p:sp>
      <p:sp>
        <p:nvSpPr>
          <p:cNvPr id="8" name="Text 6"/>
          <p:cNvSpPr/>
          <p:nvPr/>
        </p:nvSpPr>
        <p:spPr>
          <a:xfrm>
            <a:off x="3429000" y="1828800"/>
            <a:ext cx="2377440" cy="2468880"/>
          </a:xfrm>
          <a:prstGeom prst="rect">
            <a:avLst/>
          </a:prstGeom>
          <a:noFill/>
          <a:ln/>
        </p:spPr>
        <p:txBody>
          <a:bodyPr wrap="square" rtlCol="0" anchor="ctr"/>
          <a:lstStyle/>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One vendor-neutral protocol (OTLP)</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Auto-instrumentation across libraries</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Cross-signal correlation by trace_id</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Pluggable processing in the Collector</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Consistent semantic conventions</a:t>
            </a:r>
            <a:endParaRPr lang="en-US" sz="1200" dirty="0"/>
          </a:p>
        </p:txBody>
      </p:sp>
      <p:sp>
        <p:nvSpPr>
          <p:cNvPr id="9" name="Shape 7"/>
          <p:cNvSpPr/>
          <p:nvPr/>
        </p:nvSpPr>
        <p:spPr>
          <a:xfrm>
            <a:off x="6035040" y="1280160"/>
            <a:ext cx="2651760" cy="3108960"/>
          </a:xfrm>
          <a:prstGeom prst="rect">
            <a:avLst/>
          </a:prstGeom>
          <a:solidFill>
            <a:srgbClr val="F0FDFA"/>
          </a:solidFill>
          <a:ln/>
        </p:spPr>
      </p:sp>
      <p:sp>
        <p:nvSpPr>
          <p:cNvPr id="10" name="Text 8"/>
          <p:cNvSpPr/>
          <p:nvPr/>
        </p:nvSpPr>
        <p:spPr>
          <a:xfrm>
            <a:off x="6217920" y="1417320"/>
            <a:ext cx="2377440" cy="365760"/>
          </a:xfrm>
          <a:prstGeom prst="rect">
            <a:avLst/>
          </a:prstGeom>
          <a:noFill/>
          <a:ln/>
        </p:spPr>
        <p:txBody>
          <a:bodyPr wrap="square" lIns="0" tIns="0" rIns="0" bIns="0" rtlCol="0" anchor="ctr"/>
          <a:lstStyle/>
          <a:p>
            <a:pPr indent="0" marL="0">
              <a:buNone/>
            </a:pPr>
            <a:r>
              <a:rPr lang="en-US" sz="1400" b="1" dirty="0">
                <a:solidFill>
                  <a:srgbClr val="0D9488"/>
                </a:solidFill>
                <a:latin typeface="Calibri" pitchFamily="34" charset="0"/>
                <a:ea typeface="Calibri" pitchFamily="34" charset="-122"/>
                <a:cs typeface="Calibri" pitchFamily="34" charset="-120"/>
              </a:rPr>
              <a:t>What we'll prove</a:t>
            </a:r>
            <a:endParaRPr lang="en-US" sz="1400" dirty="0"/>
          </a:p>
        </p:txBody>
      </p:sp>
      <p:sp>
        <p:nvSpPr>
          <p:cNvPr id="11" name="Text 9"/>
          <p:cNvSpPr/>
          <p:nvPr/>
        </p:nvSpPr>
        <p:spPr>
          <a:xfrm>
            <a:off x="6217920" y="1828800"/>
            <a:ext cx="2377440" cy="2468880"/>
          </a:xfrm>
          <a:prstGeom prst="rect">
            <a:avLst/>
          </a:prstGeom>
          <a:noFill/>
          <a:ln/>
        </p:spPr>
        <p:txBody>
          <a:bodyPr wrap="square" rtlCol="0" anchor="ctr"/>
          <a:lstStyle/>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All three signals, one trace_id</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Cardinality is taming, not magic</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Tail sampling keeps the interesting</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GC choice has visible operational shape</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Cold start: agent vs SDK is real</a:t>
            </a:r>
            <a:endParaRPr lang="en-US" sz="1200" dirty="0"/>
          </a:p>
        </p:txBody>
      </p:sp>
      <p:sp>
        <p:nvSpPr>
          <p:cNvPr id="12" name="Text 1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13" name="Text 11"/>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indent="0" marL="0">
              <a:buNone/>
            </a:pPr>
            <a:r>
              <a:rPr lang="en-US" sz="3600" b="1" dirty="0">
                <a:solidFill>
                  <a:srgbClr val="0F172A"/>
                </a:solidFill>
                <a:latin typeface="Calibri" pitchFamily="34" charset="0"/>
                <a:ea typeface="Calibri" pitchFamily="34" charset="-122"/>
                <a:cs typeface="Calibri" pitchFamily="34" charset="-120"/>
              </a:rPr>
              <a:t>Five Demos, Live</a:t>
            </a:r>
            <a:endParaRPr lang="en-US" sz="3600" dirty="0"/>
          </a:p>
        </p:txBody>
      </p:sp>
      <p:sp>
        <p:nvSpPr>
          <p:cNvPr id="3" name="Text 1"/>
          <p:cNvSpPr/>
          <p:nvPr/>
        </p:nvSpPr>
        <p:spPr>
          <a:xfrm>
            <a:off x="457200" y="914400"/>
            <a:ext cx="822960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Each demo runs end-to-end on a single laptop. Code on GitHub.</a:t>
            </a:r>
            <a:endParaRPr lang="en-US" sz="1400" dirty="0"/>
          </a:p>
        </p:txBody>
      </p:sp>
      <p:sp>
        <p:nvSpPr>
          <p:cNvPr id="4" name="Shape 2"/>
          <p:cNvSpPr/>
          <p:nvPr/>
        </p:nvSpPr>
        <p:spPr>
          <a:xfrm>
            <a:off x="457200" y="1417320"/>
            <a:ext cx="8229600" cy="566928"/>
          </a:xfrm>
          <a:prstGeom prst="rect">
            <a:avLst/>
          </a:prstGeom>
          <a:solidFill>
            <a:srgbClr val="F8FAFC"/>
          </a:solidFill>
          <a:ln/>
        </p:spPr>
      </p:sp>
      <p:sp>
        <p:nvSpPr>
          <p:cNvPr id="5" name="Shape 3"/>
          <p:cNvSpPr/>
          <p:nvPr/>
        </p:nvSpPr>
        <p:spPr>
          <a:xfrm>
            <a:off x="457200" y="1417320"/>
            <a:ext cx="73152" cy="566928"/>
          </a:xfrm>
          <a:prstGeom prst="rect">
            <a:avLst/>
          </a:prstGeom>
          <a:solidFill>
            <a:srgbClr val="0D9488"/>
          </a:solidFill>
          <a:ln/>
        </p:spPr>
      </p:sp>
      <p:sp>
        <p:nvSpPr>
          <p:cNvPr id="6" name="Text 4"/>
          <p:cNvSpPr/>
          <p:nvPr/>
        </p:nvSpPr>
        <p:spPr>
          <a:xfrm>
            <a:off x="640080" y="1417320"/>
            <a:ext cx="640080" cy="566928"/>
          </a:xfrm>
          <a:prstGeom prst="rect">
            <a:avLst/>
          </a:prstGeom>
          <a:noFill/>
          <a:ln/>
        </p:spPr>
        <p:txBody>
          <a:bodyPr wrap="square" lIns="0" tIns="0" rIns="0" bIns="0" rtlCol="0" anchor="ctr"/>
          <a:lstStyle/>
          <a:p>
            <a:pPr indent="0" marL="0">
              <a:buNone/>
            </a:pPr>
            <a:r>
              <a:rPr lang="en-US" sz="2200" b="1" dirty="0">
                <a:solidFill>
                  <a:srgbClr val="0D9488"/>
                </a:solidFill>
                <a:latin typeface="Calibri" pitchFamily="34" charset="0"/>
                <a:ea typeface="Calibri" pitchFamily="34" charset="-122"/>
                <a:cs typeface="Calibri" pitchFamily="34" charset="-120"/>
              </a:rPr>
              <a:t>01</a:t>
            </a:r>
            <a:endParaRPr lang="en-US" sz="2200" dirty="0"/>
          </a:p>
        </p:txBody>
      </p:sp>
      <p:sp>
        <p:nvSpPr>
          <p:cNvPr id="7" name="Text 5"/>
          <p:cNvSpPr/>
          <p:nvPr/>
        </p:nvSpPr>
        <p:spPr>
          <a:xfrm>
            <a:off x="1371600" y="1417320"/>
            <a:ext cx="3474720" cy="56692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Three Signals, One Story</a:t>
            </a:r>
            <a:endParaRPr lang="en-US" sz="1600" dirty="0"/>
          </a:p>
        </p:txBody>
      </p:sp>
      <p:sp>
        <p:nvSpPr>
          <p:cNvPr id="8" name="Text 6"/>
          <p:cNvSpPr/>
          <p:nvPr/>
        </p:nvSpPr>
        <p:spPr>
          <a:xfrm>
            <a:off x="4937760" y="1417320"/>
            <a:ext cx="3657600" cy="566928"/>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trace_id flows across traces, metrics, logs</a:t>
            </a:r>
            <a:endParaRPr lang="en-US" sz="1300" dirty="0"/>
          </a:p>
        </p:txBody>
      </p:sp>
      <p:sp>
        <p:nvSpPr>
          <p:cNvPr id="9" name="Shape 7"/>
          <p:cNvSpPr/>
          <p:nvPr/>
        </p:nvSpPr>
        <p:spPr>
          <a:xfrm>
            <a:off x="457200" y="2093976"/>
            <a:ext cx="8229600" cy="566928"/>
          </a:xfrm>
          <a:prstGeom prst="rect">
            <a:avLst/>
          </a:prstGeom>
          <a:solidFill>
            <a:srgbClr val="F8FAFC"/>
          </a:solidFill>
          <a:ln/>
        </p:spPr>
      </p:sp>
      <p:sp>
        <p:nvSpPr>
          <p:cNvPr id="10" name="Shape 8"/>
          <p:cNvSpPr/>
          <p:nvPr/>
        </p:nvSpPr>
        <p:spPr>
          <a:xfrm>
            <a:off x="457200" y="2093976"/>
            <a:ext cx="73152" cy="566928"/>
          </a:xfrm>
          <a:prstGeom prst="rect">
            <a:avLst/>
          </a:prstGeom>
          <a:solidFill>
            <a:srgbClr val="F59E0B"/>
          </a:solidFill>
          <a:ln/>
        </p:spPr>
      </p:sp>
      <p:sp>
        <p:nvSpPr>
          <p:cNvPr id="11" name="Text 9"/>
          <p:cNvSpPr/>
          <p:nvPr/>
        </p:nvSpPr>
        <p:spPr>
          <a:xfrm>
            <a:off x="640080" y="2093976"/>
            <a:ext cx="640080" cy="566928"/>
          </a:xfrm>
          <a:prstGeom prst="rect">
            <a:avLst/>
          </a:prstGeom>
          <a:noFill/>
          <a:ln/>
        </p:spPr>
        <p:txBody>
          <a:bodyPr wrap="square" lIns="0" tIns="0" rIns="0" bIns="0" rtlCol="0" anchor="ctr"/>
          <a:lstStyle/>
          <a:p>
            <a:pPr indent="0" marL="0">
              <a:buNone/>
            </a:pPr>
            <a:r>
              <a:rPr lang="en-US" sz="2200" b="1" dirty="0">
                <a:solidFill>
                  <a:srgbClr val="F59E0B"/>
                </a:solidFill>
                <a:latin typeface="Calibri" pitchFamily="34" charset="0"/>
                <a:ea typeface="Calibri" pitchFamily="34" charset="-122"/>
                <a:cs typeface="Calibri" pitchFamily="34" charset="-120"/>
              </a:rPr>
              <a:t>02</a:t>
            </a:r>
            <a:endParaRPr lang="en-US" sz="2200" dirty="0"/>
          </a:p>
        </p:txBody>
      </p:sp>
      <p:sp>
        <p:nvSpPr>
          <p:cNvPr id="12" name="Text 10"/>
          <p:cNvSpPr/>
          <p:nvPr/>
        </p:nvSpPr>
        <p:spPr>
          <a:xfrm>
            <a:off x="1371600" y="2093976"/>
            <a:ext cx="3474720" cy="56692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The Cardinality Bomb</a:t>
            </a:r>
            <a:endParaRPr lang="en-US" sz="1600" dirty="0"/>
          </a:p>
        </p:txBody>
      </p:sp>
      <p:sp>
        <p:nvSpPr>
          <p:cNvPr id="13" name="Text 11"/>
          <p:cNvSpPr/>
          <p:nvPr/>
        </p:nvSpPr>
        <p:spPr>
          <a:xfrm>
            <a:off x="4937760" y="2093976"/>
            <a:ext cx="3657600" cy="566928"/>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when labels explode and what to do about it</a:t>
            </a:r>
            <a:endParaRPr lang="en-US" sz="1300" dirty="0"/>
          </a:p>
        </p:txBody>
      </p:sp>
      <p:sp>
        <p:nvSpPr>
          <p:cNvPr id="14" name="Shape 12"/>
          <p:cNvSpPr/>
          <p:nvPr/>
        </p:nvSpPr>
        <p:spPr>
          <a:xfrm>
            <a:off x="457200" y="2770632"/>
            <a:ext cx="8229600" cy="566928"/>
          </a:xfrm>
          <a:prstGeom prst="rect">
            <a:avLst/>
          </a:prstGeom>
          <a:solidFill>
            <a:srgbClr val="F8FAFC"/>
          </a:solidFill>
          <a:ln/>
        </p:spPr>
      </p:sp>
      <p:sp>
        <p:nvSpPr>
          <p:cNvPr id="15" name="Shape 13"/>
          <p:cNvSpPr/>
          <p:nvPr/>
        </p:nvSpPr>
        <p:spPr>
          <a:xfrm>
            <a:off x="457200" y="2770632"/>
            <a:ext cx="73152" cy="566928"/>
          </a:xfrm>
          <a:prstGeom prst="rect">
            <a:avLst/>
          </a:prstGeom>
          <a:solidFill>
            <a:srgbClr val="8B5CF6"/>
          </a:solidFill>
          <a:ln/>
        </p:spPr>
      </p:sp>
      <p:sp>
        <p:nvSpPr>
          <p:cNvPr id="16" name="Text 14"/>
          <p:cNvSpPr/>
          <p:nvPr/>
        </p:nvSpPr>
        <p:spPr>
          <a:xfrm>
            <a:off x="640080" y="2770632"/>
            <a:ext cx="640080" cy="566928"/>
          </a:xfrm>
          <a:prstGeom prst="rect">
            <a:avLst/>
          </a:prstGeom>
          <a:noFill/>
          <a:ln/>
        </p:spPr>
        <p:txBody>
          <a:bodyPr wrap="square" lIns="0" tIns="0" rIns="0" bIns="0" rtlCol="0" anchor="ctr"/>
          <a:lstStyle/>
          <a:p>
            <a:pPr indent="0" marL="0">
              <a:buNone/>
            </a:pPr>
            <a:r>
              <a:rPr lang="en-US" sz="2200" b="1" dirty="0">
                <a:solidFill>
                  <a:srgbClr val="8B5CF6"/>
                </a:solidFill>
                <a:latin typeface="Calibri" pitchFamily="34" charset="0"/>
                <a:ea typeface="Calibri" pitchFamily="34" charset="-122"/>
                <a:cs typeface="Calibri" pitchFamily="34" charset="-120"/>
              </a:rPr>
              <a:t>03</a:t>
            </a:r>
            <a:endParaRPr lang="en-US" sz="2200" dirty="0"/>
          </a:p>
        </p:txBody>
      </p:sp>
      <p:sp>
        <p:nvSpPr>
          <p:cNvPr id="17" name="Text 15"/>
          <p:cNvSpPr/>
          <p:nvPr/>
        </p:nvSpPr>
        <p:spPr>
          <a:xfrm>
            <a:off x="1371600" y="2770632"/>
            <a:ext cx="3474720" cy="56692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Tail Sampling</a:t>
            </a:r>
            <a:endParaRPr lang="en-US" sz="1600" dirty="0"/>
          </a:p>
        </p:txBody>
      </p:sp>
      <p:sp>
        <p:nvSpPr>
          <p:cNvPr id="18" name="Text 16"/>
          <p:cNvSpPr/>
          <p:nvPr/>
        </p:nvSpPr>
        <p:spPr>
          <a:xfrm>
            <a:off x="4937760" y="2770632"/>
            <a:ext cx="3657600" cy="566928"/>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keep what's interesting, discard the rest</a:t>
            </a:r>
            <a:endParaRPr lang="en-US" sz="1300" dirty="0"/>
          </a:p>
        </p:txBody>
      </p:sp>
      <p:sp>
        <p:nvSpPr>
          <p:cNvPr id="19" name="Shape 17"/>
          <p:cNvSpPr/>
          <p:nvPr/>
        </p:nvSpPr>
        <p:spPr>
          <a:xfrm>
            <a:off x="457200" y="3447288"/>
            <a:ext cx="8229600" cy="566928"/>
          </a:xfrm>
          <a:prstGeom prst="rect">
            <a:avLst/>
          </a:prstGeom>
          <a:solidFill>
            <a:srgbClr val="F8FAFC"/>
          </a:solidFill>
          <a:ln/>
        </p:spPr>
      </p:sp>
      <p:sp>
        <p:nvSpPr>
          <p:cNvPr id="20" name="Shape 18"/>
          <p:cNvSpPr/>
          <p:nvPr/>
        </p:nvSpPr>
        <p:spPr>
          <a:xfrm>
            <a:off x="457200" y="3447288"/>
            <a:ext cx="73152" cy="566928"/>
          </a:xfrm>
          <a:prstGeom prst="rect">
            <a:avLst/>
          </a:prstGeom>
          <a:solidFill>
            <a:srgbClr val="06B6D4"/>
          </a:solidFill>
          <a:ln/>
        </p:spPr>
      </p:sp>
      <p:sp>
        <p:nvSpPr>
          <p:cNvPr id="21" name="Text 19"/>
          <p:cNvSpPr/>
          <p:nvPr/>
        </p:nvSpPr>
        <p:spPr>
          <a:xfrm>
            <a:off x="640080" y="3447288"/>
            <a:ext cx="640080" cy="566928"/>
          </a:xfrm>
          <a:prstGeom prst="rect">
            <a:avLst/>
          </a:prstGeom>
          <a:noFill/>
          <a:ln/>
        </p:spPr>
        <p:txBody>
          <a:bodyPr wrap="square" lIns="0" tIns="0" rIns="0" bIns="0" rtlCol="0" anchor="ctr"/>
          <a:lstStyle/>
          <a:p>
            <a:pPr indent="0" marL="0">
              <a:buNone/>
            </a:pPr>
            <a:r>
              <a:rPr lang="en-US" sz="2200" b="1" dirty="0">
                <a:solidFill>
                  <a:srgbClr val="06B6D4"/>
                </a:solidFill>
                <a:latin typeface="Calibri" pitchFamily="34" charset="0"/>
                <a:ea typeface="Calibri" pitchFamily="34" charset="-122"/>
                <a:cs typeface="Calibri" pitchFamily="34" charset="-120"/>
              </a:rPr>
              <a:t>04</a:t>
            </a:r>
            <a:endParaRPr lang="en-US" sz="2200" dirty="0"/>
          </a:p>
        </p:txBody>
      </p:sp>
      <p:sp>
        <p:nvSpPr>
          <p:cNvPr id="22" name="Text 20"/>
          <p:cNvSpPr/>
          <p:nvPr/>
        </p:nvSpPr>
        <p:spPr>
          <a:xfrm>
            <a:off x="1371600" y="3447288"/>
            <a:ext cx="3474720" cy="56692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JVM Metrics &amp; GC Stories</a:t>
            </a:r>
            <a:endParaRPr lang="en-US" sz="1600" dirty="0"/>
          </a:p>
        </p:txBody>
      </p:sp>
      <p:sp>
        <p:nvSpPr>
          <p:cNvPr id="23" name="Text 21"/>
          <p:cNvSpPr/>
          <p:nvPr/>
        </p:nvSpPr>
        <p:spPr>
          <a:xfrm>
            <a:off x="4937760" y="3447288"/>
            <a:ext cx="3657600" cy="566928"/>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Shenandoah, G1, ZGC: each has visible shape</a:t>
            </a:r>
            <a:endParaRPr lang="en-US" sz="1300" dirty="0"/>
          </a:p>
        </p:txBody>
      </p:sp>
      <p:sp>
        <p:nvSpPr>
          <p:cNvPr id="24" name="Shape 22"/>
          <p:cNvSpPr/>
          <p:nvPr/>
        </p:nvSpPr>
        <p:spPr>
          <a:xfrm>
            <a:off x="457200" y="4123944"/>
            <a:ext cx="8229600" cy="566928"/>
          </a:xfrm>
          <a:prstGeom prst="rect">
            <a:avLst/>
          </a:prstGeom>
          <a:solidFill>
            <a:srgbClr val="F8FAFC"/>
          </a:solidFill>
          <a:ln/>
        </p:spPr>
      </p:sp>
      <p:sp>
        <p:nvSpPr>
          <p:cNvPr id="25" name="Shape 23"/>
          <p:cNvSpPr/>
          <p:nvPr/>
        </p:nvSpPr>
        <p:spPr>
          <a:xfrm>
            <a:off x="457200" y="4123944"/>
            <a:ext cx="73152" cy="566928"/>
          </a:xfrm>
          <a:prstGeom prst="rect">
            <a:avLst/>
          </a:prstGeom>
          <a:solidFill>
            <a:srgbClr val="DC2626"/>
          </a:solidFill>
          <a:ln/>
        </p:spPr>
      </p:sp>
      <p:sp>
        <p:nvSpPr>
          <p:cNvPr id="26" name="Text 24"/>
          <p:cNvSpPr/>
          <p:nvPr/>
        </p:nvSpPr>
        <p:spPr>
          <a:xfrm>
            <a:off x="640080" y="4123944"/>
            <a:ext cx="640080" cy="566928"/>
          </a:xfrm>
          <a:prstGeom prst="rect">
            <a:avLst/>
          </a:prstGeom>
          <a:noFill/>
          <a:ln/>
        </p:spPr>
        <p:txBody>
          <a:bodyPr wrap="square" lIns="0" tIns="0" rIns="0" bIns="0" rtlCol="0" anchor="ctr"/>
          <a:lstStyle/>
          <a:p>
            <a:pPr indent="0" marL="0">
              <a:buNone/>
            </a:pPr>
            <a:r>
              <a:rPr lang="en-US" sz="2200" b="1" dirty="0">
                <a:solidFill>
                  <a:srgbClr val="DC2626"/>
                </a:solidFill>
                <a:latin typeface="Calibri" pitchFamily="34" charset="0"/>
                <a:ea typeface="Calibri" pitchFamily="34" charset="-122"/>
                <a:cs typeface="Calibri" pitchFamily="34" charset="-120"/>
              </a:rPr>
              <a:t>05</a:t>
            </a:r>
            <a:endParaRPr lang="en-US" sz="2200" dirty="0"/>
          </a:p>
        </p:txBody>
      </p:sp>
      <p:sp>
        <p:nvSpPr>
          <p:cNvPr id="27" name="Text 25"/>
          <p:cNvSpPr/>
          <p:nvPr/>
        </p:nvSpPr>
        <p:spPr>
          <a:xfrm>
            <a:off x="1371600" y="4123944"/>
            <a:ext cx="3474720" cy="56692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Cold Start: Frameworks Compared</a:t>
            </a:r>
            <a:endParaRPr lang="en-US" sz="1600" dirty="0"/>
          </a:p>
        </p:txBody>
      </p:sp>
      <p:sp>
        <p:nvSpPr>
          <p:cNvPr id="28" name="Text 26"/>
          <p:cNvSpPr/>
          <p:nvPr/>
        </p:nvSpPr>
        <p:spPr>
          <a:xfrm>
            <a:off x="4937760" y="4123944"/>
            <a:ext cx="3657600" cy="566928"/>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Spring Boot 4 vs Quarkus, same JDK + Leyden</a:t>
            </a:r>
            <a:endParaRPr lang="en-US" sz="1300" dirty="0"/>
          </a:p>
        </p:txBody>
      </p:sp>
      <p:sp>
        <p:nvSpPr>
          <p:cNvPr id="29" name="Text 27"/>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30" name="Text 28"/>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indent="0" marL="0">
              <a:buNone/>
            </a:pPr>
            <a:r>
              <a:rPr lang="en-US" sz="3600" b="1" dirty="0">
                <a:solidFill>
                  <a:srgbClr val="0F172A"/>
                </a:solidFill>
                <a:latin typeface="Calibri" pitchFamily="34" charset="0"/>
                <a:ea typeface="Calibri" pitchFamily="34" charset="-122"/>
                <a:cs typeface="Calibri" pitchFamily="34" charset="-120"/>
              </a:rPr>
              <a:t>The Three Signals</a:t>
            </a:r>
            <a:endParaRPr lang="en-US" sz="3600" dirty="0"/>
          </a:p>
        </p:txBody>
      </p:sp>
      <p:sp>
        <p:nvSpPr>
          <p:cNvPr id="3" name="Shape 1"/>
          <p:cNvSpPr/>
          <p:nvPr/>
        </p:nvSpPr>
        <p:spPr>
          <a:xfrm>
            <a:off x="457200" y="1188720"/>
            <a:ext cx="2697480" cy="457200"/>
          </a:xfrm>
          <a:prstGeom prst="rect">
            <a:avLst/>
          </a:prstGeom>
          <a:solidFill>
            <a:srgbClr val="8B5CF6"/>
          </a:solidFill>
          <a:ln/>
        </p:spPr>
      </p:sp>
      <p:sp>
        <p:nvSpPr>
          <p:cNvPr id="4" name="Text 2"/>
          <p:cNvSpPr/>
          <p:nvPr/>
        </p:nvSpPr>
        <p:spPr>
          <a:xfrm>
            <a:off x="640080" y="1234440"/>
            <a:ext cx="233172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Traces</a:t>
            </a:r>
            <a:endParaRPr lang="en-US" sz="1800" dirty="0"/>
          </a:p>
        </p:txBody>
      </p:sp>
      <p:sp>
        <p:nvSpPr>
          <p:cNvPr id="5" name="Shape 3"/>
          <p:cNvSpPr/>
          <p:nvPr/>
        </p:nvSpPr>
        <p:spPr>
          <a:xfrm>
            <a:off x="457200" y="1645920"/>
            <a:ext cx="2697480" cy="2926080"/>
          </a:xfrm>
          <a:prstGeom prst="rect">
            <a:avLst/>
          </a:prstGeom>
          <a:solidFill>
            <a:srgbClr val="F8FAFC"/>
          </a:solidFill>
          <a:ln/>
        </p:spPr>
      </p:sp>
      <p:sp>
        <p:nvSpPr>
          <p:cNvPr id="6" name="Text 4"/>
          <p:cNvSpPr/>
          <p:nvPr/>
        </p:nvSpPr>
        <p:spPr>
          <a:xfrm>
            <a:off x="640080" y="1783080"/>
            <a:ext cx="2331720" cy="411480"/>
          </a:xfrm>
          <a:prstGeom prst="rect">
            <a:avLst/>
          </a:prstGeom>
          <a:noFill/>
          <a:ln/>
        </p:spPr>
        <p:txBody>
          <a:bodyPr wrap="square" lIns="0" tIns="0" rIns="0" bIns="0" rtlCol="0" anchor="ctr"/>
          <a:lstStyle/>
          <a:p>
            <a:pPr indent="0" marL="0">
              <a:buNone/>
            </a:pPr>
            <a:r>
              <a:rPr lang="en-US" sz="1300" i="1" dirty="0">
                <a:solidFill>
                  <a:srgbClr val="0F172A"/>
                </a:solidFill>
                <a:latin typeface="Calibri" pitchFamily="34" charset="0"/>
                <a:ea typeface="Calibri" pitchFamily="34" charset="-122"/>
                <a:cs typeface="Calibri" pitchFamily="34" charset="-120"/>
              </a:rPr>
              <a:t>Causal chains across services</a:t>
            </a:r>
            <a:endParaRPr lang="en-US" sz="1300" dirty="0"/>
          </a:p>
        </p:txBody>
      </p:sp>
      <p:sp>
        <p:nvSpPr>
          <p:cNvPr id="7" name="Text 5"/>
          <p:cNvSpPr/>
          <p:nvPr/>
        </p:nvSpPr>
        <p:spPr>
          <a:xfrm>
            <a:off x="640080" y="2240280"/>
            <a:ext cx="2331720" cy="365760"/>
          </a:xfrm>
          <a:prstGeom prst="rect">
            <a:avLst/>
          </a:prstGeom>
          <a:noFill/>
          <a:ln/>
        </p:spPr>
        <p:txBody>
          <a:bodyPr wrap="square" lIns="0" tIns="0" rIns="0" bIns="0" rtlCol="0" anchor="ctr"/>
          <a:lstStyle/>
          <a:p>
            <a:pPr indent="0" marL="0">
              <a:buNone/>
            </a:pPr>
            <a:r>
              <a:rPr lang="en-US" sz="1100" dirty="0">
                <a:solidFill>
                  <a:srgbClr val="64748B"/>
                </a:solidFill>
                <a:latin typeface="Consolas" pitchFamily="34" charset="0"/>
                <a:ea typeface="Consolas" pitchFamily="34" charset="-122"/>
                <a:cs typeface="Consolas" pitchFamily="34" charset="-120"/>
              </a:rPr>
              <a:t>Hello → User Service → DB</a:t>
            </a:r>
            <a:endParaRPr lang="en-US" sz="1100" dirty="0"/>
          </a:p>
        </p:txBody>
      </p:sp>
      <p:sp>
        <p:nvSpPr>
          <p:cNvPr id="8" name="Text 6"/>
          <p:cNvSpPr/>
          <p:nvPr/>
        </p:nvSpPr>
        <p:spPr>
          <a:xfrm>
            <a:off x="640080" y="2743200"/>
            <a:ext cx="2331720" cy="274320"/>
          </a:xfrm>
          <a:prstGeom prst="rect">
            <a:avLst/>
          </a:prstGeom>
          <a:noFill/>
          <a:ln/>
        </p:spPr>
        <p:txBody>
          <a:bodyPr wrap="square" lIns="0" tIns="0" rIns="0" bIns="0" rtlCol="0" anchor="ctr"/>
          <a:lstStyle/>
          <a:p>
            <a:pPr indent="0" marL="0">
              <a:buNone/>
            </a:pPr>
            <a:r>
              <a:rPr lang="en-US" sz="1000" b="1" dirty="0">
                <a:solidFill>
                  <a:srgbClr val="0D9488"/>
                </a:solidFill>
                <a:latin typeface="Calibri" pitchFamily="34" charset="0"/>
                <a:ea typeface="Calibri" pitchFamily="34" charset="-122"/>
                <a:cs typeface="Calibri" pitchFamily="34" charset="-120"/>
              </a:rPr>
              <a:t>Strength</a:t>
            </a:r>
            <a:endParaRPr lang="en-US" sz="1000" dirty="0"/>
          </a:p>
        </p:txBody>
      </p:sp>
      <p:sp>
        <p:nvSpPr>
          <p:cNvPr id="9" name="Text 7"/>
          <p:cNvSpPr/>
          <p:nvPr/>
        </p:nvSpPr>
        <p:spPr>
          <a:xfrm>
            <a:off x="640080" y="2971800"/>
            <a:ext cx="2331720" cy="45720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Find the bottleneck, see latency</a:t>
            </a:r>
            <a:endParaRPr lang="en-US" sz="1200" dirty="0"/>
          </a:p>
        </p:txBody>
      </p:sp>
      <p:sp>
        <p:nvSpPr>
          <p:cNvPr id="10" name="Text 8"/>
          <p:cNvSpPr/>
          <p:nvPr/>
        </p:nvSpPr>
        <p:spPr>
          <a:xfrm>
            <a:off x="640080" y="3520440"/>
            <a:ext cx="23317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Watch out</a:t>
            </a:r>
            <a:endParaRPr lang="en-US" sz="1000" dirty="0"/>
          </a:p>
        </p:txBody>
      </p:sp>
      <p:sp>
        <p:nvSpPr>
          <p:cNvPr id="11" name="Text 9"/>
          <p:cNvSpPr/>
          <p:nvPr/>
        </p:nvSpPr>
        <p:spPr>
          <a:xfrm>
            <a:off x="640080" y="3749040"/>
            <a:ext cx="2331720" cy="45720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Sampling is essential at scale</a:t>
            </a:r>
            <a:endParaRPr lang="en-US" sz="1200" dirty="0"/>
          </a:p>
        </p:txBody>
      </p:sp>
      <p:sp>
        <p:nvSpPr>
          <p:cNvPr id="12" name="Shape 10"/>
          <p:cNvSpPr/>
          <p:nvPr/>
        </p:nvSpPr>
        <p:spPr>
          <a:xfrm>
            <a:off x="3291840" y="1188720"/>
            <a:ext cx="2697480" cy="457200"/>
          </a:xfrm>
          <a:prstGeom prst="rect">
            <a:avLst/>
          </a:prstGeom>
          <a:solidFill>
            <a:srgbClr val="F59E0B"/>
          </a:solidFill>
          <a:ln/>
        </p:spPr>
      </p:sp>
      <p:sp>
        <p:nvSpPr>
          <p:cNvPr id="13" name="Text 11"/>
          <p:cNvSpPr/>
          <p:nvPr/>
        </p:nvSpPr>
        <p:spPr>
          <a:xfrm>
            <a:off x="3474720" y="1234440"/>
            <a:ext cx="233172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Metrics</a:t>
            </a:r>
            <a:endParaRPr lang="en-US" sz="1800" dirty="0"/>
          </a:p>
        </p:txBody>
      </p:sp>
      <p:sp>
        <p:nvSpPr>
          <p:cNvPr id="14" name="Shape 12"/>
          <p:cNvSpPr/>
          <p:nvPr/>
        </p:nvSpPr>
        <p:spPr>
          <a:xfrm>
            <a:off x="3291840" y="1645920"/>
            <a:ext cx="2697480" cy="2926080"/>
          </a:xfrm>
          <a:prstGeom prst="rect">
            <a:avLst/>
          </a:prstGeom>
          <a:solidFill>
            <a:srgbClr val="F8FAFC"/>
          </a:solidFill>
          <a:ln/>
        </p:spPr>
      </p:sp>
      <p:sp>
        <p:nvSpPr>
          <p:cNvPr id="15" name="Text 13"/>
          <p:cNvSpPr/>
          <p:nvPr/>
        </p:nvSpPr>
        <p:spPr>
          <a:xfrm>
            <a:off x="3474720" y="1783080"/>
            <a:ext cx="2331720" cy="411480"/>
          </a:xfrm>
          <a:prstGeom prst="rect">
            <a:avLst/>
          </a:prstGeom>
          <a:noFill/>
          <a:ln/>
        </p:spPr>
        <p:txBody>
          <a:bodyPr wrap="square" lIns="0" tIns="0" rIns="0" bIns="0" rtlCol="0" anchor="ctr"/>
          <a:lstStyle/>
          <a:p>
            <a:pPr indent="0" marL="0">
              <a:buNone/>
            </a:pPr>
            <a:r>
              <a:rPr lang="en-US" sz="1300" i="1" dirty="0">
                <a:solidFill>
                  <a:srgbClr val="0F172A"/>
                </a:solidFill>
                <a:latin typeface="Calibri" pitchFamily="34" charset="0"/>
                <a:ea typeface="Calibri" pitchFamily="34" charset="-122"/>
                <a:cs typeface="Calibri" pitchFamily="34" charset="-120"/>
              </a:rPr>
              <a:t>Aggregated time-series counters</a:t>
            </a:r>
            <a:endParaRPr lang="en-US" sz="1300" dirty="0"/>
          </a:p>
        </p:txBody>
      </p:sp>
      <p:sp>
        <p:nvSpPr>
          <p:cNvPr id="16" name="Text 14"/>
          <p:cNvSpPr/>
          <p:nvPr/>
        </p:nvSpPr>
        <p:spPr>
          <a:xfrm>
            <a:off x="3474720" y="2240280"/>
            <a:ext cx="2331720" cy="365760"/>
          </a:xfrm>
          <a:prstGeom prst="rect">
            <a:avLst/>
          </a:prstGeom>
          <a:noFill/>
          <a:ln/>
        </p:spPr>
        <p:txBody>
          <a:bodyPr wrap="square" lIns="0" tIns="0" rIns="0" bIns="0" rtlCol="0" anchor="ctr"/>
          <a:lstStyle/>
          <a:p>
            <a:pPr indent="0" marL="0">
              <a:buNone/>
            </a:pPr>
            <a:r>
              <a:rPr lang="en-US" sz="1100" dirty="0">
                <a:solidFill>
                  <a:srgbClr val="64748B"/>
                </a:solidFill>
                <a:latin typeface="Consolas" pitchFamily="34" charset="0"/>
                <a:ea typeface="Consolas" pitchFamily="34" charset="-122"/>
                <a:cs typeface="Consolas" pitchFamily="34" charset="-120"/>
              </a:rPr>
              <a:t>http_requests_total{status=200}</a:t>
            </a:r>
            <a:endParaRPr lang="en-US" sz="1100" dirty="0"/>
          </a:p>
        </p:txBody>
      </p:sp>
      <p:sp>
        <p:nvSpPr>
          <p:cNvPr id="17" name="Text 15"/>
          <p:cNvSpPr/>
          <p:nvPr/>
        </p:nvSpPr>
        <p:spPr>
          <a:xfrm>
            <a:off x="3474720" y="2743200"/>
            <a:ext cx="2331720" cy="274320"/>
          </a:xfrm>
          <a:prstGeom prst="rect">
            <a:avLst/>
          </a:prstGeom>
          <a:noFill/>
          <a:ln/>
        </p:spPr>
        <p:txBody>
          <a:bodyPr wrap="square" lIns="0" tIns="0" rIns="0" bIns="0" rtlCol="0" anchor="ctr"/>
          <a:lstStyle/>
          <a:p>
            <a:pPr indent="0" marL="0">
              <a:buNone/>
            </a:pPr>
            <a:r>
              <a:rPr lang="en-US" sz="1000" b="1" dirty="0">
                <a:solidFill>
                  <a:srgbClr val="0D9488"/>
                </a:solidFill>
                <a:latin typeface="Calibri" pitchFamily="34" charset="0"/>
                <a:ea typeface="Calibri" pitchFamily="34" charset="-122"/>
                <a:cs typeface="Calibri" pitchFamily="34" charset="-120"/>
              </a:rPr>
              <a:t>Strength</a:t>
            </a:r>
            <a:endParaRPr lang="en-US" sz="1000" dirty="0"/>
          </a:p>
        </p:txBody>
      </p:sp>
      <p:sp>
        <p:nvSpPr>
          <p:cNvPr id="18" name="Text 16"/>
          <p:cNvSpPr/>
          <p:nvPr/>
        </p:nvSpPr>
        <p:spPr>
          <a:xfrm>
            <a:off x="3474720" y="2971800"/>
            <a:ext cx="2331720" cy="45720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Cheap to store, easy to alert</a:t>
            </a:r>
            <a:endParaRPr lang="en-US" sz="1200" dirty="0"/>
          </a:p>
        </p:txBody>
      </p:sp>
      <p:sp>
        <p:nvSpPr>
          <p:cNvPr id="19" name="Text 17"/>
          <p:cNvSpPr/>
          <p:nvPr/>
        </p:nvSpPr>
        <p:spPr>
          <a:xfrm>
            <a:off x="3474720" y="3520440"/>
            <a:ext cx="23317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Watch out</a:t>
            </a:r>
            <a:endParaRPr lang="en-US" sz="1000" dirty="0"/>
          </a:p>
        </p:txBody>
      </p:sp>
      <p:sp>
        <p:nvSpPr>
          <p:cNvPr id="20" name="Text 18"/>
          <p:cNvSpPr/>
          <p:nvPr/>
        </p:nvSpPr>
        <p:spPr>
          <a:xfrm>
            <a:off x="3474720" y="3749040"/>
            <a:ext cx="2331720" cy="45720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Cardinality bombs are real</a:t>
            </a:r>
            <a:endParaRPr lang="en-US" sz="1200" dirty="0"/>
          </a:p>
        </p:txBody>
      </p:sp>
      <p:sp>
        <p:nvSpPr>
          <p:cNvPr id="21" name="Shape 19"/>
          <p:cNvSpPr/>
          <p:nvPr/>
        </p:nvSpPr>
        <p:spPr>
          <a:xfrm>
            <a:off x="6126480" y="1188720"/>
            <a:ext cx="2697480" cy="457200"/>
          </a:xfrm>
          <a:prstGeom prst="rect">
            <a:avLst/>
          </a:prstGeom>
          <a:solidFill>
            <a:srgbClr val="06B6D4"/>
          </a:solidFill>
          <a:ln/>
        </p:spPr>
      </p:sp>
      <p:sp>
        <p:nvSpPr>
          <p:cNvPr id="22" name="Text 20"/>
          <p:cNvSpPr/>
          <p:nvPr/>
        </p:nvSpPr>
        <p:spPr>
          <a:xfrm>
            <a:off x="6309360" y="1234440"/>
            <a:ext cx="233172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Logs</a:t>
            </a:r>
            <a:endParaRPr lang="en-US" sz="1800" dirty="0"/>
          </a:p>
        </p:txBody>
      </p:sp>
      <p:sp>
        <p:nvSpPr>
          <p:cNvPr id="23" name="Shape 21"/>
          <p:cNvSpPr/>
          <p:nvPr/>
        </p:nvSpPr>
        <p:spPr>
          <a:xfrm>
            <a:off x="6126480" y="1645920"/>
            <a:ext cx="2697480" cy="2926080"/>
          </a:xfrm>
          <a:prstGeom prst="rect">
            <a:avLst/>
          </a:prstGeom>
          <a:solidFill>
            <a:srgbClr val="F8FAFC"/>
          </a:solidFill>
          <a:ln/>
        </p:spPr>
      </p:sp>
      <p:sp>
        <p:nvSpPr>
          <p:cNvPr id="24" name="Text 22"/>
          <p:cNvSpPr/>
          <p:nvPr/>
        </p:nvSpPr>
        <p:spPr>
          <a:xfrm>
            <a:off x="6309360" y="1783080"/>
            <a:ext cx="2331720" cy="411480"/>
          </a:xfrm>
          <a:prstGeom prst="rect">
            <a:avLst/>
          </a:prstGeom>
          <a:noFill/>
          <a:ln/>
        </p:spPr>
        <p:txBody>
          <a:bodyPr wrap="square" lIns="0" tIns="0" rIns="0" bIns="0" rtlCol="0" anchor="ctr"/>
          <a:lstStyle/>
          <a:p>
            <a:pPr indent="0" marL="0">
              <a:buNone/>
            </a:pPr>
            <a:r>
              <a:rPr lang="en-US" sz="1300" i="1" dirty="0">
                <a:solidFill>
                  <a:srgbClr val="0F172A"/>
                </a:solidFill>
                <a:latin typeface="Calibri" pitchFamily="34" charset="0"/>
                <a:ea typeface="Calibri" pitchFamily="34" charset="-122"/>
                <a:cs typeface="Calibri" pitchFamily="34" charset="-120"/>
              </a:rPr>
              <a:t>Discrete events with context</a:t>
            </a:r>
            <a:endParaRPr lang="en-US" sz="1300" dirty="0"/>
          </a:p>
        </p:txBody>
      </p:sp>
      <p:sp>
        <p:nvSpPr>
          <p:cNvPr id="25" name="Text 23"/>
          <p:cNvSpPr/>
          <p:nvPr/>
        </p:nvSpPr>
        <p:spPr>
          <a:xfrm>
            <a:off x="6309360" y="2240280"/>
            <a:ext cx="2331720" cy="365760"/>
          </a:xfrm>
          <a:prstGeom prst="rect">
            <a:avLst/>
          </a:prstGeom>
          <a:noFill/>
          <a:ln/>
        </p:spPr>
        <p:txBody>
          <a:bodyPr wrap="square" lIns="0" tIns="0" rIns="0" bIns="0" rtlCol="0" anchor="ctr"/>
          <a:lstStyle/>
          <a:p>
            <a:pPr indent="0" marL="0">
              <a:buNone/>
            </a:pPr>
            <a:r>
              <a:rPr lang="en-US" sz="1100" dirty="0">
                <a:solidFill>
                  <a:srgbClr val="64748B"/>
                </a:solidFill>
                <a:latin typeface="Consolas" pitchFamily="34" charset="0"/>
                <a:ea typeface="Consolas" pitchFamily="34" charset="-122"/>
                <a:cs typeface="Consolas" pitchFamily="34" charset="-120"/>
              </a:rPr>
              <a:t>INFO  HikariPool started</a:t>
            </a:r>
            <a:endParaRPr lang="en-US" sz="1100" dirty="0"/>
          </a:p>
        </p:txBody>
      </p:sp>
      <p:sp>
        <p:nvSpPr>
          <p:cNvPr id="26" name="Text 24"/>
          <p:cNvSpPr/>
          <p:nvPr/>
        </p:nvSpPr>
        <p:spPr>
          <a:xfrm>
            <a:off x="6309360" y="2743200"/>
            <a:ext cx="2331720" cy="274320"/>
          </a:xfrm>
          <a:prstGeom prst="rect">
            <a:avLst/>
          </a:prstGeom>
          <a:noFill/>
          <a:ln/>
        </p:spPr>
        <p:txBody>
          <a:bodyPr wrap="square" lIns="0" tIns="0" rIns="0" bIns="0" rtlCol="0" anchor="ctr"/>
          <a:lstStyle/>
          <a:p>
            <a:pPr indent="0" marL="0">
              <a:buNone/>
            </a:pPr>
            <a:r>
              <a:rPr lang="en-US" sz="1000" b="1" dirty="0">
                <a:solidFill>
                  <a:srgbClr val="0D9488"/>
                </a:solidFill>
                <a:latin typeface="Calibri" pitchFamily="34" charset="0"/>
                <a:ea typeface="Calibri" pitchFamily="34" charset="-122"/>
                <a:cs typeface="Calibri" pitchFamily="34" charset="-120"/>
              </a:rPr>
              <a:t>Strength</a:t>
            </a:r>
            <a:endParaRPr lang="en-US" sz="1000" dirty="0"/>
          </a:p>
        </p:txBody>
      </p:sp>
      <p:sp>
        <p:nvSpPr>
          <p:cNvPr id="27" name="Text 25"/>
          <p:cNvSpPr/>
          <p:nvPr/>
        </p:nvSpPr>
        <p:spPr>
          <a:xfrm>
            <a:off x="6309360" y="2971800"/>
            <a:ext cx="2331720" cy="45720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Highest fidelity, lowest skill bar</a:t>
            </a:r>
            <a:endParaRPr lang="en-US" sz="1200" dirty="0"/>
          </a:p>
        </p:txBody>
      </p:sp>
      <p:sp>
        <p:nvSpPr>
          <p:cNvPr id="28" name="Text 26"/>
          <p:cNvSpPr/>
          <p:nvPr/>
        </p:nvSpPr>
        <p:spPr>
          <a:xfrm>
            <a:off x="6309360" y="3520440"/>
            <a:ext cx="23317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Watch out</a:t>
            </a:r>
            <a:endParaRPr lang="en-US" sz="1000" dirty="0"/>
          </a:p>
        </p:txBody>
      </p:sp>
      <p:sp>
        <p:nvSpPr>
          <p:cNvPr id="29" name="Text 27"/>
          <p:cNvSpPr/>
          <p:nvPr/>
        </p:nvSpPr>
        <p:spPr>
          <a:xfrm>
            <a:off x="6309360" y="3749040"/>
            <a:ext cx="2331720" cy="45720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Volume explodes; storage costs</a:t>
            </a:r>
            <a:endParaRPr lang="en-US" sz="1200" dirty="0"/>
          </a:p>
        </p:txBody>
      </p:sp>
      <p:sp>
        <p:nvSpPr>
          <p:cNvPr id="30" name="Text 28"/>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31" name="Text 29"/>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OpenTelemetry: The Unification Layer</a:t>
            </a:r>
            <a:endParaRPr lang="en-US" sz="3200" dirty="0"/>
          </a:p>
        </p:txBody>
      </p:sp>
      <p:sp>
        <p:nvSpPr>
          <p:cNvPr id="3" name="Text 1"/>
          <p:cNvSpPr/>
          <p:nvPr/>
        </p:nvSpPr>
        <p:spPr>
          <a:xfrm>
            <a:off x="457200" y="914400"/>
            <a:ext cx="822960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One protocol. One SDK. Three signals — preserved, correlated, vendor-neutral.</a:t>
            </a:r>
            <a:endParaRPr lang="en-US" sz="1400" dirty="0"/>
          </a:p>
        </p:txBody>
      </p:sp>
      <p:sp>
        <p:nvSpPr>
          <p:cNvPr id="4" name="Shape 2"/>
          <p:cNvSpPr/>
          <p:nvPr/>
        </p:nvSpPr>
        <p:spPr>
          <a:xfrm>
            <a:off x="274320" y="1828800"/>
            <a:ext cx="1554480" cy="1371600"/>
          </a:xfrm>
          <a:prstGeom prst="rect">
            <a:avLst/>
          </a:prstGeom>
          <a:solidFill>
            <a:srgbClr val="0F172A"/>
          </a:solidFill>
          <a:ln/>
        </p:spPr>
      </p:sp>
      <p:sp>
        <p:nvSpPr>
          <p:cNvPr id="5" name="Text 3"/>
          <p:cNvSpPr/>
          <p:nvPr/>
        </p:nvSpPr>
        <p:spPr>
          <a:xfrm>
            <a:off x="365760" y="2103120"/>
            <a:ext cx="1371600" cy="457200"/>
          </a:xfrm>
          <a:prstGeom prst="rect">
            <a:avLst/>
          </a:prstGeom>
          <a:noFill/>
          <a:ln/>
        </p:spPr>
        <p:txBody>
          <a:bodyPr wrap="square" lIns="0" tIns="0" rIns="0" bIns="0" rtlCol="0" anchor="ctr"/>
          <a:lstStyle/>
          <a:p>
            <a:pPr algn="ctr" indent="0" marL="0">
              <a:buNone/>
            </a:pPr>
            <a:r>
              <a:rPr lang="en-US" sz="1400" b="1" dirty="0">
                <a:solidFill>
                  <a:srgbClr val="F8FAFC"/>
                </a:solidFill>
                <a:latin typeface="Calibri" pitchFamily="34" charset="0"/>
                <a:ea typeface="Calibri" pitchFamily="34" charset="-122"/>
                <a:cs typeface="Calibri" pitchFamily="34" charset="-120"/>
              </a:rPr>
              <a:t>Application</a:t>
            </a:r>
            <a:endParaRPr lang="en-US" sz="1400" dirty="0"/>
          </a:p>
        </p:txBody>
      </p:sp>
      <p:sp>
        <p:nvSpPr>
          <p:cNvPr id="6" name="Text 4"/>
          <p:cNvSpPr/>
          <p:nvPr/>
        </p:nvSpPr>
        <p:spPr>
          <a:xfrm>
            <a:off x="365760" y="2606040"/>
            <a:ext cx="1371600" cy="457200"/>
          </a:xfrm>
          <a:prstGeom prst="rect">
            <a:avLst/>
          </a:prstGeom>
          <a:noFill/>
          <a:ln/>
        </p:spPr>
        <p:txBody>
          <a:bodyPr wrap="square" lIns="0" tIns="0" rIns="0" bIns="0" rtlCol="0" anchor="ctr"/>
          <a:lstStyle/>
          <a:p>
            <a:pPr algn="ctr" indent="0" marL="0">
              <a:buNone/>
            </a:pPr>
            <a:r>
              <a:rPr lang="en-US" sz="1000" dirty="0">
                <a:solidFill>
                  <a:srgbClr val="F8FAFC"/>
                </a:solidFill>
                <a:latin typeface="Consolas" pitchFamily="34" charset="0"/>
                <a:ea typeface="Consolas" pitchFamily="34" charset="-122"/>
                <a:cs typeface="Consolas" pitchFamily="34" charset="-120"/>
              </a:rPr>
              <a:t>Spring Boot 4 / JDK 25</a:t>
            </a:r>
            <a:endParaRPr lang="en-US" sz="1000" dirty="0"/>
          </a:p>
        </p:txBody>
      </p:sp>
      <p:sp>
        <p:nvSpPr>
          <p:cNvPr id="7" name="Shape 5"/>
          <p:cNvSpPr/>
          <p:nvPr/>
        </p:nvSpPr>
        <p:spPr>
          <a:xfrm>
            <a:off x="1874520" y="2468880"/>
            <a:ext cx="320040" cy="0"/>
          </a:xfrm>
          <a:prstGeom prst="line">
            <a:avLst/>
          </a:prstGeom>
          <a:noFill/>
          <a:ln w="25400">
            <a:solidFill>
              <a:srgbClr val="64748B"/>
            </a:solidFill>
            <a:prstDash val="solid"/>
            <a:tailEnd type="triangle"/>
          </a:ln>
        </p:spPr>
      </p:sp>
      <p:sp>
        <p:nvSpPr>
          <p:cNvPr id="8" name="Shape 6"/>
          <p:cNvSpPr/>
          <p:nvPr/>
        </p:nvSpPr>
        <p:spPr>
          <a:xfrm>
            <a:off x="2240280" y="1828800"/>
            <a:ext cx="1554480" cy="1371600"/>
          </a:xfrm>
          <a:prstGeom prst="rect">
            <a:avLst/>
          </a:prstGeom>
          <a:solidFill>
            <a:srgbClr val="0D9488"/>
          </a:solidFill>
          <a:ln/>
        </p:spPr>
      </p:sp>
      <p:sp>
        <p:nvSpPr>
          <p:cNvPr id="9" name="Text 7"/>
          <p:cNvSpPr/>
          <p:nvPr/>
        </p:nvSpPr>
        <p:spPr>
          <a:xfrm>
            <a:off x="2331720" y="2103120"/>
            <a:ext cx="13716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Instrumentation</a:t>
            </a:r>
            <a:endParaRPr lang="en-US" sz="1400" dirty="0"/>
          </a:p>
        </p:txBody>
      </p:sp>
      <p:sp>
        <p:nvSpPr>
          <p:cNvPr id="10" name="Text 8"/>
          <p:cNvSpPr/>
          <p:nvPr/>
        </p:nvSpPr>
        <p:spPr>
          <a:xfrm>
            <a:off x="2331720" y="2606040"/>
            <a:ext cx="1371600" cy="457200"/>
          </a:xfrm>
          <a:prstGeom prst="rect">
            <a:avLst/>
          </a:prstGeom>
          <a:noFill/>
          <a:ln/>
        </p:spPr>
        <p:txBody>
          <a:bodyPr wrap="square" lIns="0" tIns="0" rIns="0" bIns="0" rtlCol="0" anchor="ctr"/>
          <a:lstStyle/>
          <a:p>
            <a:pPr algn="ctr" indent="0" marL="0">
              <a:buNone/>
            </a:pPr>
            <a:r>
              <a:rPr lang="en-US" sz="1000" dirty="0">
                <a:solidFill>
                  <a:srgbClr val="FFFFFF"/>
                </a:solidFill>
                <a:latin typeface="Consolas" pitchFamily="34" charset="0"/>
                <a:ea typeface="Consolas" pitchFamily="34" charset="-122"/>
                <a:cs typeface="Consolas" pitchFamily="34" charset="-120"/>
              </a:rPr>
              <a:t>Agent  ·  SDK</a:t>
            </a:r>
            <a:endParaRPr lang="en-US" sz="1000" dirty="0"/>
          </a:p>
        </p:txBody>
      </p:sp>
      <p:sp>
        <p:nvSpPr>
          <p:cNvPr id="11" name="Shape 9"/>
          <p:cNvSpPr/>
          <p:nvPr/>
        </p:nvSpPr>
        <p:spPr>
          <a:xfrm>
            <a:off x="3840480" y="2468880"/>
            <a:ext cx="320040" cy="0"/>
          </a:xfrm>
          <a:prstGeom prst="line">
            <a:avLst/>
          </a:prstGeom>
          <a:noFill/>
          <a:ln w="25400">
            <a:solidFill>
              <a:srgbClr val="64748B"/>
            </a:solidFill>
            <a:prstDash val="solid"/>
            <a:tailEnd type="triangle"/>
          </a:ln>
        </p:spPr>
      </p:sp>
      <p:sp>
        <p:nvSpPr>
          <p:cNvPr id="12" name="Shape 10"/>
          <p:cNvSpPr/>
          <p:nvPr/>
        </p:nvSpPr>
        <p:spPr>
          <a:xfrm>
            <a:off x="4206240" y="1828800"/>
            <a:ext cx="1463040" cy="1371600"/>
          </a:xfrm>
          <a:prstGeom prst="rect">
            <a:avLst/>
          </a:prstGeom>
          <a:solidFill>
            <a:srgbClr val="14B8A6"/>
          </a:solidFill>
          <a:ln/>
        </p:spPr>
      </p:sp>
      <p:sp>
        <p:nvSpPr>
          <p:cNvPr id="13" name="Text 11"/>
          <p:cNvSpPr/>
          <p:nvPr/>
        </p:nvSpPr>
        <p:spPr>
          <a:xfrm>
            <a:off x="4297680" y="2103120"/>
            <a:ext cx="128016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OTLP</a:t>
            </a:r>
            <a:endParaRPr lang="en-US" sz="1400" dirty="0"/>
          </a:p>
        </p:txBody>
      </p:sp>
      <p:sp>
        <p:nvSpPr>
          <p:cNvPr id="14" name="Text 12"/>
          <p:cNvSpPr/>
          <p:nvPr/>
        </p:nvSpPr>
        <p:spPr>
          <a:xfrm>
            <a:off x="4297680" y="2606040"/>
            <a:ext cx="1280160" cy="457200"/>
          </a:xfrm>
          <a:prstGeom prst="rect">
            <a:avLst/>
          </a:prstGeom>
          <a:noFill/>
          <a:ln/>
        </p:spPr>
        <p:txBody>
          <a:bodyPr wrap="square" lIns="0" tIns="0" rIns="0" bIns="0" rtlCol="0" anchor="ctr"/>
          <a:lstStyle/>
          <a:p>
            <a:pPr algn="ctr" indent="0" marL="0">
              <a:buNone/>
            </a:pPr>
            <a:r>
              <a:rPr lang="en-US" sz="1000" dirty="0">
                <a:solidFill>
                  <a:srgbClr val="FFFFFF"/>
                </a:solidFill>
                <a:latin typeface="Consolas" pitchFamily="34" charset="0"/>
                <a:ea typeface="Consolas" pitchFamily="34" charset="-122"/>
                <a:cs typeface="Consolas" pitchFamily="34" charset="-120"/>
              </a:rPr>
              <a:t>http/protobuf 4318</a:t>
            </a:r>
            <a:endParaRPr lang="en-US" sz="1000" dirty="0"/>
          </a:p>
        </p:txBody>
      </p:sp>
      <p:sp>
        <p:nvSpPr>
          <p:cNvPr id="15" name="Shape 13"/>
          <p:cNvSpPr/>
          <p:nvPr/>
        </p:nvSpPr>
        <p:spPr>
          <a:xfrm>
            <a:off x="5715000" y="2468880"/>
            <a:ext cx="320040" cy="0"/>
          </a:xfrm>
          <a:prstGeom prst="line">
            <a:avLst/>
          </a:prstGeom>
          <a:noFill/>
          <a:ln w="25400">
            <a:solidFill>
              <a:srgbClr val="64748B"/>
            </a:solidFill>
            <a:prstDash val="solid"/>
            <a:tailEnd type="triangle"/>
          </a:ln>
        </p:spPr>
      </p:sp>
      <p:sp>
        <p:nvSpPr>
          <p:cNvPr id="16" name="Shape 14"/>
          <p:cNvSpPr/>
          <p:nvPr/>
        </p:nvSpPr>
        <p:spPr>
          <a:xfrm>
            <a:off x="6080760" y="1828800"/>
            <a:ext cx="1554480" cy="1371600"/>
          </a:xfrm>
          <a:prstGeom prst="rect">
            <a:avLst/>
          </a:prstGeom>
          <a:solidFill>
            <a:srgbClr val="1E293B"/>
          </a:solidFill>
          <a:ln/>
        </p:spPr>
      </p:sp>
      <p:sp>
        <p:nvSpPr>
          <p:cNvPr id="17" name="Text 15"/>
          <p:cNvSpPr/>
          <p:nvPr/>
        </p:nvSpPr>
        <p:spPr>
          <a:xfrm>
            <a:off x="6172200" y="2103120"/>
            <a:ext cx="1371600" cy="457200"/>
          </a:xfrm>
          <a:prstGeom prst="rect">
            <a:avLst/>
          </a:prstGeom>
          <a:noFill/>
          <a:ln/>
        </p:spPr>
        <p:txBody>
          <a:bodyPr wrap="square" lIns="0" tIns="0" rIns="0" bIns="0" rtlCol="0" anchor="ctr"/>
          <a:lstStyle/>
          <a:p>
            <a:pPr algn="ctr" indent="0" marL="0">
              <a:buNone/>
            </a:pPr>
            <a:r>
              <a:rPr lang="en-US" sz="1400" b="1" dirty="0">
                <a:solidFill>
                  <a:srgbClr val="F8FAFC"/>
                </a:solidFill>
                <a:latin typeface="Calibri" pitchFamily="34" charset="0"/>
                <a:ea typeface="Calibri" pitchFamily="34" charset="-122"/>
                <a:cs typeface="Calibri" pitchFamily="34" charset="-120"/>
              </a:rPr>
              <a:t>Collector</a:t>
            </a:r>
            <a:endParaRPr lang="en-US" sz="1400" dirty="0"/>
          </a:p>
        </p:txBody>
      </p:sp>
      <p:sp>
        <p:nvSpPr>
          <p:cNvPr id="18" name="Text 16"/>
          <p:cNvSpPr/>
          <p:nvPr/>
        </p:nvSpPr>
        <p:spPr>
          <a:xfrm>
            <a:off x="6172200" y="2606040"/>
            <a:ext cx="1371600" cy="457200"/>
          </a:xfrm>
          <a:prstGeom prst="rect">
            <a:avLst/>
          </a:prstGeom>
          <a:noFill/>
          <a:ln/>
        </p:spPr>
        <p:txBody>
          <a:bodyPr wrap="square" lIns="0" tIns="0" rIns="0" bIns="0" rtlCol="0" anchor="ctr"/>
          <a:lstStyle/>
          <a:p>
            <a:pPr algn="ctr" indent="0" marL="0">
              <a:buNone/>
            </a:pPr>
            <a:r>
              <a:rPr lang="en-US" sz="1000" dirty="0">
                <a:solidFill>
                  <a:srgbClr val="F8FAFC"/>
                </a:solidFill>
                <a:latin typeface="Consolas" pitchFamily="34" charset="0"/>
                <a:ea typeface="Consolas" pitchFamily="34" charset="-122"/>
                <a:cs typeface="Consolas" pitchFamily="34" charset="-120"/>
              </a:rPr>
              <a:t>Process · Filter · Route</a:t>
            </a:r>
            <a:endParaRPr lang="en-US" sz="1000" dirty="0"/>
          </a:p>
        </p:txBody>
      </p:sp>
      <p:sp>
        <p:nvSpPr>
          <p:cNvPr id="19" name="Shape 17"/>
          <p:cNvSpPr/>
          <p:nvPr/>
        </p:nvSpPr>
        <p:spPr>
          <a:xfrm>
            <a:off x="7680960" y="2468880"/>
            <a:ext cx="320040" cy="0"/>
          </a:xfrm>
          <a:prstGeom prst="line">
            <a:avLst/>
          </a:prstGeom>
          <a:noFill/>
          <a:ln w="25400">
            <a:solidFill>
              <a:srgbClr val="64748B"/>
            </a:solidFill>
            <a:prstDash val="solid"/>
            <a:tailEnd type="triangle"/>
          </a:ln>
        </p:spPr>
      </p:sp>
      <p:sp>
        <p:nvSpPr>
          <p:cNvPr id="20" name="Shape 18"/>
          <p:cNvSpPr/>
          <p:nvPr/>
        </p:nvSpPr>
        <p:spPr>
          <a:xfrm>
            <a:off x="8046720" y="1828800"/>
            <a:ext cx="914400" cy="1371600"/>
          </a:xfrm>
          <a:prstGeom prst="rect">
            <a:avLst/>
          </a:prstGeom>
          <a:solidFill>
            <a:srgbClr val="64748B"/>
          </a:solidFill>
          <a:ln/>
        </p:spPr>
      </p:sp>
      <p:sp>
        <p:nvSpPr>
          <p:cNvPr id="21" name="Text 19"/>
          <p:cNvSpPr/>
          <p:nvPr/>
        </p:nvSpPr>
        <p:spPr>
          <a:xfrm>
            <a:off x="8138160" y="2103120"/>
            <a:ext cx="73152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Backends</a:t>
            </a:r>
            <a:endParaRPr lang="en-US" sz="1400" dirty="0"/>
          </a:p>
        </p:txBody>
      </p:sp>
      <p:sp>
        <p:nvSpPr>
          <p:cNvPr id="22" name="Text 20"/>
          <p:cNvSpPr/>
          <p:nvPr/>
        </p:nvSpPr>
        <p:spPr>
          <a:xfrm>
            <a:off x="8138160" y="2606040"/>
            <a:ext cx="731520" cy="457200"/>
          </a:xfrm>
          <a:prstGeom prst="rect">
            <a:avLst/>
          </a:prstGeom>
          <a:noFill/>
          <a:ln/>
        </p:spPr>
        <p:txBody>
          <a:bodyPr wrap="square" lIns="0" tIns="0" rIns="0" bIns="0" rtlCol="0" anchor="ctr"/>
          <a:lstStyle/>
          <a:p>
            <a:pPr algn="ctr" indent="0" marL="0">
              <a:buNone/>
            </a:pPr>
            <a:r>
              <a:rPr lang="en-US" sz="1000" dirty="0">
                <a:solidFill>
                  <a:srgbClr val="FFFFFF"/>
                </a:solidFill>
                <a:latin typeface="Consolas" pitchFamily="34" charset="0"/>
                <a:ea typeface="Consolas" pitchFamily="34" charset="-122"/>
                <a:cs typeface="Consolas" pitchFamily="34" charset="-120"/>
              </a:rPr>
              <a:t>Tempo · Mimir · Loki</a:t>
            </a:r>
            <a:endParaRPr lang="en-US" sz="1000" dirty="0"/>
          </a:p>
        </p:txBody>
      </p:sp>
      <p:sp>
        <p:nvSpPr>
          <p:cNvPr id="23" name="Text 21"/>
          <p:cNvSpPr/>
          <p:nvPr/>
        </p:nvSpPr>
        <p:spPr>
          <a:xfrm>
            <a:off x="457200" y="3657600"/>
            <a:ext cx="8229600" cy="365760"/>
          </a:xfrm>
          <a:prstGeom prst="rect">
            <a:avLst/>
          </a:prstGeom>
          <a:noFill/>
          <a:ln/>
        </p:spPr>
        <p:txBody>
          <a:bodyPr wrap="square" lIns="0" tIns="0" rIns="0" bIns="0" rtlCol="0" anchor="ctr"/>
          <a:lstStyle/>
          <a:p>
            <a:pPr algn="ctr" indent="0" marL="0">
              <a:buNone/>
            </a:pPr>
            <a:r>
              <a:rPr lang="en-US" sz="1600" i="1" dirty="0">
                <a:solidFill>
                  <a:srgbClr val="0D9488"/>
                </a:solidFill>
                <a:latin typeface="Calibri" pitchFamily="34" charset="0"/>
                <a:ea typeface="Calibri" pitchFamily="34" charset="-122"/>
                <a:cs typeface="Calibri" pitchFamily="34" charset="-120"/>
              </a:rPr>
              <a:t>It's the protocol that matters, not the library used.</a:t>
            </a:r>
            <a:endParaRPr lang="en-US" sz="1600" dirty="0"/>
          </a:p>
        </p:txBody>
      </p:sp>
      <p:sp>
        <p:nvSpPr>
          <p:cNvPr id="24" name="Text 22"/>
          <p:cNvSpPr/>
          <p:nvPr/>
        </p:nvSpPr>
        <p:spPr>
          <a:xfrm>
            <a:off x="457200" y="4114800"/>
            <a:ext cx="8229600" cy="36576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Spring Boot 4 (Nov 2025) ships a native OpenTelemetry SDK starter — no agent required.</a:t>
            </a:r>
            <a:endParaRPr lang="en-US" sz="1200" dirty="0"/>
          </a:p>
        </p:txBody>
      </p:sp>
      <p:sp>
        <p:nvSpPr>
          <p:cNvPr id="25" name="Text 23"/>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26" name="Text 24"/>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indent="0" marL="0">
              <a:buNone/>
            </a:pPr>
            <a:r>
              <a:rPr lang="en-US" sz="3600" b="1" dirty="0">
                <a:solidFill>
                  <a:srgbClr val="0F172A"/>
                </a:solidFill>
                <a:latin typeface="Calibri" pitchFamily="34" charset="0"/>
                <a:ea typeface="Calibri" pitchFamily="34" charset="-122"/>
                <a:cs typeface="Calibri" pitchFamily="34" charset="-120"/>
              </a:rPr>
              <a:t>The Reference Stack</a:t>
            </a:r>
            <a:endParaRPr lang="en-US" sz="3600" dirty="0"/>
          </a:p>
        </p:txBody>
      </p:sp>
      <p:sp>
        <p:nvSpPr>
          <p:cNvPr id="3" name="Text 1"/>
          <p:cNvSpPr/>
          <p:nvPr/>
        </p:nvSpPr>
        <p:spPr>
          <a:xfrm>
            <a:off x="457200" y="914400"/>
            <a:ext cx="822960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Same stack across all 5 demos. One Grafana, three signal backends.</a:t>
            </a:r>
            <a:endParaRPr lang="en-US" sz="1400" dirty="0"/>
          </a:p>
        </p:txBody>
      </p:sp>
      <p:sp>
        <p:nvSpPr>
          <p:cNvPr id="4" name="Shape 2"/>
          <p:cNvSpPr/>
          <p:nvPr/>
        </p:nvSpPr>
        <p:spPr>
          <a:xfrm>
            <a:off x="457200" y="1581912"/>
            <a:ext cx="274320" cy="274320"/>
          </a:xfrm>
          <a:prstGeom prst="ellipse">
            <a:avLst/>
          </a:prstGeom>
          <a:solidFill>
            <a:srgbClr val="8B5CF6"/>
          </a:solidFill>
          <a:ln/>
        </p:spPr>
      </p:sp>
      <p:sp>
        <p:nvSpPr>
          <p:cNvPr id="5" name="Text 3"/>
          <p:cNvSpPr/>
          <p:nvPr/>
        </p:nvSpPr>
        <p:spPr>
          <a:xfrm>
            <a:off x="868680" y="1463040"/>
            <a:ext cx="1554480" cy="5029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Tempo</a:t>
            </a:r>
            <a:endParaRPr lang="en-US" sz="1600" dirty="0"/>
          </a:p>
        </p:txBody>
      </p:sp>
      <p:sp>
        <p:nvSpPr>
          <p:cNvPr id="6" name="Text 4"/>
          <p:cNvSpPr/>
          <p:nvPr/>
        </p:nvSpPr>
        <p:spPr>
          <a:xfrm>
            <a:off x="2468880" y="1463040"/>
            <a:ext cx="3657600" cy="50292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Trace storage backend</a:t>
            </a:r>
            <a:endParaRPr lang="en-US" sz="1300" dirty="0"/>
          </a:p>
        </p:txBody>
      </p:sp>
      <p:sp>
        <p:nvSpPr>
          <p:cNvPr id="7" name="Shape 5"/>
          <p:cNvSpPr/>
          <p:nvPr/>
        </p:nvSpPr>
        <p:spPr>
          <a:xfrm>
            <a:off x="457200" y="2176272"/>
            <a:ext cx="274320" cy="274320"/>
          </a:xfrm>
          <a:prstGeom prst="ellipse">
            <a:avLst/>
          </a:prstGeom>
          <a:solidFill>
            <a:srgbClr val="F59E0B"/>
          </a:solidFill>
          <a:ln/>
        </p:spPr>
      </p:sp>
      <p:sp>
        <p:nvSpPr>
          <p:cNvPr id="8" name="Text 6"/>
          <p:cNvSpPr/>
          <p:nvPr/>
        </p:nvSpPr>
        <p:spPr>
          <a:xfrm>
            <a:off x="868680" y="2057400"/>
            <a:ext cx="1554480" cy="5029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Mimir</a:t>
            </a:r>
            <a:endParaRPr lang="en-US" sz="1600" dirty="0"/>
          </a:p>
        </p:txBody>
      </p:sp>
      <p:sp>
        <p:nvSpPr>
          <p:cNvPr id="9" name="Text 7"/>
          <p:cNvSpPr/>
          <p:nvPr/>
        </p:nvSpPr>
        <p:spPr>
          <a:xfrm>
            <a:off x="2468880" y="2057400"/>
            <a:ext cx="3657600" cy="50292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Prometheus-compatible TSDB</a:t>
            </a:r>
            <a:endParaRPr lang="en-US" sz="1300" dirty="0"/>
          </a:p>
        </p:txBody>
      </p:sp>
      <p:sp>
        <p:nvSpPr>
          <p:cNvPr id="10" name="Shape 8"/>
          <p:cNvSpPr/>
          <p:nvPr/>
        </p:nvSpPr>
        <p:spPr>
          <a:xfrm>
            <a:off x="457200" y="2770632"/>
            <a:ext cx="274320" cy="274320"/>
          </a:xfrm>
          <a:prstGeom prst="ellipse">
            <a:avLst/>
          </a:prstGeom>
          <a:solidFill>
            <a:srgbClr val="06B6D4"/>
          </a:solidFill>
          <a:ln/>
        </p:spPr>
      </p:sp>
      <p:sp>
        <p:nvSpPr>
          <p:cNvPr id="11" name="Text 9"/>
          <p:cNvSpPr/>
          <p:nvPr/>
        </p:nvSpPr>
        <p:spPr>
          <a:xfrm>
            <a:off x="868680" y="2651760"/>
            <a:ext cx="1554480" cy="5029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Loki</a:t>
            </a:r>
            <a:endParaRPr lang="en-US" sz="1600" dirty="0"/>
          </a:p>
        </p:txBody>
      </p:sp>
      <p:sp>
        <p:nvSpPr>
          <p:cNvPr id="12" name="Text 10"/>
          <p:cNvSpPr/>
          <p:nvPr/>
        </p:nvSpPr>
        <p:spPr>
          <a:xfrm>
            <a:off x="2468880" y="2651760"/>
            <a:ext cx="3657600" cy="50292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Log aggregation engine</a:t>
            </a:r>
            <a:endParaRPr lang="en-US" sz="1300" dirty="0"/>
          </a:p>
        </p:txBody>
      </p:sp>
      <p:sp>
        <p:nvSpPr>
          <p:cNvPr id="13" name="Shape 11"/>
          <p:cNvSpPr/>
          <p:nvPr/>
        </p:nvSpPr>
        <p:spPr>
          <a:xfrm>
            <a:off x="457200" y="3364992"/>
            <a:ext cx="274320" cy="274320"/>
          </a:xfrm>
          <a:prstGeom prst="ellipse">
            <a:avLst/>
          </a:prstGeom>
          <a:solidFill>
            <a:srgbClr val="0D9488"/>
          </a:solidFill>
          <a:ln/>
        </p:spPr>
      </p:sp>
      <p:sp>
        <p:nvSpPr>
          <p:cNvPr id="14" name="Text 12"/>
          <p:cNvSpPr/>
          <p:nvPr/>
        </p:nvSpPr>
        <p:spPr>
          <a:xfrm>
            <a:off x="868680" y="3246120"/>
            <a:ext cx="1554480" cy="5029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Grafana</a:t>
            </a:r>
            <a:endParaRPr lang="en-US" sz="1600" dirty="0"/>
          </a:p>
        </p:txBody>
      </p:sp>
      <p:sp>
        <p:nvSpPr>
          <p:cNvPr id="15" name="Text 13"/>
          <p:cNvSpPr/>
          <p:nvPr/>
        </p:nvSpPr>
        <p:spPr>
          <a:xfrm>
            <a:off x="2468880" y="3246120"/>
            <a:ext cx="3657600" cy="50292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Unified UI for all three signals</a:t>
            </a:r>
            <a:endParaRPr lang="en-US" sz="1300" dirty="0"/>
          </a:p>
        </p:txBody>
      </p:sp>
      <p:sp>
        <p:nvSpPr>
          <p:cNvPr id="16" name="Shape 14"/>
          <p:cNvSpPr/>
          <p:nvPr/>
        </p:nvSpPr>
        <p:spPr>
          <a:xfrm>
            <a:off x="457200" y="3959352"/>
            <a:ext cx="274320" cy="274320"/>
          </a:xfrm>
          <a:prstGeom prst="ellipse">
            <a:avLst/>
          </a:prstGeom>
          <a:solidFill>
            <a:srgbClr val="14B8A6"/>
          </a:solidFill>
          <a:ln/>
        </p:spPr>
      </p:sp>
      <p:sp>
        <p:nvSpPr>
          <p:cNvPr id="17" name="Text 15"/>
          <p:cNvSpPr/>
          <p:nvPr/>
        </p:nvSpPr>
        <p:spPr>
          <a:xfrm>
            <a:off x="868680" y="3840480"/>
            <a:ext cx="1554480" cy="5029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Collector</a:t>
            </a:r>
            <a:endParaRPr lang="en-US" sz="1600" dirty="0"/>
          </a:p>
        </p:txBody>
      </p:sp>
      <p:sp>
        <p:nvSpPr>
          <p:cNvPr id="18" name="Text 16"/>
          <p:cNvSpPr/>
          <p:nvPr/>
        </p:nvSpPr>
        <p:spPr>
          <a:xfrm>
            <a:off x="2468880" y="3840480"/>
            <a:ext cx="3657600" cy="50292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OTLP ingest, processing, routing</a:t>
            </a:r>
            <a:endParaRPr lang="en-US" sz="1300" dirty="0"/>
          </a:p>
        </p:txBody>
      </p:sp>
      <p:sp>
        <p:nvSpPr>
          <p:cNvPr id="19" name="Shape 17"/>
          <p:cNvSpPr/>
          <p:nvPr/>
        </p:nvSpPr>
        <p:spPr>
          <a:xfrm>
            <a:off x="6126480" y="1463040"/>
            <a:ext cx="2560320" cy="3017520"/>
          </a:xfrm>
          <a:prstGeom prst="rect">
            <a:avLst/>
          </a:prstGeom>
          <a:solidFill>
            <a:srgbClr val="0F172A"/>
          </a:solidFill>
          <a:ln/>
        </p:spPr>
      </p:sp>
      <p:sp>
        <p:nvSpPr>
          <p:cNvPr id="20" name="Text 18"/>
          <p:cNvSpPr/>
          <p:nvPr/>
        </p:nvSpPr>
        <p:spPr>
          <a:xfrm>
            <a:off x="6309360" y="1554480"/>
            <a:ext cx="2377440" cy="365760"/>
          </a:xfrm>
          <a:prstGeom prst="rect">
            <a:avLst/>
          </a:prstGeom>
          <a:noFill/>
          <a:ln/>
        </p:spPr>
        <p:txBody>
          <a:bodyPr wrap="square" lIns="0" tIns="0" rIns="0" bIns="0" rtlCol="0" anchor="ctr"/>
          <a:lstStyle/>
          <a:p>
            <a:pPr indent="0" marL="0">
              <a:buNone/>
            </a:pPr>
            <a:r>
              <a:rPr lang="en-US" sz="1400" b="1" dirty="0">
                <a:solidFill>
                  <a:srgbClr val="14B8A6"/>
                </a:solidFill>
                <a:latin typeface="Calibri" pitchFamily="34" charset="0"/>
                <a:ea typeface="Calibri" pitchFamily="34" charset="-122"/>
                <a:cs typeface="Calibri" pitchFamily="34" charset="-120"/>
              </a:rPr>
              <a:t>How to access</a:t>
            </a:r>
            <a:endParaRPr lang="en-US" sz="1400" dirty="0"/>
          </a:p>
        </p:txBody>
      </p:sp>
      <p:sp>
        <p:nvSpPr>
          <p:cNvPr id="21" name="Text 19"/>
          <p:cNvSpPr/>
          <p:nvPr/>
        </p:nvSpPr>
        <p:spPr>
          <a:xfrm>
            <a:off x="6309360" y="1920240"/>
            <a:ext cx="2377440" cy="2468880"/>
          </a:xfrm>
          <a:prstGeom prst="rect">
            <a:avLst/>
          </a:prstGeom>
          <a:noFill/>
          <a:ln/>
        </p:spPr>
        <p:txBody>
          <a:bodyPr wrap="square" rtlCol="0" anchor="ctr"/>
          <a:lstStyle/>
          <a:p>
            <a:pPr indent="0" marL="0">
              <a:spcAft>
                <a:spcPts val="200"/>
              </a:spcAft>
              <a:buNone/>
            </a:pPr>
            <a:r>
              <a:rPr lang="en-US" sz="1200" b="1" dirty="0">
                <a:solidFill>
                  <a:srgbClr val="F8FAFC"/>
                </a:solidFill>
                <a:latin typeface="Calibri" pitchFamily="34" charset="0"/>
                <a:ea typeface="Calibri" pitchFamily="34" charset="-122"/>
                <a:cs typeface="Calibri" pitchFamily="34" charset="-120"/>
              </a:rPr>
              <a:t>Grafana UI</a:t>
            </a:r>
            <a:endParaRPr lang="en-US" sz="1200" dirty="0"/>
          </a:p>
          <a:p>
            <a:pPr indent="0" marL="0">
              <a:spcAft>
                <a:spcPts val="200"/>
              </a:spcAft>
              <a:buNone/>
            </a:pPr>
            <a:r>
              <a:rPr lang="en-US" sz="1100" dirty="0">
                <a:solidFill>
                  <a:srgbClr val="F8FAFC"/>
                </a:solidFill>
                <a:latin typeface="Consolas" pitchFamily="34" charset="0"/>
                <a:ea typeface="Consolas" pitchFamily="34" charset="-122"/>
                <a:cs typeface="Consolas" pitchFamily="34" charset="-120"/>
              </a:rPr>
              <a:t>localhost:300X</a:t>
            </a:r>
            <a:endParaRPr lang="en-US" sz="1200" dirty="0"/>
          </a:p>
          <a:p>
            <a:pPr indent="0" marL="0">
              <a:spcAft>
                <a:spcPts val="200"/>
              </a:spcAft>
              <a:buNone/>
            </a:pPr>
            <a:r>
              <a:rPr lang="en-US" sz="1200" dirty="0">
                <a:solidFill>
                  <a:srgbClr val="000000"/>
                </a:solidFill>
                <a:latin typeface="Calibri" pitchFamily="34" charset="0"/>
                <a:ea typeface="Calibri" pitchFamily="34" charset="-122"/>
                <a:cs typeface="Calibri" pitchFamily="34" charset="-120"/>
              </a:rPr>
              <a:t> </a:t>
            </a:r>
            <a:endParaRPr lang="en-US" sz="1200" dirty="0"/>
          </a:p>
          <a:p>
            <a:pPr indent="0" marL="0">
              <a:spcAft>
                <a:spcPts val="200"/>
              </a:spcAft>
              <a:buNone/>
            </a:pPr>
            <a:r>
              <a:rPr lang="en-US" sz="1200" b="1" dirty="0">
                <a:solidFill>
                  <a:srgbClr val="F8FAFC"/>
                </a:solidFill>
                <a:latin typeface="Calibri" pitchFamily="34" charset="0"/>
                <a:ea typeface="Calibri" pitchFamily="34" charset="-122"/>
                <a:cs typeface="Calibri" pitchFamily="34" charset="-120"/>
              </a:rPr>
              <a:t>OTLP endpoint</a:t>
            </a:r>
            <a:endParaRPr lang="en-US" sz="1200" dirty="0"/>
          </a:p>
          <a:p>
            <a:pPr indent="0" marL="0">
              <a:spcAft>
                <a:spcPts val="200"/>
              </a:spcAft>
              <a:buNone/>
            </a:pPr>
            <a:r>
              <a:rPr lang="en-US" sz="1100" dirty="0">
                <a:solidFill>
                  <a:srgbClr val="F8FAFC"/>
                </a:solidFill>
                <a:latin typeface="Consolas" pitchFamily="34" charset="0"/>
                <a:ea typeface="Consolas" pitchFamily="34" charset="-122"/>
                <a:cs typeface="Consolas" pitchFamily="34" charset="-120"/>
              </a:rPr>
              <a:t>localhost:443XX</a:t>
            </a:r>
            <a:endParaRPr lang="en-US" sz="1200" dirty="0"/>
          </a:p>
          <a:p>
            <a:pPr indent="0" marL="0">
              <a:spcAft>
                <a:spcPts val="200"/>
              </a:spcAft>
              <a:buNone/>
            </a:pPr>
            <a:r>
              <a:rPr lang="en-US" sz="1200" dirty="0">
                <a:solidFill>
                  <a:srgbClr val="000000"/>
                </a:solidFill>
                <a:latin typeface="Calibri" pitchFamily="34" charset="0"/>
                <a:ea typeface="Calibri" pitchFamily="34" charset="-122"/>
                <a:cs typeface="Calibri" pitchFamily="34" charset="-120"/>
              </a:rPr>
              <a:t> </a:t>
            </a:r>
            <a:endParaRPr lang="en-US" sz="1200" dirty="0"/>
          </a:p>
          <a:p>
            <a:pPr indent="0" marL="0">
              <a:spcAft>
                <a:spcPts val="200"/>
              </a:spcAft>
              <a:buNone/>
            </a:pPr>
            <a:r>
              <a:rPr lang="en-US" sz="1200" b="1" dirty="0">
                <a:solidFill>
                  <a:srgbClr val="F8FAFC"/>
                </a:solidFill>
                <a:latin typeface="Calibri" pitchFamily="34" charset="0"/>
                <a:ea typeface="Calibri" pitchFamily="34" charset="-122"/>
                <a:cs typeface="Calibri" pitchFamily="34" charset="-120"/>
              </a:rPr>
              <a:t>Image</a:t>
            </a:r>
            <a:endParaRPr lang="en-US" sz="1200" dirty="0"/>
          </a:p>
          <a:p>
            <a:pPr indent="0" marL="0">
              <a:spcAft>
                <a:spcPts val="200"/>
              </a:spcAft>
              <a:buNone/>
            </a:pPr>
            <a:r>
              <a:rPr lang="en-US" sz="1100" dirty="0">
                <a:solidFill>
                  <a:srgbClr val="F8FAFC"/>
                </a:solidFill>
                <a:latin typeface="Consolas" pitchFamily="34" charset="0"/>
                <a:ea typeface="Consolas" pitchFamily="34" charset="-122"/>
                <a:cs typeface="Consolas" pitchFamily="34" charset="-120"/>
              </a:rPr>
              <a:t>grafana/otel-lgtm</a:t>
            </a:r>
            <a:endParaRPr lang="en-US" sz="1200" dirty="0"/>
          </a:p>
        </p:txBody>
      </p:sp>
      <p:sp>
        <p:nvSpPr>
          <p:cNvPr id="22" name="Text 2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23" name="Text 21"/>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1188720" cy="548640"/>
          </a:xfrm>
          <a:prstGeom prst="rect">
            <a:avLst/>
          </a:prstGeom>
          <a:solidFill>
            <a:srgbClr val="0D9488"/>
          </a:solidFill>
          <a:ln/>
        </p:spPr>
      </p:sp>
      <p:sp>
        <p:nvSpPr>
          <p:cNvPr id="3" name="Text 1"/>
          <p:cNvSpPr/>
          <p:nvPr/>
        </p:nvSpPr>
        <p:spPr>
          <a:xfrm>
            <a:off x="457200" y="457200"/>
            <a:ext cx="118872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Demo 01</a:t>
            </a:r>
            <a:endParaRPr lang="en-US" sz="1600" dirty="0"/>
          </a:p>
        </p:txBody>
      </p:sp>
      <p:sp>
        <p:nvSpPr>
          <p:cNvPr id="4" name="Text 2"/>
          <p:cNvSpPr/>
          <p:nvPr/>
        </p:nvSpPr>
        <p:spPr>
          <a:xfrm>
            <a:off x="1828800" y="365760"/>
            <a:ext cx="6858000" cy="731520"/>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Three Signals, One Story</a:t>
            </a:r>
            <a:endParaRPr lang="en-US" sz="3200" dirty="0"/>
          </a:p>
        </p:txBody>
      </p:sp>
      <p:sp>
        <p:nvSpPr>
          <p:cNvPr id="5" name="Text 3"/>
          <p:cNvSpPr/>
          <p:nvPr/>
        </p:nvSpPr>
        <p:spPr>
          <a:xfrm>
            <a:off x="457200" y="1280160"/>
            <a:ext cx="8229600" cy="457200"/>
          </a:xfrm>
          <a:prstGeom prst="rect">
            <a:avLst/>
          </a:prstGeom>
          <a:noFill/>
          <a:ln/>
        </p:spPr>
        <p:txBody>
          <a:bodyPr wrap="square" lIns="0" tIns="0" rIns="0" bIns="0" rtlCol="0" anchor="ctr"/>
          <a:lstStyle/>
          <a:p>
            <a:pPr indent="0" marL="0">
              <a:buNone/>
            </a:pPr>
            <a:r>
              <a:rPr lang="en-US" sz="1800" i="1" dirty="0">
                <a:solidFill>
                  <a:srgbClr val="64748B"/>
                </a:solidFill>
                <a:latin typeface="Calibri" pitchFamily="34" charset="0"/>
                <a:ea typeface="Calibri" pitchFamily="34" charset="-122"/>
                <a:cs typeface="Calibri" pitchFamily="34" charset="-120"/>
              </a:rPr>
              <a:t>One trace_id should appear in every signal it touches.</a:t>
            </a:r>
            <a:endParaRPr lang="en-US" sz="1800" dirty="0"/>
          </a:p>
        </p:txBody>
      </p:sp>
      <p:sp>
        <p:nvSpPr>
          <p:cNvPr id="6" name="Text 4"/>
          <p:cNvSpPr/>
          <p:nvPr/>
        </p:nvSpPr>
        <p:spPr>
          <a:xfrm>
            <a:off x="640080" y="2011680"/>
            <a:ext cx="7772400" cy="2468880"/>
          </a:xfrm>
          <a:prstGeom prst="rect">
            <a:avLst/>
          </a:prstGeom>
          <a:noFill/>
          <a:ln/>
        </p:spPr>
        <p:txBody>
          <a:bodyPr wrap="square" rtlCol="0" anchor="ctr"/>
          <a:lstStyle/>
          <a:p>
            <a:pPr marL="342900" indent="-342900">
              <a:spcAft>
                <a:spcPts val="1000"/>
              </a:spcAft>
              <a:buSzPct val="100000"/>
              <a:buChar char="•"/>
            </a:pPr>
            <a:r>
              <a:rPr lang="en-US" sz="1600" dirty="0">
                <a:solidFill>
                  <a:srgbClr val="0F172A"/>
                </a:solidFill>
                <a:latin typeface="Calibri" pitchFamily="34" charset="0"/>
                <a:ea typeface="Calibri" pitchFamily="34" charset="-122"/>
                <a:cs typeface="Calibri" pitchFamily="34" charset="-120"/>
              </a:rPr>
              <a:t>Spring Boot service emits all three signals via OTel agent</a:t>
            </a:r>
            <a:endParaRPr lang="en-US" sz="1600" dirty="0"/>
          </a:p>
          <a:p>
            <a:pPr marL="342900" indent="-342900">
              <a:spcAft>
                <a:spcPts val="1000"/>
              </a:spcAft>
              <a:buSzPct val="100000"/>
              <a:buChar char="•"/>
            </a:pPr>
            <a:r>
              <a:rPr lang="en-US" sz="1600" dirty="0">
                <a:solidFill>
                  <a:srgbClr val="0F172A"/>
                </a:solidFill>
                <a:latin typeface="Calibri" pitchFamily="34" charset="0"/>
                <a:ea typeface="Calibri" pitchFamily="34" charset="-122"/>
                <a:cs typeface="Calibri" pitchFamily="34" charset="-120"/>
              </a:rPr>
              <a:t>Logs include trace_id and span_id via Logback MDC</a:t>
            </a:r>
            <a:endParaRPr lang="en-US" sz="1600" dirty="0"/>
          </a:p>
          <a:p>
            <a:pPr marL="342900" indent="-342900">
              <a:spcAft>
                <a:spcPts val="1000"/>
              </a:spcAft>
              <a:buSzPct val="100000"/>
              <a:buChar char="•"/>
            </a:pPr>
            <a:r>
              <a:rPr lang="en-US" sz="1600" dirty="0">
                <a:solidFill>
                  <a:srgbClr val="0F172A"/>
                </a:solidFill>
                <a:latin typeface="Calibri" pitchFamily="34" charset="0"/>
                <a:ea typeface="Calibri" pitchFamily="34" charset="-122"/>
                <a:cs typeface="Calibri" pitchFamily="34" charset="-120"/>
              </a:rPr>
              <a:t>Metrics carry trace exemplars linking to a sample span</a:t>
            </a:r>
            <a:endParaRPr lang="en-US" sz="1600" dirty="0"/>
          </a:p>
          <a:p>
            <a:pPr marL="342900" indent="-342900">
              <a:spcAft>
                <a:spcPts val="1000"/>
              </a:spcAft>
              <a:buSzPct val="100000"/>
              <a:buChar char="•"/>
            </a:pPr>
            <a:r>
              <a:rPr lang="en-US" sz="1600" dirty="0">
                <a:solidFill>
                  <a:srgbClr val="0F172A"/>
                </a:solidFill>
                <a:latin typeface="Calibri" pitchFamily="34" charset="0"/>
                <a:ea typeface="Calibri" pitchFamily="34" charset="-122"/>
                <a:cs typeface="Calibri" pitchFamily="34" charset="-120"/>
              </a:rPr>
              <a:t>Grafana → Tempo → Logs jump works in one click</a:t>
            </a:r>
            <a:endParaRPr lang="en-US" sz="1600" dirty="0"/>
          </a:p>
        </p:txBody>
      </p:sp>
      <p:sp>
        <p:nvSpPr>
          <p:cNvPr id="7" name="Text 5"/>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8" name="Text 6"/>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1463040"/>
            <a:ext cx="8229600" cy="914400"/>
          </a:xfrm>
          <a:prstGeom prst="rect">
            <a:avLst/>
          </a:prstGeom>
          <a:noFill/>
          <a:ln/>
        </p:spPr>
        <p:txBody>
          <a:bodyPr wrap="square" lIns="0" tIns="0" rIns="0" bIns="0" rtlCol="0" anchor="ctr"/>
          <a:lstStyle/>
          <a:p>
            <a:pPr algn="ctr" indent="0" marL="0">
              <a:buNone/>
            </a:pPr>
            <a:r>
              <a:rPr lang="en-US" sz="6000" b="1" dirty="0">
                <a:solidFill>
                  <a:srgbClr val="0D9488"/>
                </a:solidFill>
                <a:latin typeface="Calibri" pitchFamily="34" charset="0"/>
                <a:ea typeface="Calibri" pitchFamily="34" charset="-122"/>
                <a:cs typeface="Calibri" pitchFamily="34" charset="-120"/>
              </a:rPr>
              <a:t>→ LIVE DEMO 01</a:t>
            </a:r>
            <a:endParaRPr lang="en-US" sz="6000" dirty="0"/>
          </a:p>
        </p:txBody>
      </p:sp>
      <p:sp>
        <p:nvSpPr>
          <p:cNvPr id="3" name="Text 1"/>
          <p:cNvSpPr/>
          <p:nvPr/>
        </p:nvSpPr>
        <p:spPr>
          <a:xfrm>
            <a:off x="1371600" y="2926080"/>
            <a:ext cx="6400800" cy="1371600"/>
          </a:xfrm>
          <a:prstGeom prst="rect">
            <a:avLst/>
          </a:prstGeom>
          <a:noFill/>
          <a:ln/>
        </p:spPr>
        <p:txBody>
          <a:bodyPr wrap="square" lIns="0" tIns="0" rIns="0" bIns="0" rtlCol="0" anchor="ctr"/>
          <a:lstStyle/>
          <a:p>
            <a:pPr algn="ctr" indent="0" marL="0">
              <a:buNone/>
            </a:pPr>
            <a:r>
              <a:rPr lang="en-US" sz="1400" dirty="0">
                <a:solidFill>
                  <a:srgbClr val="F8FAFC"/>
                </a:solidFill>
                <a:latin typeface="Consolas" pitchFamily="34" charset="0"/>
                <a:ea typeface="Consolas" pitchFamily="34" charset="-122"/>
                <a:cs typeface="Consolas" pitchFamily="34" charset="-120"/>
              </a:rPr>
              <a:t>cd demo-01-three-signals &amp;&amp; ./demo.sh</a:t>
            </a:r>
            <a:endParaRPr lang="en-US" sz="1400" dirty="0"/>
          </a:p>
        </p:txBody>
      </p:sp>
      <p:sp>
        <p:nvSpPr>
          <p:cNvPr id="4" name="Text 2"/>
          <p:cNvSpPr/>
          <p:nvPr/>
        </p:nvSpPr>
        <p:spPr>
          <a:xfrm>
            <a:off x="457200" y="4572000"/>
            <a:ext cx="8229600" cy="274320"/>
          </a:xfrm>
          <a:prstGeom prst="rect">
            <a:avLst/>
          </a:prstGeom>
          <a:noFill/>
          <a:ln/>
        </p:spPr>
        <p:txBody>
          <a:bodyPr wrap="square" lIns="0" tIns="0" rIns="0" bIns="0" rtlCol="0" anchor="ctr"/>
          <a:lstStyle/>
          <a:p>
            <a:pPr algn="ctr" indent="0" marL="0">
              <a:buNone/>
            </a:pPr>
            <a:r>
              <a:rPr lang="en-US" sz="1100" i="1" dirty="0">
                <a:solidFill>
                  <a:srgbClr val="64748B"/>
                </a:solidFill>
                <a:latin typeface="Calibri" pitchFamily="34" charset="0"/>
                <a:ea typeface="Calibri" pitchFamily="34" charset="-122"/>
                <a:cs typeface="Calibri" pitchFamily="34" charset="-120"/>
              </a:rPr>
              <a:t>Switch to terminal · run the demo · come back when done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Recap — Demo 01</a:t>
            </a:r>
            <a:endParaRPr lang="en-US" sz="3200" dirty="0"/>
          </a:p>
        </p:txBody>
      </p:sp>
      <p:sp>
        <p:nvSpPr>
          <p:cNvPr id="3" name="Shape 1"/>
          <p:cNvSpPr/>
          <p:nvPr/>
        </p:nvSpPr>
        <p:spPr>
          <a:xfrm>
            <a:off x="457200" y="1188720"/>
            <a:ext cx="8229600" cy="914400"/>
          </a:xfrm>
          <a:prstGeom prst="rect">
            <a:avLst/>
          </a:prstGeom>
          <a:solidFill>
            <a:srgbClr val="F8FAFC"/>
          </a:solidFill>
          <a:ln/>
        </p:spPr>
      </p:sp>
      <p:sp>
        <p:nvSpPr>
          <p:cNvPr id="4" name="Shape 2"/>
          <p:cNvSpPr/>
          <p:nvPr/>
        </p:nvSpPr>
        <p:spPr>
          <a:xfrm>
            <a:off x="457200" y="1188720"/>
            <a:ext cx="91440" cy="914400"/>
          </a:xfrm>
          <a:prstGeom prst="rect">
            <a:avLst/>
          </a:prstGeom>
          <a:solidFill>
            <a:srgbClr val="0D9488"/>
          </a:solidFill>
          <a:ln/>
        </p:spPr>
      </p:sp>
      <p:sp>
        <p:nvSpPr>
          <p:cNvPr id="5" name="Text 3"/>
          <p:cNvSpPr/>
          <p:nvPr/>
        </p:nvSpPr>
        <p:spPr>
          <a:xfrm>
            <a:off x="777240" y="1188720"/>
            <a:ext cx="7772400" cy="914400"/>
          </a:xfrm>
          <a:prstGeom prst="rect">
            <a:avLst/>
          </a:prstGeom>
          <a:noFill/>
          <a:ln/>
        </p:spPr>
        <p:txBody>
          <a:bodyPr wrap="square" lIns="0" tIns="0" rIns="0" bIns="0" rtlCol="0" anchor="ctr"/>
          <a:lstStyle/>
          <a:p>
            <a:pPr indent="0" marL="0">
              <a:buNone/>
            </a:pPr>
            <a:r>
              <a:rPr lang="en-US" sz="2000" b="1" i="1" dirty="0">
                <a:solidFill>
                  <a:srgbClr val="0F172A"/>
                </a:solidFill>
                <a:latin typeface="Calibri" pitchFamily="34" charset="0"/>
                <a:ea typeface="Calibri" pitchFamily="34" charset="-122"/>
                <a:cs typeface="Calibri" pitchFamily="34" charset="-120"/>
              </a:rPr>
              <a:t>Correlation is a feature you build into the platform — not a query you run.</a:t>
            </a:r>
            <a:endParaRPr lang="en-US" sz="2000" dirty="0"/>
          </a:p>
        </p:txBody>
      </p:sp>
      <p:sp>
        <p:nvSpPr>
          <p:cNvPr id="6" name="Text 4"/>
          <p:cNvSpPr/>
          <p:nvPr/>
        </p:nvSpPr>
        <p:spPr>
          <a:xfrm>
            <a:off x="640080" y="2468880"/>
            <a:ext cx="7772400" cy="2103120"/>
          </a:xfrm>
          <a:prstGeom prst="rect">
            <a:avLst/>
          </a:prstGeom>
          <a:noFill/>
          <a:ln/>
        </p:spPr>
        <p:txBody>
          <a:bodyPr wrap="square" rtlCol="0" anchor="ctr"/>
          <a:lstStyle/>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Each signal is more valuable when it shares context with the others</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trace_id is the universal join key across traces, metrics, and logs</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OTel agent or SDK both work; agents trade overhead for zero code change</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The Collector is where you decide what survives the trip</a:t>
            </a:r>
            <a:endParaRPr lang="en-US" sz="1400" dirty="0"/>
          </a:p>
        </p:txBody>
      </p:sp>
      <p:sp>
        <p:nvSpPr>
          <p:cNvPr id="7" name="Text 5"/>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8" name="Text 6"/>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1188720" cy="548640"/>
          </a:xfrm>
          <a:prstGeom prst="rect">
            <a:avLst/>
          </a:prstGeom>
          <a:solidFill>
            <a:srgbClr val="F59E0B"/>
          </a:solidFill>
          <a:ln/>
        </p:spPr>
      </p:sp>
      <p:sp>
        <p:nvSpPr>
          <p:cNvPr id="3" name="Text 1"/>
          <p:cNvSpPr/>
          <p:nvPr/>
        </p:nvSpPr>
        <p:spPr>
          <a:xfrm>
            <a:off x="457200" y="457200"/>
            <a:ext cx="118872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Demo 02</a:t>
            </a:r>
            <a:endParaRPr lang="en-US" sz="1600" dirty="0"/>
          </a:p>
        </p:txBody>
      </p:sp>
      <p:sp>
        <p:nvSpPr>
          <p:cNvPr id="4" name="Text 2"/>
          <p:cNvSpPr/>
          <p:nvPr/>
        </p:nvSpPr>
        <p:spPr>
          <a:xfrm>
            <a:off x="1828800" y="365760"/>
            <a:ext cx="6858000" cy="731520"/>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The Cardinality Bomb</a:t>
            </a:r>
            <a:endParaRPr lang="en-US" sz="3200" dirty="0"/>
          </a:p>
        </p:txBody>
      </p:sp>
      <p:sp>
        <p:nvSpPr>
          <p:cNvPr id="5" name="Text 3"/>
          <p:cNvSpPr/>
          <p:nvPr/>
        </p:nvSpPr>
        <p:spPr>
          <a:xfrm>
            <a:off x="457200" y="1280160"/>
            <a:ext cx="8229600" cy="457200"/>
          </a:xfrm>
          <a:prstGeom prst="rect">
            <a:avLst/>
          </a:prstGeom>
          <a:noFill/>
          <a:ln/>
        </p:spPr>
        <p:txBody>
          <a:bodyPr wrap="square" lIns="0" tIns="0" rIns="0" bIns="0" rtlCol="0" anchor="ctr"/>
          <a:lstStyle/>
          <a:p>
            <a:pPr indent="0" marL="0">
              <a:buNone/>
            </a:pPr>
            <a:r>
              <a:rPr lang="en-US" sz="1800" i="1" dirty="0">
                <a:solidFill>
                  <a:srgbClr val="64748B"/>
                </a:solidFill>
                <a:latin typeface="Calibri" pitchFamily="34" charset="0"/>
                <a:ea typeface="Calibri" pitchFamily="34" charset="-122"/>
                <a:cs typeface="Calibri" pitchFamily="34" charset="-120"/>
              </a:rPr>
              <a:t>Adding a label looks free. It isn't.</a:t>
            </a:r>
            <a:endParaRPr lang="en-US" sz="1800" dirty="0"/>
          </a:p>
        </p:txBody>
      </p:sp>
      <p:sp>
        <p:nvSpPr>
          <p:cNvPr id="6" name="Text 4"/>
          <p:cNvSpPr/>
          <p:nvPr/>
        </p:nvSpPr>
        <p:spPr>
          <a:xfrm>
            <a:off x="640080" y="2011680"/>
            <a:ext cx="7772400" cy="2468880"/>
          </a:xfrm>
          <a:prstGeom prst="rect">
            <a:avLst/>
          </a:prstGeom>
          <a:noFill/>
          <a:ln/>
        </p:spPr>
        <p:txBody>
          <a:bodyPr wrap="square" rtlCol="0" anchor="ctr"/>
          <a:lstStyle/>
          <a:p>
            <a:pPr marL="342900" indent="-342900">
              <a:spcAft>
                <a:spcPts val="1000"/>
              </a:spcAft>
              <a:buSzPct val="100000"/>
              <a:buChar char="•"/>
            </a:pPr>
            <a:r>
              <a:rPr lang="en-US" sz="1600" dirty="0">
                <a:solidFill>
                  <a:srgbClr val="0F172A"/>
                </a:solidFill>
                <a:latin typeface="Calibri" pitchFamily="34" charset="0"/>
                <a:ea typeface="Calibri" pitchFamily="34" charset="-122"/>
                <a:cs typeface="Calibri" pitchFamily="34" charset="-120"/>
              </a:rPr>
              <a:t>Each unique label combination is a separate time series</a:t>
            </a:r>
            <a:endParaRPr lang="en-US" sz="1600" dirty="0"/>
          </a:p>
          <a:p>
            <a:pPr marL="342900" indent="-342900">
              <a:spcAft>
                <a:spcPts val="1000"/>
              </a:spcAft>
              <a:buSzPct val="100000"/>
              <a:buChar char="•"/>
            </a:pPr>
            <a:r>
              <a:rPr lang="en-US" sz="1600" dirty="0">
                <a:solidFill>
                  <a:srgbClr val="0F172A"/>
                </a:solidFill>
                <a:latin typeface="Calibri" pitchFamily="34" charset="0"/>
                <a:ea typeface="Calibri" pitchFamily="34" charset="-122"/>
                <a:cs typeface="Calibri" pitchFamily="34" charset="-120"/>
              </a:rPr>
              <a:t>user_id as a label = unbounded series count = OOM the TSDB</a:t>
            </a:r>
            <a:endParaRPr lang="en-US" sz="1600" dirty="0"/>
          </a:p>
          <a:p>
            <a:pPr marL="342900" indent="-342900">
              <a:spcAft>
                <a:spcPts val="1000"/>
              </a:spcAft>
              <a:buSzPct val="100000"/>
              <a:buChar char="•"/>
            </a:pPr>
            <a:r>
              <a:rPr lang="en-US" sz="1600" dirty="0">
                <a:solidFill>
                  <a:srgbClr val="0F172A"/>
                </a:solidFill>
                <a:latin typeface="Calibri" pitchFamily="34" charset="0"/>
                <a:ea typeface="Calibri" pitchFamily="34" charset="-122"/>
                <a:cs typeface="Calibri" pitchFamily="34" charset="-120"/>
              </a:rPr>
              <a:t>Watch a service emit ~100 series, then ~10,000</a:t>
            </a:r>
            <a:endParaRPr lang="en-US" sz="1600" dirty="0"/>
          </a:p>
          <a:p>
            <a:pPr marL="342900" indent="-342900">
              <a:spcAft>
                <a:spcPts val="1000"/>
              </a:spcAft>
              <a:buSzPct val="100000"/>
              <a:buChar char="•"/>
            </a:pPr>
            <a:r>
              <a:rPr lang="en-US" sz="1600" dirty="0">
                <a:solidFill>
                  <a:srgbClr val="0F172A"/>
                </a:solidFill>
                <a:latin typeface="Calibri" pitchFamily="34" charset="0"/>
                <a:ea typeface="Calibri" pitchFamily="34" charset="-122"/>
                <a:cs typeface="Calibri" pitchFamily="34" charset="-120"/>
              </a:rPr>
              <a:t>Show the Collector's transform processor stripping high-card labels</a:t>
            </a:r>
            <a:endParaRPr lang="en-US" sz="1600" dirty="0"/>
          </a:p>
        </p:txBody>
      </p:sp>
      <p:sp>
        <p:nvSpPr>
          <p:cNvPr id="7" name="Text 5"/>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8" name="Text 6"/>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1463040"/>
            <a:ext cx="8229600" cy="914400"/>
          </a:xfrm>
          <a:prstGeom prst="rect">
            <a:avLst/>
          </a:prstGeom>
          <a:noFill/>
          <a:ln/>
        </p:spPr>
        <p:txBody>
          <a:bodyPr wrap="square" lIns="0" tIns="0" rIns="0" bIns="0" rtlCol="0" anchor="ctr"/>
          <a:lstStyle/>
          <a:p>
            <a:pPr algn="ctr" indent="0" marL="0">
              <a:buNone/>
            </a:pPr>
            <a:r>
              <a:rPr lang="en-US" sz="6000" b="1" dirty="0">
                <a:solidFill>
                  <a:srgbClr val="F59E0B"/>
                </a:solidFill>
                <a:latin typeface="Calibri" pitchFamily="34" charset="0"/>
                <a:ea typeface="Calibri" pitchFamily="34" charset="-122"/>
                <a:cs typeface="Calibri" pitchFamily="34" charset="-120"/>
              </a:rPr>
              <a:t>→ LIVE DEMO 02</a:t>
            </a:r>
            <a:endParaRPr lang="en-US" sz="6000" dirty="0"/>
          </a:p>
        </p:txBody>
      </p:sp>
      <p:sp>
        <p:nvSpPr>
          <p:cNvPr id="3" name="Text 1"/>
          <p:cNvSpPr/>
          <p:nvPr/>
        </p:nvSpPr>
        <p:spPr>
          <a:xfrm>
            <a:off x="1371600" y="2926080"/>
            <a:ext cx="6400800" cy="1371600"/>
          </a:xfrm>
          <a:prstGeom prst="rect">
            <a:avLst/>
          </a:prstGeom>
          <a:noFill/>
          <a:ln/>
        </p:spPr>
        <p:txBody>
          <a:bodyPr wrap="square" lIns="0" tIns="0" rIns="0" bIns="0" rtlCol="0" anchor="ctr"/>
          <a:lstStyle/>
          <a:p>
            <a:pPr algn="ctr" indent="0" marL="0">
              <a:buNone/>
            </a:pPr>
            <a:r>
              <a:rPr lang="en-US" sz="1400" dirty="0">
                <a:solidFill>
                  <a:srgbClr val="F8FAFC"/>
                </a:solidFill>
                <a:latin typeface="Consolas" pitchFamily="34" charset="0"/>
                <a:ea typeface="Consolas" pitchFamily="34" charset="-122"/>
                <a:cs typeface="Consolas" pitchFamily="34" charset="-120"/>
              </a:rPr>
              <a:t>cd demo-02-cardinality &amp;&amp; ./demo.sh</a:t>
            </a:r>
            <a:endParaRPr lang="en-US" sz="1400" dirty="0"/>
          </a:p>
        </p:txBody>
      </p:sp>
      <p:sp>
        <p:nvSpPr>
          <p:cNvPr id="4" name="Text 2"/>
          <p:cNvSpPr/>
          <p:nvPr/>
        </p:nvSpPr>
        <p:spPr>
          <a:xfrm>
            <a:off x="457200" y="4572000"/>
            <a:ext cx="8229600" cy="274320"/>
          </a:xfrm>
          <a:prstGeom prst="rect">
            <a:avLst/>
          </a:prstGeom>
          <a:noFill/>
          <a:ln/>
        </p:spPr>
        <p:txBody>
          <a:bodyPr wrap="square" lIns="0" tIns="0" rIns="0" bIns="0" rtlCol="0" anchor="ctr"/>
          <a:lstStyle/>
          <a:p>
            <a:pPr algn="ctr" indent="0" marL="0">
              <a:buNone/>
            </a:pPr>
            <a:r>
              <a:rPr lang="en-US" sz="1100" i="1" dirty="0">
                <a:solidFill>
                  <a:srgbClr val="64748B"/>
                </a:solidFill>
                <a:latin typeface="Calibri" pitchFamily="34" charset="0"/>
                <a:ea typeface="Calibri" pitchFamily="34" charset="-122"/>
                <a:cs typeface="Calibri" pitchFamily="34" charset="-120"/>
              </a:rPr>
              <a:t>Switch to terminal · run the demo · come back when done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Recap — Demo 02</a:t>
            </a:r>
            <a:endParaRPr lang="en-US" sz="3200" dirty="0"/>
          </a:p>
        </p:txBody>
      </p:sp>
      <p:sp>
        <p:nvSpPr>
          <p:cNvPr id="3" name="Shape 1"/>
          <p:cNvSpPr/>
          <p:nvPr/>
        </p:nvSpPr>
        <p:spPr>
          <a:xfrm>
            <a:off x="457200" y="1188720"/>
            <a:ext cx="8229600" cy="914400"/>
          </a:xfrm>
          <a:prstGeom prst="rect">
            <a:avLst/>
          </a:prstGeom>
          <a:solidFill>
            <a:srgbClr val="F8FAFC"/>
          </a:solidFill>
          <a:ln/>
        </p:spPr>
      </p:sp>
      <p:sp>
        <p:nvSpPr>
          <p:cNvPr id="4" name="Shape 2"/>
          <p:cNvSpPr/>
          <p:nvPr/>
        </p:nvSpPr>
        <p:spPr>
          <a:xfrm>
            <a:off x="457200" y="1188720"/>
            <a:ext cx="91440" cy="914400"/>
          </a:xfrm>
          <a:prstGeom prst="rect">
            <a:avLst/>
          </a:prstGeom>
          <a:solidFill>
            <a:srgbClr val="F59E0B"/>
          </a:solidFill>
          <a:ln/>
        </p:spPr>
      </p:sp>
      <p:sp>
        <p:nvSpPr>
          <p:cNvPr id="5" name="Text 3"/>
          <p:cNvSpPr/>
          <p:nvPr/>
        </p:nvSpPr>
        <p:spPr>
          <a:xfrm>
            <a:off x="777240" y="1188720"/>
            <a:ext cx="7772400" cy="914400"/>
          </a:xfrm>
          <a:prstGeom prst="rect">
            <a:avLst/>
          </a:prstGeom>
          <a:noFill/>
          <a:ln/>
        </p:spPr>
        <p:txBody>
          <a:bodyPr wrap="square" lIns="0" tIns="0" rIns="0" bIns="0" rtlCol="0" anchor="ctr"/>
          <a:lstStyle/>
          <a:p>
            <a:pPr indent="0" marL="0">
              <a:buNone/>
            </a:pPr>
            <a:r>
              <a:rPr lang="en-US" sz="2000" b="1" i="1" dirty="0">
                <a:solidFill>
                  <a:srgbClr val="0F172A"/>
                </a:solidFill>
                <a:latin typeface="Calibri" pitchFamily="34" charset="0"/>
                <a:ea typeface="Calibri" pitchFamily="34" charset="-122"/>
                <a:cs typeface="Calibri" pitchFamily="34" charset="-120"/>
              </a:rPr>
              <a:t>Cardinality is the ops cost of metrics. Budget it like compute.</a:t>
            </a:r>
            <a:endParaRPr lang="en-US" sz="2000" dirty="0"/>
          </a:p>
        </p:txBody>
      </p:sp>
      <p:sp>
        <p:nvSpPr>
          <p:cNvPr id="6" name="Text 4"/>
          <p:cNvSpPr/>
          <p:nvPr/>
        </p:nvSpPr>
        <p:spPr>
          <a:xfrm>
            <a:off x="640080" y="2468880"/>
            <a:ext cx="7772400" cy="2103120"/>
          </a:xfrm>
          <a:prstGeom prst="rect">
            <a:avLst/>
          </a:prstGeom>
          <a:noFill/>
          <a:ln/>
        </p:spPr>
        <p:txBody>
          <a:bodyPr wrap="square" rtlCol="0" anchor="ctr"/>
          <a:lstStyle/>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User-supplied values (user_id, request_id) belong in traces, not metric labels</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Bucket continuous values (latency → quantile) before exporting</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Use the Collector's transform/filter processors to enforce limits at the edge</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Build alerts on series count growth — catch the bomb before the OOM</a:t>
            </a:r>
            <a:endParaRPr lang="en-US" sz="1400" dirty="0"/>
          </a:p>
        </p:txBody>
      </p:sp>
      <p:sp>
        <p:nvSpPr>
          <p:cNvPr id="7" name="Text 5"/>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8" name="Text 6"/>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1188720" cy="548640"/>
          </a:xfrm>
          <a:prstGeom prst="rect">
            <a:avLst/>
          </a:prstGeom>
          <a:solidFill>
            <a:srgbClr val="8B5CF6"/>
          </a:solidFill>
          <a:ln/>
        </p:spPr>
      </p:sp>
      <p:sp>
        <p:nvSpPr>
          <p:cNvPr id="3" name="Text 1"/>
          <p:cNvSpPr/>
          <p:nvPr/>
        </p:nvSpPr>
        <p:spPr>
          <a:xfrm>
            <a:off x="457200" y="457200"/>
            <a:ext cx="118872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Demo 03</a:t>
            </a:r>
            <a:endParaRPr lang="en-US" sz="1600" dirty="0"/>
          </a:p>
        </p:txBody>
      </p:sp>
      <p:sp>
        <p:nvSpPr>
          <p:cNvPr id="4" name="Text 2"/>
          <p:cNvSpPr/>
          <p:nvPr/>
        </p:nvSpPr>
        <p:spPr>
          <a:xfrm>
            <a:off x="1828800" y="365760"/>
            <a:ext cx="6858000" cy="731520"/>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Tail Sampling</a:t>
            </a:r>
            <a:endParaRPr lang="en-US" sz="3200" dirty="0"/>
          </a:p>
        </p:txBody>
      </p:sp>
      <p:sp>
        <p:nvSpPr>
          <p:cNvPr id="5" name="Text 3"/>
          <p:cNvSpPr/>
          <p:nvPr/>
        </p:nvSpPr>
        <p:spPr>
          <a:xfrm>
            <a:off x="457200" y="1280160"/>
            <a:ext cx="8229600" cy="457200"/>
          </a:xfrm>
          <a:prstGeom prst="rect">
            <a:avLst/>
          </a:prstGeom>
          <a:noFill/>
          <a:ln/>
        </p:spPr>
        <p:txBody>
          <a:bodyPr wrap="square" lIns="0" tIns="0" rIns="0" bIns="0" rtlCol="0" anchor="ctr"/>
          <a:lstStyle/>
          <a:p>
            <a:pPr indent="0" marL="0">
              <a:buNone/>
            </a:pPr>
            <a:r>
              <a:rPr lang="en-US" sz="1800" i="1" dirty="0">
                <a:solidFill>
                  <a:srgbClr val="64748B"/>
                </a:solidFill>
                <a:latin typeface="Calibri" pitchFamily="34" charset="0"/>
                <a:ea typeface="Calibri" pitchFamily="34" charset="-122"/>
                <a:cs typeface="Calibri" pitchFamily="34" charset="-120"/>
              </a:rPr>
              <a:t>Head sampling is cheap. Tail sampling is correct.</a:t>
            </a:r>
            <a:endParaRPr lang="en-US" sz="1800" dirty="0"/>
          </a:p>
        </p:txBody>
      </p:sp>
      <p:sp>
        <p:nvSpPr>
          <p:cNvPr id="6" name="Text 4"/>
          <p:cNvSpPr/>
          <p:nvPr/>
        </p:nvSpPr>
        <p:spPr>
          <a:xfrm>
            <a:off x="640080" y="2011680"/>
            <a:ext cx="7772400" cy="2468880"/>
          </a:xfrm>
          <a:prstGeom prst="rect">
            <a:avLst/>
          </a:prstGeom>
          <a:noFill/>
          <a:ln/>
        </p:spPr>
        <p:txBody>
          <a:bodyPr wrap="square" rtlCol="0" anchor="ctr"/>
          <a:lstStyle/>
          <a:p>
            <a:pPr marL="342900" indent="-342900">
              <a:spcAft>
                <a:spcPts val="1000"/>
              </a:spcAft>
              <a:buSzPct val="100000"/>
              <a:buChar char="•"/>
            </a:pPr>
            <a:r>
              <a:rPr lang="en-US" sz="1600" dirty="0">
                <a:solidFill>
                  <a:srgbClr val="0F172A"/>
                </a:solidFill>
                <a:latin typeface="Calibri" pitchFamily="34" charset="0"/>
                <a:ea typeface="Calibri" pitchFamily="34" charset="-122"/>
                <a:cs typeface="Calibri" pitchFamily="34" charset="-120"/>
              </a:rPr>
              <a:t>Head sampling: decide at trace start (no context yet)</a:t>
            </a:r>
            <a:endParaRPr lang="en-US" sz="1600" dirty="0"/>
          </a:p>
          <a:p>
            <a:pPr marL="342900" indent="-342900">
              <a:spcAft>
                <a:spcPts val="1000"/>
              </a:spcAft>
              <a:buSzPct val="100000"/>
              <a:buChar char="•"/>
            </a:pPr>
            <a:r>
              <a:rPr lang="en-US" sz="1600" dirty="0">
                <a:solidFill>
                  <a:srgbClr val="0F172A"/>
                </a:solidFill>
                <a:latin typeface="Calibri" pitchFamily="34" charset="0"/>
                <a:ea typeface="Calibri" pitchFamily="34" charset="-122"/>
                <a:cs typeface="Calibri" pitchFamily="34" charset="-120"/>
              </a:rPr>
              <a:t>Tail sampling: decide after the trace completes (full context)</a:t>
            </a:r>
            <a:endParaRPr lang="en-US" sz="1600" dirty="0"/>
          </a:p>
          <a:p>
            <a:pPr marL="342900" indent="-342900">
              <a:spcAft>
                <a:spcPts val="1000"/>
              </a:spcAft>
              <a:buSzPct val="100000"/>
              <a:buChar char="•"/>
            </a:pPr>
            <a:r>
              <a:rPr lang="en-US" sz="1600" dirty="0">
                <a:solidFill>
                  <a:srgbClr val="0F172A"/>
                </a:solidFill>
                <a:latin typeface="Calibri" pitchFamily="34" charset="0"/>
                <a:ea typeface="Calibri" pitchFamily="34" charset="-122"/>
                <a:cs typeface="Calibri" pitchFamily="34" charset="-120"/>
              </a:rPr>
              <a:t>Sample slow requests at 100%, fast successful ones at 1%</a:t>
            </a:r>
            <a:endParaRPr lang="en-US" sz="1600" dirty="0"/>
          </a:p>
          <a:p>
            <a:pPr marL="342900" indent="-342900">
              <a:spcAft>
                <a:spcPts val="1000"/>
              </a:spcAft>
              <a:buSzPct val="100000"/>
              <a:buChar char="•"/>
            </a:pPr>
            <a:r>
              <a:rPr lang="en-US" sz="1600" dirty="0">
                <a:solidFill>
                  <a:srgbClr val="0F172A"/>
                </a:solidFill>
                <a:latin typeface="Calibri" pitchFamily="34" charset="0"/>
                <a:ea typeface="Calibri" pitchFamily="34" charset="-122"/>
                <a:cs typeface="Calibri" pitchFamily="34" charset="-120"/>
              </a:rPr>
              <a:t>Configured in the Collector's tail_sampling processor</a:t>
            </a:r>
            <a:endParaRPr lang="en-US" sz="1600" dirty="0"/>
          </a:p>
        </p:txBody>
      </p:sp>
      <p:sp>
        <p:nvSpPr>
          <p:cNvPr id="7" name="Text 5"/>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8" name="Text 6"/>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1463040"/>
            <a:ext cx="8229600" cy="914400"/>
          </a:xfrm>
          <a:prstGeom prst="rect">
            <a:avLst/>
          </a:prstGeom>
          <a:noFill/>
          <a:ln/>
        </p:spPr>
        <p:txBody>
          <a:bodyPr wrap="square" lIns="0" tIns="0" rIns="0" bIns="0" rtlCol="0" anchor="ctr"/>
          <a:lstStyle/>
          <a:p>
            <a:pPr algn="ctr" indent="0" marL="0">
              <a:buNone/>
            </a:pPr>
            <a:r>
              <a:rPr lang="en-US" sz="6000" b="1" dirty="0">
                <a:solidFill>
                  <a:srgbClr val="8B5CF6"/>
                </a:solidFill>
                <a:latin typeface="Calibri" pitchFamily="34" charset="0"/>
                <a:ea typeface="Calibri" pitchFamily="34" charset="-122"/>
                <a:cs typeface="Calibri" pitchFamily="34" charset="-120"/>
              </a:rPr>
              <a:t>→ LIVE DEMO 03</a:t>
            </a:r>
            <a:endParaRPr lang="en-US" sz="6000" dirty="0"/>
          </a:p>
        </p:txBody>
      </p:sp>
      <p:sp>
        <p:nvSpPr>
          <p:cNvPr id="3" name="Text 1"/>
          <p:cNvSpPr/>
          <p:nvPr/>
        </p:nvSpPr>
        <p:spPr>
          <a:xfrm>
            <a:off x="1371600" y="2926080"/>
            <a:ext cx="6400800" cy="1371600"/>
          </a:xfrm>
          <a:prstGeom prst="rect">
            <a:avLst/>
          </a:prstGeom>
          <a:noFill/>
          <a:ln/>
        </p:spPr>
        <p:txBody>
          <a:bodyPr wrap="square" lIns="0" tIns="0" rIns="0" bIns="0" rtlCol="0" anchor="ctr"/>
          <a:lstStyle/>
          <a:p>
            <a:pPr algn="ctr" indent="0" marL="0">
              <a:buNone/>
            </a:pPr>
            <a:r>
              <a:rPr lang="en-US" sz="1400" dirty="0">
                <a:solidFill>
                  <a:srgbClr val="F8FAFC"/>
                </a:solidFill>
                <a:latin typeface="Consolas" pitchFamily="34" charset="0"/>
                <a:ea typeface="Consolas" pitchFamily="34" charset="-122"/>
                <a:cs typeface="Consolas" pitchFamily="34" charset="-120"/>
              </a:rPr>
              <a:t>cd demo-03-tail-sampling &amp;&amp; ./demo.sh</a:t>
            </a:r>
            <a:endParaRPr lang="en-US" sz="1400" dirty="0"/>
          </a:p>
        </p:txBody>
      </p:sp>
      <p:sp>
        <p:nvSpPr>
          <p:cNvPr id="4" name="Text 2"/>
          <p:cNvSpPr/>
          <p:nvPr/>
        </p:nvSpPr>
        <p:spPr>
          <a:xfrm>
            <a:off x="457200" y="4572000"/>
            <a:ext cx="8229600" cy="274320"/>
          </a:xfrm>
          <a:prstGeom prst="rect">
            <a:avLst/>
          </a:prstGeom>
          <a:noFill/>
          <a:ln/>
        </p:spPr>
        <p:txBody>
          <a:bodyPr wrap="square" lIns="0" tIns="0" rIns="0" bIns="0" rtlCol="0" anchor="ctr"/>
          <a:lstStyle/>
          <a:p>
            <a:pPr algn="ctr" indent="0" marL="0">
              <a:buNone/>
            </a:pPr>
            <a:r>
              <a:rPr lang="en-US" sz="1100" i="1" dirty="0">
                <a:solidFill>
                  <a:srgbClr val="64748B"/>
                </a:solidFill>
                <a:latin typeface="Calibri" pitchFamily="34" charset="0"/>
                <a:ea typeface="Calibri" pitchFamily="34" charset="-122"/>
                <a:cs typeface="Calibri" pitchFamily="34" charset="-120"/>
              </a:rPr>
              <a:t>Switch to terminal · run the demo · come back when done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Recap — Demo 03</a:t>
            </a:r>
            <a:endParaRPr lang="en-US" sz="3200" dirty="0"/>
          </a:p>
        </p:txBody>
      </p:sp>
      <p:sp>
        <p:nvSpPr>
          <p:cNvPr id="3" name="Shape 1"/>
          <p:cNvSpPr/>
          <p:nvPr/>
        </p:nvSpPr>
        <p:spPr>
          <a:xfrm>
            <a:off x="457200" y="1188720"/>
            <a:ext cx="8229600" cy="914400"/>
          </a:xfrm>
          <a:prstGeom prst="rect">
            <a:avLst/>
          </a:prstGeom>
          <a:solidFill>
            <a:srgbClr val="F8FAFC"/>
          </a:solidFill>
          <a:ln/>
        </p:spPr>
      </p:sp>
      <p:sp>
        <p:nvSpPr>
          <p:cNvPr id="4" name="Shape 2"/>
          <p:cNvSpPr/>
          <p:nvPr/>
        </p:nvSpPr>
        <p:spPr>
          <a:xfrm>
            <a:off x="457200" y="1188720"/>
            <a:ext cx="91440" cy="914400"/>
          </a:xfrm>
          <a:prstGeom prst="rect">
            <a:avLst/>
          </a:prstGeom>
          <a:solidFill>
            <a:srgbClr val="8B5CF6"/>
          </a:solidFill>
          <a:ln/>
        </p:spPr>
      </p:sp>
      <p:sp>
        <p:nvSpPr>
          <p:cNvPr id="5" name="Text 3"/>
          <p:cNvSpPr/>
          <p:nvPr/>
        </p:nvSpPr>
        <p:spPr>
          <a:xfrm>
            <a:off x="777240" y="1188720"/>
            <a:ext cx="7772400" cy="914400"/>
          </a:xfrm>
          <a:prstGeom prst="rect">
            <a:avLst/>
          </a:prstGeom>
          <a:noFill/>
          <a:ln/>
        </p:spPr>
        <p:txBody>
          <a:bodyPr wrap="square" lIns="0" tIns="0" rIns="0" bIns="0" rtlCol="0" anchor="ctr"/>
          <a:lstStyle/>
          <a:p>
            <a:pPr indent="0" marL="0">
              <a:buNone/>
            </a:pPr>
            <a:r>
              <a:rPr lang="en-US" sz="2000" b="1" i="1" dirty="0">
                <a:solidFill>
                  <a:srgbClr val="0F172A"/>
                </a:solidFill>
                <a:latin typeface="Calibri" pitchFamily="34" charset="0"/>
                <a:ea typeface="Calibri" pitchFamily="34" charset="-122"/>
                <a:cs typeface="Calibri" pitchFamily="34" charset="-120"/>
              </a:rPr>
              <a:t>Sample for what's interesting, not what's typical.</a:t>
            </a:r>
            <a:endParaRPr lang="en-US" sz="2000" dirty="0"/>
          </a:p>
        </p:txBody>
      </p:sp>
      <p:sp>
        <p:nvSpPr>
          <p:cNvPr id="6" name="Text 4"/>
          <p:cNvSpPr/>
          <p:nvPr/>
        </p:nvSpPr>
        <p:spPr>
          <a:xfrm>
            <a:off x="640080" y="2468880"/>
            <a:ext cx="7772400" cy="2103120"/>
          </a:xfrm>
          <a:prstGeom prst="rect">
            <a:avLst/>
          </a:prstGeom>
          <a:noFill/>
          <a:ln/>
        </p:spPr>
        <p:txBody>
          <a:bodyPr wrap="square" rtlCol="0" anchor="ctr"/>
          <a:lstStyle/>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Tail sampling needs the full trace in memory before it can decide</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Latency, error status, and route are the most useful sampling axes</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The sample rate per-policy is independent — keep all errors, 5% of OK</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Trade-off: tail sampling adds 30-60s latency before traces appear</a:t>
            </a:r>
            <a:endParaRPr lang="en-US" sz="1400" dirty="0"/>
          </a:p>
        </p:txBody>
      </p:sp>
      <p:sp>
        <p:nvSpPr>
          <p:cNvPr id="7" name="Text 5"/>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8" name="Text 6"/>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1188720" cy="548640"/>
          </a:xfrm>
          <a:prstGeom prst="rect">
            <a:avLst/>
          </a:prstGeom>
          <a:solidFill>
            <a:srgbClr val="06B6D4"/>
          </a:solidFill>
          <a:ln/>
        </p:spPr>
      </p:sp>
      <p:sp>
        <p:nvSpPr>
          <p:cNvPr id="3" name="Text 1"/>
          <p:cNvSpPr/>
          <p:nvPr/>
        </p:nvSpPr>
        <p:spPr>
          <a:xfrm>
            <a:off x="457200" y="457200"/>
            <a:ext cx="118872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Demo 04</a:t>
            </a:r>
            <a:endParaRPr lang="en-US" sz="1600" dirty="0"/>
          </a:p>
        </p:txBody>
      </p:sp>
      <p:sp>
        <p:nvSpPr>
          <p:cNvPr id="4" name="Text 2"/>
          <p:cNvSpPr/>
          <p:nvPr/>
        </p:nvSpPr>
        <p:spPr>
          <a:xfrm>
            <a:off x="1828800" y="365760"/>
            <a:ext cx="6858000" cy="731520"/>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JVM Metrics &amp; GC Stories</a:t>
            </a:r>
            <a:endParaRPr lang="en-US" sz="3200" dirty="0"/>
          </a:p>
        </p:txBody>
      </p:sp>
      <p:sp>
        <p:nvSpPr>
          <p:cNvPr id="5" name="Text 3"/>
          <p:cNvSpPr/>
          <p:nvPr/>
        </p:nvSpPr>
        <p:spPr>
          <a:xfrm>
            <a:off x="457200" y="1280160"/>
            <a:ext cx="8229600" cy="457200"/>
          </a:xfrm>
          <a:prstGeom prst="rect">
            <a:avLst/>
          </a:prstGeom>
          <a:noFill/>
          <a:ln/>
        </p:spPr>
        <p:txBody>
          <a:bodyPr wrap="square" lIns="0" tIns="0" rIns="0" bIns="0" rtlCol="0" anchor="ctr"/>
          <a:lstStyle/>
          <a:p>
            <a:pPr indent="0" marL="0">
              <a:buNone/>
            </a:pPr>
            <a:r>
              <a:rPr lang="en-US" sz="1800" i="1" dirty="0">
                <a:solidFill>
                  <a:srgbClr val="64748B"/>
                </a:solidFill>
                <a:latin typeface="Calibri" pitchFamily="34" charset="0"/>
                <a:ea typeface="Calibri" pitchFamily="34" charset="-122"/>
                <a:cs typeface="Calibri" pitchFamily="34" charset="-120"/>
              </a:rPr>
              <a:t>Every garbage collector has a fingerprint.</a:t>
            </a:r>
            <a:endParaRPr lang="en-US" sz="1800" dirty="0"/>
          </a:p>
        </p:txBody>
      </p:sp>
      <p:sp>
        <p:nvSpPr>
          <p:cNvPr id="6" name="Text 4"/>
          <p:cNvSpPr/>
          <p:nvPr/>
        </p:nvSpPr>
        <p:spPr>
          <a:xfrm>
            <a:off x="640080" y="2011680"/>
            <a:ext cx="7772400" cy="2468880"/>
          </a:xfrm>
          <a:prstGeom prst="rect">
            <a:avLst/>
          </a:prstGeom>
          <a:noFill/>
          <a:ln/>
        </p:spPr>
        <p:txBody>
          <a:bodyPr wrap="square" rtlCol="0" anchor="ctr"/>
          <a:lstStyle/>
          <a:p>
            <a:pPr marL="342900" indent="-342900">
              <a:spcAft>
                <a:spcPts val="1000"/>
              </a:spcAft>
              <a:buSzPct val="100000"/>
              <a:buChar char="•"/>
            </a:pPr>
            <a:r>
              <a:rPr lang="en-US" sz="1600" dirty="0">
                <a:solidFill>
                  <a:srgbClr val="0F172A"/>
                </a:solidFill>
                <a:latin typeface="Calibri" pitchFamily="34" charset="0"/>
                <a:ea typeface="Calibri" pitchFamily="34" charset="-122"/>
                <a:cs typeface="Calibri" pitchFamily="34" charset="-120"/>
              </a:rPr>
              <a:t>Heap, GC pauses, thread count — all visible via Micrometer + OTel</a:t>
            </a:r>
            <a:endParaRPr lang="en-US" sz="1600" dirty="0"/>
          </a:p>
          <a:p>
            <a:pPr marL="342900" indent="-342900">
              <a:spcAft>
                <a:spcPts val="1000"/>
              </a:spcAft>
              <a:buSzPct val="100000"/>
              <a:buChar char="•"/>
            </a:pPr>
            <a:r>
              <a:rPr lang="en-US" sz="1600" dirty="0">
                <a:solidFill>
                  <a:srgbClr val="0F172A"/>
                </a:solidFill>
                <a:latin typeface="Calibri" pitchFamily="34" charset="0"/>
                <a:ea typeface="Calibri" pitchFamily="34" charset="-122"/>
                <a:cs typeface="Calibri" pitchFamily="34" charset="-120"/>
              </a:rPr>
              <a:t>Three GC sweeps: Shenandoah, G1, ZGC under matching load</a:t>
            </a:r>
            <a:endParaRPr lang="en-US" sz="1600" dirty="0"/>
          </a:p>
          <a:p>
            <a:pPr marL="342900" indent="-342900">
              <a:spcAft>
                <a:spcPts val="1000"/>
              </a:spcAft>
              <a:buSzPct val="100000"/>
              <a:buChar char="•"/>
            </a:pPr>
            <a:r>
              <a:rPr lang="en-US" sz="1600" dirty="0">
                <a:solidFill>
                  <a:srgbClr val="0F172A"/>
                </a:solidFill>
                <a:latin typeface="Calibri" pitchFamily="34" charset="0"/>
                <a:ea typeface="Calibri" pitchFamily="34" charset="-122"/>
                <a:cs typeface="Calibri" pitchFamily="34" charset="-120"/>
              </a:rPr>
              <a:t>Pause-time profiles look distinct on a dashboard</a:t>
            </a:r>
            <a:endParaRPr lang="en-US" sz="1600" dirty="0"/>
          </a:p>
          <a:p>
            <a:pPr marL="342900" indent="-342900">
              <a:spcAft>
                <a:spcPts val="1000"/>
              </a:spcAft>
              <a:buSzPct val="100000"/>
              <a:buChar char="•"/>
            </a:pPr>
            <a:r>
              <a:rPr lang="en-US" sz="1600" dirty="0">
                <a:solidFill>
                  <a:srgbClr val="0F172A"/>
                </a:solidFill>
                <a:latin typeface="Calibri" pitchFamily="34" charset="0"/>
                <a:ea typeface="Calibri" pitchFamily="34" charset="-122"/>
                <a:cs typeface="Calibri" pitchFamily="34" charset="-120"/>
              </a:rPr>
              <a:t>Spring Boot 4 metric names match OTel semantic conventions</a:t>
            </a:r>
            <a:endParaRPr lang="en-US" sz="1600" dirty="0"/>
          </a:p>
        </p:txBody>
      </p:sp>
      <p:sp>
        <p:nvSpPr>
          <p:cNvPr id="7" name="Text 5"/>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8" name="Text 6"/>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1463040"/>
            <a:ext cx="8229600" cy="914400"/>
          </a:xfrm>
          <a:prstGeom prst="rect">
            <a:avLst/>
          </a:prstGeom>
          <a:noFill/>
          <a:ln/>
        </p:spPr>
        <p:txBody>
          <a:bodyPr wrap="square" lIns="0" tIns="0" rIns="0" bIns="0" rtlCol="0" anchor="ctr"/>
          <a:lstStyle/>
          <a:p>
            <a:pPr algn="ctr" indent="0" marL="0">
              <a:buNone/>
            </a:pPr>
            <a:r>
              <a:rPr lang="en-US" sz="6000" b="1" dirty="0">
                <a:solidFill>
                  <a:srgbClr val="06B6D4"/>
                </a:solidFill>
                <a:latin typeface="Calibri" pitchFamily="34" charset="0"/>
                <a:ea typeface="Calibri" pitchFamily="34" charset="-122"/>
                <a:cs typeface="Calibri" pitchFamily="34" charset="-120"/>
              </a:rPr>
              <a:t>→ LIVE DEMO 04</a:t>
            </a:r>
            <a:endParaRPr lang="en-US" sz="6000" dirty="0"/>
          </a:p>
        </p:txBody>
      </p:sp>
      <p:sp>
        <p:nvSpPr>
          <p:cNvPr id="3" name="Text 1"/>
          <p:cNvSpPr/>
          <p:nvPr/>
        </p:nvSpPr>
        <p:spPr>
          <a:xfrm>
            <a:off x="1371600" y="2926080"/>
            <a:ext cx="6400800" cy="1371600"/>
          </a:xfrm>
          <a:prstGeom prst="rect">
            <a:avLst/>
          </a:prstGeom>
          <a:noFill/>
          <a:ln/>
        </p:spPr>
        <p:txBody>
          <a:bodyPr wrap="square" lIns="0" tIns="0" rIns="0" bIns="0" rtlCol="0" anchor="ctr"/>
          <a:lstStyle/>
          <a:p>
            <a:pPr algn="ctr" indent="0" marL="0">
              <a:buNone/>
            </a:pPr>
            <a:r>
              <a:rPr lang="en-US" sz="1400" dirty="0">
                <a:solidFill>
                  <a:srgbClr val="F8FAFC"/>
                </a:solidFill>
                <a:latin typeface="Consolas" pitchFamily="34" charset="0"/>
                <a:ea typeface="Consolas" pitchFamily="34" charset="-122"/>
                <a:cs typeface="Consolas" pitchFamily="34" charset="-120"/>
              </a:rPr>
              <a:t>cd demo-04-jvm-metrics-shenandoah &amp;&amp; ./demo.sh</a:t>
            </a:r>
            <a:endParaRPr lang="en-US" sz="1400" dirty="0"/>
          </a:p>
        </p:txBody>
      </p:sp>
      <p:sp>
        <p:nvSpPr>
          <p:cNvPr id="4" name="Text 2"/>
          <p:cNvSpPr/>
          <p:nvPr/>
        </p:nvSpPr>
        <p:spPr>
          <a:xfrm>
            <a:off x="457200" y="4572000"/>
            <a:ext cx="8229600" cy="274320"/>
          </a:xfrm>
          <a:prstGeom prst="rect">
            <a:avLst/>
          </a:prstGeom>
          <a:noFill/>
          <a:ln/>
        </p:spPr>
        <p:txBody>
          <a:bodyPr wrap="square" lIns="0" tIns="0" rIns="0" bIns="0" rtlCol="0" anchor="ctr"/>
          <a:lstStyle/>
          <a:p>
            <a:pPr algn="ctr" indent="0" marL="0">
              <a:buNone/>
            </a:pPr>
            <a:r>
              <a:rPr lang="en-US" sz="1100" i="1" dirty="0">
                <a:solidFill>
                  <a:srgbClr val="64748B"/>
                </a:solidFill>
                <a:latin typeface="Calibri" pitchFamily="34" charset="0"/>
                <a:ea typeface="Calibri" pitchFamily="34" charset="-122"/>
                <a:cs typeface="Calibri" pitchFamily="34" charset="-120"/>
              </a:rPr>
              <a:t>Switch to terminal · run the demo · come back when done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indent="0" marL="0">
              <a:buNone/>
            </a:pPr>
            <a:r>
              <a:rPr lang="en-US" sz="3200" b="1" dirty="0">
                <a:solidFill>
                  <a:srgbClr val="0F172A"/>
                </a:solidFill>
                <a:latin typeface="Calibri" pitchFamily="34" charset="0"/>
                <a:ea typeface="Calibri" pitchFamily="34" charset="-122"/>
                <a:cs typeface="Calibri" pitchFamily="34" charset="-120"/>
              </a:rPr>
              <a:t>Recap — Demo 04</a:t>
            </a:r>
            <a:endParaRPr lang="en-US" sz="3200" dirty="0"/>
          </a:p>
        </p:txBody>
      </p:sp>
      <p:sp>
        <p:nvSpPr>
          <p:cNvPr id="3" name="Shape 1"/>
          <p:cNvSpPr/>
          <p:nvPr/>
        </p:nvSpPr>
        <p:spPr>
          <a:xfrm>
            <a:off x="457200" y="1188720"/>
            <a:ext cx="8229600" cy="914400"/>
          </a:xfrm>
          <a:prstGeom prst="rect">
            <a:avLst/>
          </a:prstGeom>
          <a:solidFill>
            <a:srgbClr val="F8FAFC"/>
          </a:solidFill>
          <a:ln/>
        </p:spPr>
      </p:sp>
      <p:sp>
        <p:nvSpPr>
          <p:cNvPr id="4" name="Shape 2"/>
          <p:cNvSpPr/>
          <p:nvPr/>
        </p:nvSpPr>
        <p:spPr>
          <a:xfrm>
            <a:off x="457200" y="1188720"/>
            <a:ext cx="91440" cy="914400"/>
          </a:xfrm>
          <a:prstGeom prst="rect">
            <a:avLst/>
          </a:prstGeom>
          <a:solidFill>
            <a:srgbClr val="06B6D4"/>
          </a:solidFill>
          <a:ln/>
        </p:spPr>
      </p:sp>
      <p:sp>
        <p:nvSpPr>
          <p:cNvPr id="5" name="Text 3"/>
          <p:cNvSpPr/>
          <p:nvPr/>
        </p:nvSpPr>
        <p:spPr>
          <a:xfrm>
            <a:off x="777240" y="1188720"/>
            <a:ext cx="7772400" cy="914400"/>
          </a:xfrm>
          <a:prstGeom prst="rect">
            <a:avLst/>
          </a:prstGeom>
          <a:noFill/>
          <a:ln/>
        </p:spPr>
        <p:txBody>
          <a:bodyPr wrap="square" lIns="0" tIns="0" rIns="0" bIns="0" rtlCol="0" anchor="ctr"/>
          <a:lstStyle/>
          <a:p>
            <a:pPr indent="0" marL="0">
              <a:buNone/>
            </a:pPr>
            <a:r>
              <a:rPr lang="en-US" sz="2000" b="1" i="1" dirty="0">
                <a:solidFill>
                  <a:srgbClr val="0F172A"/>
                </a:solidFill>
                <a:latin typeface="Calibri" pitchFamily="34" charset="0"/>
                <a:ea typeface="Calibri" pitchFamily="34" charset="-122"/>
                <a:cs typeface="Calibri" pitchFamily="34" charset="-120"/>
              </a:rPr>
              <a:t>GC choice is an operational shape choice, not a tuning afterthought.</a:t>
            </a:r>
            <a:endParaRPr lang="en-US" sz="2000" dirty="0"/>
          </a:p>
        </p:txBody>
      </p:sp>
      <p:sp>
        <p:nvSpPr>
          <p:cNvPr id="6" name="Text 4"/>
          <p:cNvSpPr/>
          <p:nvPr/>
        </p:nvSpPr>
        <p:spPr>
          <a:xfrm>
            <a:off x="640080" y="2468880"/>
            <a:ext cx="7772400" cy="2103120"/>
          </a:xfrm>
          <a:prstGeom prst="rect">
            <a:avLst/>
          </a:prstGeom>
          <a:noFill/>
          <a:ln/>
        </p:spPr>
        <p:txBody>
          <a:bodyPr wrap="square" rtlCol="0" anchor="ctr"/>
          <a:lstStyle/>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Shenandoah and ZGC keep pauses under 10ms even on multi-GB heaps</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G1 trades occasional 50-100ms pauses for higher throughput</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Fingerprint your service: which pause profile fits SLO budget?</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On JDK 21+ on UBI, Shenandoah is one flag away: -XX:+UseShenandoahGC</a:t>
            </a:r>
            <a:endParaRPr lang="en-US" sz="1400" dirty="0"/>
          </a:p>
        </p:txBody>
      </p:sp>
      <p:sp>
        <p:nvSpPr>
          <p:cNvPr id="7" name="Text 5"/>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8" name="Text 6"/>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1188720" cy="548640"/>
          </a:xfrm>
          <a:prstGeom prst="rect">
            <a:avLst/>
          </a:prstGeom>
          <a:solidFill>
            <a:srgbClr val="DC2626"/>
          </a:solidFill>
          <a:ln/>
        </p:spPr>
      </p:sp>
      <p:sp>
        <p:nvSpPr>
          <p:cNvPr id="3" name="Text 1"/>
          <p:cNvSpPr/>
          <p:nvPr/>
        </p:nvSpPr>
        <p:spPr>
          <a:xfrm>
            <a:off x="457200" y="457200"/>
            <a:ext cx="118872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Demo 05</a:t>
            </a:r>
            <a:endParaRPr lang="en-US" sz="1600" dirty="0"/>
          </a:p>
        </p:txBody>
      </p:sp>
      <p:sp>
        <p:nvSpPr>
          <p:cNvPr id="4" name="Text 2"/>
          <p:cNvSpPr/>
          <p:nvPr/>
        </p:nvSpPr>
        <p:spPr>
          <a:xfrm>
            <a:off x="1828800" y="365760"/>
            <a:ext cx="6858000" cy="73152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Cold Start: What Telemetry Costs</a:t>
            </a:r>
            <a:endParaRPr lang="en-US" sz="3000" dirty="0"/>
          </a:p>
        </p:txBody>
      </p:sp>
      <p:sp>
        <p:nvSpPr>
          <p:cNvPr id="5" name="Text 3"/>
          <p:cNvSpPr/>
          <p:nvPr/>
        </p:nvSpPr>
        <p:spPr>
          <a:xfrm>
            <a:off x="457200" y="1280160"/>
            <a:ext cx="8229600" cy="457200"/>
          </a:xfrm>
          <a:prstGeom prst="rect">
            <a:avLst/>
          </a:prstGeom>
          <a:noFill/>
          <a:ln/>
        </p:spPr>
        <p:txBody>
          <a:bodyPr wrap="square" lIns="0" tIns="0" rIns="0" bIns="0" rtlCol="0" anchor="ctr"/>
          <a:lstStyle/>
          <a:p>
            <a:pPr indent="0" marL="0">
              <a:buNone/>
            </a:pPr>
            <a:r>
              <a:rPr lang="en-US" sz="1800" i="1" dirty="0">
                <a:solidFill>
                  <a:srgbClr val="64748B"/>
                </a:solidFill>
                <a:latin typeface="Calibri" pitchFamily="34" charset="0"/>
                <a:ea typeface="Calibri" pitchFamily="34" charset="-122"/>
                <a:cs typeface="Calibri" pitchFamily="34" charset="-120"/>
              </a:rPr>
              <a:t>The Java cold-start problem.</a:t>
            </a:r>
            <a:endParaRPr lang="en-US" sz="1800" dirty="0"/>
          </a:p>
        </p:txBody>
      </p:sp>
      <p:sp>
        <p:nvSpPr>
          <p:cNvPr id="6" name="Shape 4"/>
          <p:cNvSpPr/>
          <p:nvPr/>
        </p:nvSpPr>
        <p:spPr>
          <a:xfrm>
            <a:off x="457200" y="1920240"/>
            <a:ext cx="4023360" cy="2560320"/>
          </a:xfrm>
          <a:prstGeom prst="rect">
            <a:avLst/>
          </a:prstGeom>
          <a:solidFill>
            <a:srgbClr val="FEF2F2"/>
          </a:solidFill>
          <a:ln/>
        </p:spPr>
      </p:sp>
      <p:sp>
        <p:nvSpPr>
          <p:cNvPr id="7" name="Text 5"/>
          <p:cNvSpPr/>
          <p:nvPr/>
        </p:nvSpPr>
        <p:spPr>
          <a:xfrm>
            <a:off x="640080" y="2057400"/>
            <a:ext cx="3657600" cy="365760"/>
          </a:xfrm>
          <a:prstGeom prst="rect">
            <a:avLst/>
          </a:prstGeom>
          <a:noFill/>
          <a:ln/>
        </p:spPr>
        <p:txBody>
          <a:bodyPr wrap="square" lIns="0" tIns="0" rIns="0" bIns="0" rtlCol="0" anchor="ctr"/>
          <a:lstStyle/>
          <a:p>
            <a:pPr indent="0" marL="0">
              <a:buNone/>
            </a:pPr>
            <a:r>
              <a:rPr lang="en-US" sz="1600" b="1" dirty="0">
                <a:solidFill>
                  <a:srgbClr val="DC2626"/>
                </a:solidFill>
                <a:latin typeface="Calibri" pitchFamily="34" charset="0"/>
                <a:ea typeface="Calibri" pitchFamily="34" charset="-122"/>
                <a:cs typeface="Calibri" pitchFamily="34" charset="-120"/>
              </a:rPr>
              <a:t>Why Java is slow to start</a:t>
            </a:r>
            <a:endParaRPr lang="en-US" sz="1600" dirty="0"/>
          </a:p>
        </p:txBody>
      </p:sp>
      <p:sp>
        <p:nvSpPr>
          <p:cNvPr id="8" name="Text 6"/>
          <p:cNvSpPr/>
          <p:nvPr/>
        </p:nvSpPr>
        <p:spPr>
          <a:xfrm>
            <a:off x="640080" y="2468880"/>
            <a:ext cx="3657600" cy="2011680"/>
          </a:xfrm>
          <a:prstGeom prst="rect">
            <a:avLst/>
          </a:prstGeom>
          <a:noFill/>
          <a:ln/>
        </p:spPr>
        <p:txBody>
          <a:bodyPr wrap="square" rtlCol="0" anchor="ctr"/>
          <a:lstStyle/>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Classloading: parse, verify, link bytecode</a:t>
            </a:r>
            <a:endParaRPr lang="en-US" sz="1300" dirty="0"/>
          </a:p>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JIT warmup: profile, recompile hot paths</a:t>
            </a:r>
            <a:endParaRPr lang="en-US" sz="1300" dirty="0"/>
          </a:p>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Framework init: bean discovery, autoconfig</a:t>
            </a:r>
            <a:endParaRPr lang="en-US" sz="1300" dirty="0"/>
          </a:p>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JPA: schema gen, entity scan, proxy gen</a:t>
            </a:r>
            <a:endParaRPr lang="en-US" sz="1300" dirty="0"/>
          </a:p>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Agent: bytecode rewriting at startup</a:t>
            </a:r>
            <a:endParaRPr lang="en-US" sz="1300" dirty="0"/>
          </a:p>
        </p:txBody>
      </p:sp>
      <p:sp>
        <p:nvSpPr>
          <p:cNvPr id="9" name="Shape 7"/>
          <p:cNvSpPr/>
          <p:nvPr/>
        </p:nvSpPr>
        <p:spPr>
          <a:xfrm>
            <a:off x="4663440" y="1920240"/>
            <a:ext cx="4023360" cy="2560320"/>
          </a:xfrm>
          <a:prstGeom prst="rect">
            <a:avLst/>
          </a:prstGeom>
          <a:solidFill>
            <a:srgbClr val="F0FDFA"/>
          </a:solidFill>
          <a:ln/>
        </p:spPr>
      </p:sp>
      <p:sp>
        <p:nvSpPr>
          <p:cNvPr id="10" name="Text 8"/>
          <p:cNvSpPr/>
          <p:nvPr/>
        </p:nvSpPr>
        <p:spPr>
          <a:xfrm>
            <a:off x="4846320" y="2057400"/>
            <a:ext cx="3657600" cy="365760"/>
          </a:xfrm>
          <a:prstGeom prst="rect">
            <a:avLst/>
          </a:prstGeom>
          <a:noFill/>
          <a:ln/>
        </p:spPr>
        <p:txBody>
          <a:bodyPr wrap="square" lIns="0" tIns="0" rIns="0" bIns="0" rtlCol="0" anchor="ctr"/>
          <a:lstStyle/>
          <a:p>
            <a:pPr indent="0" marL="0">
              <a:buNone/>
            </a:pPr>
            <a:r>
              <a:rPr lang="en-US" sz="1600" b="1" dirty="0">
                <a:solidFill>
                  <a:srgbClr val="0D9488"/>
                </a:solidFill>
                <a:latin typeface="Calibri" pitchFamily="34" charset="0"/>
                <a:ea typeface="Calibri" pitchFamily="34" charset="-122"/>
                <a:cs typeface="Calibri" pitchFamily="34" charset="-120"/>
              </a:rPr>
              <a:t>Project Leyden's promise</a:t>
            </a:r>
            <a:endParaRPr lang="en-US" sz="1600" dirty="0"/>
          </a:p>
        </p:txBody>
      </p:sp>
      <p:sp>
        <p:nvSpPr>
          <p:cNvPr id="11" name="Text 9"/>
          <p:cNvSpPr/>
          <p:nvPr/>
        </p:nvSpPr>
        <p:spPr>
          <a:xfrm>
            <a:off x="4846320" y="2468880"/>
            <a:ext cx="3657600" cy="2011680"/>
          </a:xfrm>
          <a:prstGeom prst="rect">
            <a:avLst/>
          </a:prstGeom>
          <a:noFill/>
          <a:ln/>
        </p:spPr>
        <p:txBody>
          <a:bodyPr wrap="square" rtlCol="0" anchor="ctr"/>
          <a:lstStyle/>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JDK 24+: pre-link classes (JEP 483)</a:t>
            </a:r>
            <a:endParaRPr lang="en-US" sz="1300" dirty="0"/>
          </a:p>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JDK 25: AOT cache (JEP 514) — production-ready</a:t>
            </a:r>
            <a:endParaRPr lang="en-US" sz="1300" dirty="0"/>
          </a:p>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Spring AOT: pre-compute bean factory</a:t>
            </a:r>
            <a:endParaRPr lang="en-US" sz="1300" dirty="0"/>
          </a:p>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JPA repository AOT: parse queries at build</a:t>
            </a:r>
            <a:endParaRPr lang="en-US" sz="1300" dirty="0"/>
          </a:p>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All compose into shorter cold start</a:t>
            </a:r>
            <a:endParaRPr lang="en-US" sz="1300" dirty="0"/>
          </a:p>
        </p:txBody>
      </p:sp>
      <p:sp>
        <p:nvSpPr>
          <p:cNvPr id="12" name="Text 1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13" name="Text 11"/>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indent="0" marL="0">
              <a:buNone/>
            </a:pPr>
            <a:r>
              <a:rPr lang="en-US" sz="2800" b="1" dirty="0">
                <a:solidFill>
                  <a:srgbClr val="0F172A"/>
                </a:solidFill>
                <a:latin typeface="Calibri" pitchFamily="34" charset="0"/>
                <a:ea typeface="Calibri" pitchFamily="34" charset="-122"/>
                <a:cs typeface="Calibri" pitchFamily="34" charset="-120"/>
              </a:rPr>
              <a:t>AOT Cache Pipeline (JDK 25 + Spring Boot 4)</a:t>
            </a:r>
            <a:endParaRPr lang="en-US" sz="2800" dirty="0"/>
          </a:p>
        </p:txBody>
      </p:sp>
      <p:sp>
        <p:nvSpPr>
          <p:cNvPr id="3" name="Text 1"/>
          <p:cNvSpPr/>
          <p:nvPr/>
        </p:nvSpPr>
        <p:spPr>
          <a:xfrm>
            <a:off x="457200" y="914400"/>
            <a:ext cx="822960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Four stages, one Containerfile, ~120 MB cache</a:t>
            </a:r>
            <a:endParaRPr lang="en-US" sz="1400" dirty="0"/>
          </a:p>
        </p:txBody>
      </p:sp>
      <p:sp>
        <p:nvSpPr>
          <p:cNvPr id="4" name="Shape 2"/>
          <p:cNvSpPr/>
          <p:nvPr/>
        </p:nvSpPr>
        <p:spPr>
          <a:xfrm>
            <a:off x="457200" y="1554480"/>
            <a:ext cx="1920240" cy="457200"/>
          </a:xfrm>
          <a:prstGeom prst="rect">
            <a:avLst/>
          </a:prstGeom>
          <a:solidFill>
            <a:srgbClr val="64748B"/>
          </a:solidFill>
          <a:ln/>
        </p:spPr>
      </p:sp>
      <p:sp>
        <p:nvSpPr>
          <p:cNvPr id="5" name="Text 3"/>
          <p:cNvSpPr/>
          <p:nvPr/>
        </p:nvSpPr>
        <p:spPr>
          <a:xfrm>
            <a:off x="548640" y="1600200"/>
            <a:ext cx="173736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1. Build</a:t>
            </a:r>
            <a:endParaRPr lang="en-US" sz="1400" dirty="0"/>
          </a:p>
        </p:txBody>
      </p:sp>
      <p:sp>
        <p:nvSpPr>
          <p:cNvPr id="6" name="Shape 4"/>
          <p:cNvSpPr/>
          <p:nvPr/>
        </p:nvSpPr>
        <p:spPr>
          <a:xfrm>
            <a:off x="457200" y="2011680"/>
            <a:ext cx="1920240" cy="1920240"/>
          </a:xfrm>
          <a:prstGeom prst="rect">
            <a:avLst/>
          </a:prstGeom>
          <a:solidFill>
            <a:srgbClr val="F8FAFC"/>
          </a:solidFill>
          <a:ln/>
        </p:spPr>
      </p:sp>
      <p:sp>
        <p:nvSpPr>
          <p:cNvPr id="7" name="Text 5"/>
          <p:cNvSpPr/>
          <p:nvPr/>
        </p:nvSpPr>
        <p:spPr>
          <a:xfrm>
            <a:off x="548640" y="2103120"/>
            <a:ext cx="1737360" cy="1188720"/>
          </a:xfrm>
          <a:prstGeom prst="rect">
            <a:avLst/>
          </a:prstGeom>
          <a:noFill/>
          <a:ln/>
        </p:spPr>
        <p:txBody>
          <a:bodyPr wrap="square" lIns="0" tIns="0" rIns="0" bIns="0" rtlCol="0" anchor="ctr"/>
          <a:lstStyle/>
          <a:p>
            <a:pPr indent="0" marL="0">
              <a:buNone/>
            </a:pPr>
            <a:r>
              <a:rPr lang="en-US" sz="900" dirty="0">
                <a:solidFill>
                  <a:srgbClr val="0F172A"/>
                </a:solidFill>
                <a:latin typeface="Consolas" pitchFamily="34" charset="0"/>
                <a:ea typeface="Consolas" pitchFamily="34" charset="-122"/>
                <a:cs typeface="Consolas" pitchFamily="34" charset="-120"/>
              </a:rPr>
              <a:t>mvn package</a:t>
            </a:r>
            <a:endParaRPr lang="en-US" sz="900" dirty="0"/>
          </a:p>
        </p:txBody>
      </p:sp>
      <p:sp>
        <p:nvSpPr>
          <p:cNvPr id="8" name="Text 6"/>
          <p:cNvSpPr/>
          <p:nvPr/>
        </p:nvSpPr>
        <p:spPr>
          <a:xfrm>
            <a:off x="548640" y="3337560"/>
            <a:ext cx="173736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Spring Boot fat JAR</a:t>
            </a:r>
            <a:endParaRPr lang="en-US" sz="1100" dirty="0"/>
          </a:p>
        </p:txBody>
      </p:sp>
      <p:sp>
        <p:nvSpPr>
          <p:cNvPr id="9" name="Shape 7"/>
          <p:cNvSpPr/>
          <p:nvPr/>
        </p:nvSpPr>
        <p:spPr>
          <a:xfrm>
            <a:off x="2514600" y="1554480"/>
            <a:ext cx="1920240" cy="457200"/>
          </a:xfrm>
          <a:prstGeom prst="rect">
            <a:avLst/>
          </a:prstGeom>
          <a:solidFill>
            <a:srgbClr val="14B8A6"/>
          </a:solidFill>
          <a:ln/>
        </p:spPr>
      </p:sp>
      <p:sp>
        <p:nvSpPr>
          <p:cNvPr id="10" name="Text 8"/>
          <p:cNvSpPr/>
          <p:nvPr/>
        </p:nvSpPr>
        <p:spPr>
          <a:xfrm>
            <a:off x="2606040" y="1600200"/>
            <a:ext cx="173736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2. Extract</a:t>
            </a:r>
            <a:endParaRPr lang="en-US" sz="1400" dirty="0"/>
          </a:p>
        </p:txBody>
      </p:sp>
      <p:sp>
        <p:nvSpPr>
          <p:cNvPr id="11" name="Shape 9"/>
          <p:cNvSpPr/>
          <p:nvPr/>
        </p:nvSpPr>
        <p:spPr>
          <a:xfrm>
            <a:off x="2514600" y="2011680"/>
            <a:ext cx="1920240" cy="1920240"/>
          </a:xfrm>
          <a:prstGeom prst="rect">
            <a:avLst/>
          </a:prstGeom>
          <a:solidFill>
            <a:srgbClr val="F8FAFC"/>
          </a:solidFill>
          <a:ln/>
        </p:spPr>
      </p:sp>
      <p:sp>
        <p:nvSpPr>
          <p:cNvPr id="12" name="Text 10"/>
          <p:cNvSpPr/>
          <p:nvPr/>
        </p:nvSpPr>
        <p:spPr>
          <a:xfrm>
            <a:off x="2606040" y="2103120"/>
            <a:ext cx="1737360" cy="1188720"/>
          </a:xfrm>
          <a:prstGeom prst="rect">
            <a:avLst/>
          </a:prstGeom>
          <a:noFill/>
          <a:ln/>
        </p:spPr>
        <p:txBody>
          <a:bodyPr wrap="square" lIns="0" tIns="0" rIns="0" bIns="0" rtlCol="0" anchor="ctr"/>
          <a:lstStyle/>
          <a:p>
            <a:pPr indent="0" marL="0">
              <a:buNone/>
            </a:pPr>
            <a:r>
              <a:rPr lang="en-US" sz="900" dirty="0">
                <a:solidFill>
                  <a:srgbClr val="0F172A"/>
                </a:solidFill>
                <a:latin typeface="Consolas" pitchFamily="34" charset="0"/>
                <a:ea typeface="Consolas" pitchFamily="34" charset="-122"/>
                <a:cs typeface="Consolas" pitchFamily="34" charset="-120"/>
              </a:rPr>
              <a:t>java -Djarmode=tools extract</a:t>
            </a:r>
            <a:endParaRPr lang="en-US" sz="900" dirty="0"/>
          </a:p>
        </p:txBody>
      </p:sp>
      <p:sp>
        <p:nvSpPr>
          <p:cNvPr id="13" name="Text 11"/>
          <p:cNvSpPr/>
          <p:nvPr/>
        </p:nvSpPr>
        <p:spPr>
          <a:xfrm>
            <a:off x="2606040" y="3337560"/>
            <a:ext cx="173736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Flat layout</a:t>
            </a:r>
            <a:endParaRPr lang="en-US" sz="1100" dirty="0"/>
          </a:p>
        </p:txBody>
      </p:sp>
      <p:sp>
        <p:nvSpPr>
          <p:cNvPr id="14" name="Shape 12"/>
          <p:cNvSpPr/>
          <p:nvPr/>
        </p:nvSpPr>
        <p:spPr>
          <a:xfrm>
            <a:off x="4572000" y="1554480"/>
            <a:ext cx="1920240" cy="457200"/>
          </a:xfrm>
          <a:prstGeom prst="rect">
            <a:avLst/>
          </a:prstGeom>
          <a:solidFill>
            <a:srgbClr val="0D9488"/>
          </a:solidFill>
          <a:ln/>
        </p:spPr>
      </p:sp>
      <p:sp>
        <p:nvSpPr>
          <p:cNvPr id="15" name="Text 13"/>
          <p:cNvSpPr/>
          <p:nvPr/>
        </p:nvSpPr>
        <p:spPr>
          <a:xfrm>
            <a:off x="4663440" y="1600200"/>
            <a:ext cx="173736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3. Cache</a:t>
            </a:r>
            <a:endParaRPr lang="en-US" sz="1400" dirty="0"/>
          </a:p>
        </p:txBody>
      </p:sp>
      <p:sp>
        <p:nvSpPr>
          <p:cNvPr id="16" name="Shape 14"/>
          <p:cNvSpPr/>
          <p:nvPr/>
        </p:nvSpPr>
        <p:spPr>
          <a:xfrm>
            <a:off x="4572000" y="2011680"/>
            <a:ext cx="1920240" cy="1920240"/>
          </a:xfrm>
          <a:prstGeom prst="rect">
            <a:avLst/>
          </a:prstGeom>
          <a:solidFill>
            <a:srgbClr val="F8FAFC"/>
          </a:solidFill>
          <a:ln/>
        </p:spPr>
      </p:sp>
      <p:sp>
        <p:nvSpPr>
          <p:cNvPr id="17" name="Text 15"/>
          <p:cNvSpPr/>
          <p:nvPr/>
        </p:nvSpPr>
        <p:spPr>
          <a:xfrm>
            <a:off x="4663440" y="2103120"/>
            <a:ext cx="1737360" cy="1188720"/>
          </a:xfrm>
          <a:prstGeom prst="rect">
            <a:avLst/>
          </a:prstGeom>
          <a:noFill/>
          <a:ln/>
        </p:spPr>
        <p:txBody>
          <a:bodyPr wrap="square" lIns="0" tIns="0" rIns="0" bIns="0" rtlCol="0" anchor="ctr"/>
          <a:lstStyle/>
          <a:p>
            <a:pPr indent="0" marL="0">
              <a:buNone/>
            </a:pPr>
            <a:r>
              <a:rPr lang="en-US" sz="900" dirty="0">
                <a:solidFill>
                  <a:srgbClr val="0F172A"/>
                </a:solidFill>
                <a:latin typeface="Consolas" pitchFamily="34" charset="0"/>
                <a:ea typeface="Consolas" pitchFamily="34" charset="-122"/>
                <a:cs typeface="Consolas" pitchFamily="34" charset="-120"/>
              </a:rPr>
              <a:t>java -XX:AOTCacheOutput \</a:t>
            </a:r>
            <a:endParaRPr lang="en-US" sz="900" dirty="0"/>
          </a:p>
          <a:p>
            <a:pPr indent="0" marL="0">
              <a:buNone/>
            </a:pPr>
            <a:r>
              <a:rPr lang="en-US" sz="900" dirty="0">
                <a:solidFill>
                  <a:srgbClr val="0F172A"/>
                </a:solidFill>
                <a:latin typeface="Consolas" pitchFamily="34" charset="0"/>
                <a:ea typeface="Consolas" pitchFamily="34" charset="-122"/>
                <a:cs typeface="Consolas" pitchFamily="34" charset="-120"/>
              </a:rPr>
              <a:t>  -Dspring.context.exit=onRefresh</a:t>
            </a:r>
            <a:endParaRPr lang="en-US" sz="900" dirty="0"/>
          </a:p>
        </p:txBody>
      </p:sp>
      <p:sp>
        <p:nvSpPr>
          <p:cNvPr id="18" name="Text 16"/>
          <p:cNvSpPr/>
          <p:nvPr/>
        </p:nvSpPr>
        <p:spPr>
          <a:xfrm>
            <a:off x="4663440" y="3337560"/>
            <a:ext cx="173736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Train + write 120MB cache</a:t>
            </a:r>
            <a:endParaRPr lang="en-US" sz="1100" dirty="0"/>
          </a:p>
        </p:txBody>
      </p:sp>
      <p:sp>
        <p:nvSpPr>
          <p:cNvPr id="19" name="Shape 17"/>
          <p:cNvSpPr/>
          <p:nvPr/>
        </p:nvSpPr>
        <p:spPr>
          <a:xfrm>
            <a:off x="6629400" y="1554480"/>
            <a:ext cx="1920240" cy="457200"/>
          </a:xfrm>
          <a:prstGeom prst="rect">
            <a:avLst/>
          </a:prstGeom>
          <a:solidFill>
            <a:srgbClr val="DC2626"/>
          </a:solidFill>
          <a:ln/>
        </p:spPr>
      </p:sp>
      <p:sp>
        <p:nvSpPr>
          <p:cNvPr id="20" name="Text 18"/>
          <p:cNvSpPr/>
          <p:nvPr/>
        </p:nvSpPr>
        <p:spPr>
          <a:xfrm>
            <a:off x="6720840" y="1600200"/>
            <a:ext cx="173736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4. Runtime</a:t>
            </a:r>
            <a:endParaRPr lang="en-US" sz="1400" dirty="0"/>
          </a:p>
        </p:txBody>
      </p:sp>
      <p:sp>
        <p:nvSpPr>
          <p:cNvPr id="21" name="Shape 19"/>
          <p:cNvSpPr/>
          <p:nvPr/>
        </p:nvSpPr>
        <p:spPr>
          <a:xfrm>
            <a:off x="6629400" y="2011680"/>
            <a:ext cx="1920240" cy="1920240"/>
          </a:xfrm>
          <a:prstGeom prst="rect">
            <a:avLst/>
          </a:prstGeom>
          <a:solidFill>
            <a:srgbClr val="F8FAFC"/>
          </a:solidFill>
          <a:ln/>
        </p:spPr>
      </p:sp>
      <p:sp>
        <p:nvSpPr>
          <p:cNvPr id="22" name="Text 20"/>
          <p:cNvSpPr/>
          <p:nvPr/>
        </p:nvSpPr>
        <p:spPr>
          <a:xfrm>
            <a:off x="6720840" y="2103120"/>
            <a:ext cx="1737360" cy="1188720"/>
          </a:xfrm>
          <a:prstGeom prst="rect">
            <a:avLst/>
          </a:prstGeom>
          <a:noFill/>
          <a:ln/>
        </p:spPr>
        <p:txBody>
          <a:bodyPr wrap="square" lIns="0" tIns="0" rIns="0" bIns="0" rtlCol="0" anchor="ctr"/>
          <a:lstStyle/>
          <a:p>
            <a:pPr indent="0" marL="0">
              <a:buNone/>
            </a:pPr>
            <a:r>
              <a:rPr lang="en-US" sz="900" dirty="0">
                <a:solidFill>
                  <a:srgbClr val="0F172A"/>
                </a:solidFill>
                <a:latin typeface="Consolas" pitchFamily="34" charset="0"/>
                <a:ea typeface="Consolas" pitchFamily="34" charset="-122"/>
                <a:cs typeface="Consolas" pitchFamily="34" charset="-120"/>
              </a:rPr>
              <a:t>java -XX:AOTCache=app.aot</a:t>
            </a:r>
            <a:endParaRPr lang="en-US" sz="900" dirty="0"/>
          </a:p>
        </p:txBody>
      </p:sp>
      <p:sp>
        <p:nvSpPr>
          <p:cNvPr id="23" name="Text 21"/>
          <p:cNvSpPr/>
          <p:nvPr/>
        </p:nvSpPr>
        <p:spPr>
          <a:xfrm>
            <a:off x="6720840" y="3337560"/>
            <a:ext cx="173736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Use cache, fast boot</a:t>
            </a:r>
            <a:endParaRPr lang="en-US" sz="1100" dirty="0"/>
          </a:p>
        </p:txBody>
      </p:sp>
      <p:sp>
        <p:nvSpPr>
          <p:cNvPr id="24" name="Text 22"/>
          <p:cNvSpPr/>
          <p:nvPr/>
        </p:nvSpPr>
        <p:spPr>
          <a:xfrm>
            <a:off x="457200" y="4206240"/>
            <a:ext cx="822960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Source: Piotr Minkowski's Spring Boot + Project Leyden writeup (Mar 2026)</a:t>
            </a:r>
            <a:endParaRPr lang="en-US" sz="1000" dirty="0"/>
          </a:p>
        </p:txBody>
      </p:sp>
      <p:sp>
        <p:nvSpPr>
          <p:cNvPr id="25" name="Text 23"/>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26" name="Text 24"/>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1463040"/>
            <a:ext cx="8229600" cy="914400"/>
          </a:xfrm>
          <a:prstGeom prst="rect">
            <a:avLst/>
          </a:prstGeom>
          <a:noFill/>
          <a:ln/>
        </p:spPr>
        <p:txBody>
          <a:bodyPr wrap="square" lIns="0" tIns="0" rIns="0" bIns="0" rtlCol="0" anchor="ctr"/>
          <a:lstStyle/>
          <a:p>
            <a:pPr algn="ctr" indent="0" marL="0">
              <a:buNone/>
            </a:pPr>
            <a:r>
              <a:rPr lang="en-US" sz="6000" b="1" dirty="0">
                <a:solidFill>
                  <a:srgbClr val="DC2626"/>
                </a:solidFill>
                <a:latin typeface="Calibri" pitchFamily="34" charset="0"/>
                <a:ea typeface="Calibri" pitchFamily="34" charset="-122"/>
                <a:cs typeface="Calibri" pitchFamily="34" charset="-120"/>
              </a:rPr>
              <a:t>→ LIVE DEMO 05</a:t>
            </a:r>
            <a:endParaRPr lang="en-US" sz="6000" dirty="0"/>
          </a:p>
        </p:txBody>
      </p:sp>
      <p:sp>
        <p:nvSpPr>
          <p:cNvPr id="3" name="Text 1"/>
          <p:cNvSpPr/>
          <p:nvPr/>
        </p:nvSpPr>
        <p:spPr>
          <a:xfrm>
            <a:off x="1371600" y="2926080"/>
            <a:ext cx="6400800" cy="1371600"/>
          </a:xfrm>
          <a:prstGeom prst="rect">
            <a:avLst/>
          </a:prstGeom>
          <a:noFill/>
          <a:ln/>
        </p:spPr>
        <p:txBody>
          <a:bodyPr wrap="square" lIns="0" tIns="0" rIns="0" bIns="0" rtlCol="0" anchor="ctr"/>
          <a:lstStyle/>
          <a:p>
            <a:pPr algn="ctr" indent="0" marL="0">
              <a:buNone/>
            </a:pPr>
            <a:r>
              <a:rPr lang="en-US" sz="1400" dirty="0">
                <a:solidFill>
                  <a:srgbClr val="F8FAFC"/>
                </a:solidFill>
                <a:latin typeface="Consolas" pitchFamily="34" charset="0"/>
                <a:ea typeface="Consolas" pitchFamily="34" charset="-122"/>
                <a:cs typeface="Consolas" pitchFamily="34" charset="-120"/>
              </a:rPr>
              <a:t>cd demo-05-aot-coldstart &amp;&amp; ./demo.sh time-all</a:t>
            </a:r>
            <a:endParaRPr lang="en-US" sz="1400" dirty="0"/>
          </a:p>
        </p:txBody>
      </p:sp>
      <p:sp>
        <p:nvSpPr>
          <p:cNvPr id="4" name="Text 2"/>
          <p:cNvSpPr/>
          <p:nvPr/>
        </p:nvSpPr>
        <p:spPr>
          <a:xfrm>
            <a:off x="457200" y="4572000"/>
            <a:ext cx="8229600" cy="274320"/>
          </a:xfrm>
          <a:prstGeom prst="rect">
            <a:avLst/>
          </a:prstGeom>
          <a:noFill/>
          <a:ln/>
        </p:spPr>
        <p:txBody>
          <a:bodyPr wrap="square" lIns="0" tIns="0" rIns="0" bIns="0" rtlCol="0" anchor="ctr"/>
          <a:lstStyle/>
          <a:p>
            <a:pPr algn="ctr" indent="0" marL="0">
              <a:buNone/>
            </a:pPr>
            <a:r>
              <a:rPr lang="en-US" sz="1100" i="1" dirty="0">
                <a:solidFill>
                  <a:srgbClr val="64748B"/>
                </a:solidFill>
                <a:latin typeface="Calibri" pitchFamily="34" charset="0"/>
                <a:ea typeface="Calibri" pitchFamily="34" charset="-122"/>
                <a:cs typeface="Calibri" pitchFamily="34" charset="-120"/>
              </a:rPr>
              <a:t>Switch to terminal · run the demo · come back when done</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The Cold-Start Cost of Telemetry</a:t>
            </a:r>
            <a:endParaRPr lang="en-US" sz="3000" dirty="0"/>
          </a:p>
        </p:txBody>
      </p:sp>
      <p:sp>
        <p:nvSpPr>
          <p:cNvPr id="3" name="Text 1"/>
          <p:cNvSpPr/>
          <p:nvPr/>
        </p:nvSpPr>
        <p:spPr>
          <a:xfrm>
            <a:off x="457200" y="914400"/>
            <a:ext cx="8229600" cy="32004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Spring Boot 4 + JDK 25, JPA-heavy app, median of 3 cold starts each</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914400" y="1463040"/>
          <a:ext cx="7315200" cy="914400"/>
        </p:xfrm>
        <a:graphic>
          <a:graphicData uri="http://schemas.openxmlformats.org/drawingml/2006/table">
            <a:tbl>
              <a:tblPr/>
              <a:tblGrid>
                <a:gridCol w="1828800"/>
                <a:gridCol w="1828800"/>
                <a:gridCol w="1828800"/>
                <a:gridCol w="1828800"/>
              </a:tblGrid>
              <a:tr h="457200">
                <a:tc>
                  <a:txBody>
                    <a:bodyPr/>
                    <a:lstStyle/>
                    <a:p>
                      <a:pPr indent="0" marL="0">
                        <a:buNone/>
                      </a:pPr>
                      <a:endParaRPr lang="en-US" sz="1400" dirty="0">
                        <a:latin typeface="Calibri" charset="0"/>
                        <a:ea typeface="Calibri" charset="0"/>
                        <a:cs typeface="Calibr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 Agent</a:t>
                      </a:r>
                      <a:endParaRPr lang="en-US" sz="1400" dirty="0">
                        <a:latin typeface="Calibri" charset="0"/>
                        <a:ea typeface="Calibri" charset="0"/>
                        <a:cs typeface="Calibr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DC2626"/>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 SDK</a:t>
                      </a:r>
                      <a:endParaRPr lang="en-US" sz="1400" dirty="0">
                        <a:latin typeface="Calibri" charset="0"/>
                        <a:ea typeface="Calibri" charset="0"/>
                        <a:cs typeface="Calibr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AB30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no telemetry</a:t>
                      </a:r>
                      <a:endParaRPr lang="en-US" sz="1400" dirty="0">
                        <a:latin typeface="Calibri" charset="0"/>
                        <a:ea typeface="Calibri" charset="0"/>
                        <a:cs typeface="Calibr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64748B"/>
                    </a:solidFill>
                  </a:tcPr>
                </a:tc>
              </a:tr>
              <a:tr h="640080">
                <a:tc>
                  <a:txBody>
                    <a:bodyPr/>
                    <a:lstStyle/>
                    <a:p>
                      <a:pPr indent="0" marL="0">
                        <a:buNone/>
                      </a:pPr>
                      <a:r>
                        <a:rPr lang="en-US" sz="1400" b="1" dirty="0">
                          <a:solidFill>
                            <a:srgbClr val="0F172A"/>
                          </a:solidFill>
                          <a:latin typeface="Calibri" pitchFamily="34" charset="0"/>
                          <a:ea typeface="Calibri" pitchFamily="34" charset="-122"/>
                          <a:cs typeface="Calibri" pitchFamily="34" charset="-120"/>
                        </a:rPr>
                        <a:t>Classic JDK 25</a:t>
                      </a:r>
                      <a:endParaRPr lang="en-US" sz="1400" dirty="0">
                        <a:latin typeface="Calibri" charset="0"/>
                        <a:ea typeface="Calibri" charset="0"/>
                        <a:cs typeface="Calibr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800" b="1" dirty="0">
                          <a:solidFill>
                            <a:srgbClr val="0F172A"/>
                          </a:solidFill>
                          <a:latin typeface="Consolas" pitchFamily="34" charset="0"/>
                          <a:ea typeface="Consolas" pitchFamily="34" charset="-122"/>
                          <a:cs typeface="Consolas" pitchFamily="34" charset="-120"/>
                        </a:rPr>
                        <a:t>4.7 s</a:t>
                      </a:r>
                      <a:endParaRPr lang="en-US" sz="1800" dirty="0">
                        <a:latin typeface="Consolas" charset="0"/>
                        <a:ea typeface="Consolas" charset="0"/>
                        <a:cs typeface="Consolas"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algn="ctr" indent="0" marL="0">
                        <a:buNone/>
                      </a:pPr>
                      <a:r>
                        <a:rPr lang="en-US" sz="1800" dirty="0">
                          <a:solidFill>
                            <a:srgbClr val="0F172A"/>
                          </a:solidFill>
                          <a:latin typeface="Consolas" pitchFamily="34" charset="0"/>
                          <a:ea typeface="Consolas" pitchFamily="34" charset="-122"/>
                          <a:cs typeface="Consolas" pitchFamily="34" charset="-120"/>
                        </a:rPr>
                        <a:t>4.0 s</a:t>
                      </a:r>
                      <a:endParaRPr lang="en-US" sz="1800" dirty="0">
                        <a:latin typeface="Consolas" charset="0"/>
                        <a:ea typeface="Consolas" charset="0"/>
                        <a:cs typeface="Consolas"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algn="ctr" indent="0" marL="0">
                        <a:buNone/>
                      </a:pPr>
                      <a:r>
                        <a:rPr lang="en-US" sz="1800" dirty="0">
                          <a:solidFill>
                            <a:srgbClr val="0F172A"/>
                          </a:solidFill>
                          <a:latin typeface="Consolas" pitchFamily="34" charset="0"/>
                          <a:ea typeface="Consolas" pitchFamily="34" charset="-122"/>
                          <a:cs typeface="Consolas" pitchFamily="34" charset="-120"/>
                        </a:rPr>
                        <a:t>4.0 s</a:t>
                      </a:r>
                      <a:endParaRPr lang="en-US" sz="1800" dirty="0">
                        <a:latin typeface="Consolas" charset="0"/>
                        <a:ea typeface="Consolas" charset="0"/>
                        <a:cs typeface="Consolas"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640080">
                <a:tc>
                  <a:txBody>
                    <a:bodyPr/>
                    <a:lstStyle/>
                    <a:p>
                      <a:pPr indent="0" marL="0">
                        <a:buNone/>
                      </a:pPr>
                      <a:r>
                        <a:rPr lang="en-US" sz="1400" b="1" dirty="0">
                          <a:solidFill>
                            <a:srgbClr val="0D9488"/>
                          </a:solidFill>
                          <a:latin typeface="Calibri" pitchFamily="34" charset="0"/>
                          <a:ea typeface="Calibri" pitchFamily="34" charset="-122"/>
                          <a:cs typeface="Calibri" pitchFamily="34" charset="-120"/>
                        </a:rPr>
                        <a:t>AOT cache</a:t>
                      </a:r>
                      <a:endParaRPr lang="en-US" sz="1400" dirty="0">
                        <a:latin typeface="Calibri" charset="0"/>
                        <a:ea typeface="Calibri" charset="0"/>
                        <a:cs typeface="Calibri"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0FDFA"/>
                    </a:solidFill>
                  </a:tcPr>
                </a:tc>
                <a:tc>
                  <a:txBody>
                    <a:bodyPr/>
                    <a:lstStyle/>
                    <a:p>
                      <a:pPr algn="ctr" indent="0" marL="0">
                        <a:buNone/>
                      </a:pPr>
                      <a:r>
                        <a:rPr lang="en-US" sz="1800" dirty="0">
                          <a:solidFill>
                            <a:srgbClr val="0F172A"/>
                          </a:solidFill>
                          <a:latin typeface="Consolas" pitchFamily="34" charset="0"/>
                          <a:ea typeface="Consolas" pitchFamily="34" charset="-122"/>
                          <a:cs typeface="Consolas" pitchFamily="34" charset="-120"/>
                        </a:rPr>
                        <a:t>4.3 s</a:t>
                      </a:r>
                      <a:endParaRPr lang="en-US" sz="1800" dirty="0">
                        <a:latin typeface="Consolas" charset="0"/>
                        <a:ea typeface="Consolas" charset="0"/>
                        <a:cs typeface="Consolas"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algn="ctr" indent="0" marL="0">
                        <a:buNone/>
                      </a:pPr>
                      <a:r>
                        <a:rPr lang="en-US" sz="1800" dirty="0">
                          <a:solidFill>
                            <a:srgbClr val="0F172A"/>
                          </a:solidFill>
                          <a:latin typeface="Consolas" pitchFamily="34" charset="0"/>
                          <a:ea typeface="Consolas" pitchFamily="34" charset="-122"/>
                          <a:cs typeface="Consolas" pitchFamily="34" charset="-120"/>
                        </a:rPr>
                        <a:t>3.3 s</a:t>
                      </a:r>
                      <a:endParaRPr lang="en-US" sz="1800" dirty="0">
                        <a:latin typeface="Consolas" charset="0"/>
                        <a:ea typeface="Consolas" charset="0"/>
                        <a:cs typeface="Consolas"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algn="ctr" indent="0" marL="0">
                        <a:buNone/>
                      </a:pPr>
                      <a:r>
                        <a:rPr lang="en-US" sz="1800" b="1" dirty="0">
                          <a:solidFill>
                            <a:srgbClr val="0D9488"/>
                          </a:solidFill>
                          <a:latin typeface="Consolas" pitchFamily="34" charset="0"/>
                          <a:ea typeface="Consolas" pitchFamily="34" charset="-122"/>
                          <a:cs typeface="Consolas" pitchFamily="34" charset="-120"/>
                        </a:rPr>
                        <a:t>3.3 s</a:t>
                      </a:r>
                      <a:endParaRPr lang="en-US" sz="1800" dirty="0">
                        <a:latin typeface="Consolas" charset="0"/>
                        <a:ea typeface="Consolas" charset="0"/>
                        <a:cs typeface="Consolas"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bl>
          </a:graphicData>
        </a:graphic>
      </p:graphicFrame>
      <p:sp>
        <p:nvSpPr>
          <p:cNvPr id="5" name="Shape 2"/>
          <p:cNvSpPr/>
          <p:nvPr/>
        </p:nvSpPr>
        <p:spPr>
          <a:xfrm>
            <a:off x="457200" y="3657600"/>
            <a:ext cx="2606040" cy="868680"/>
          </a:xfrm>
          <a:prstGeom prst="rect">
            <a:avLst/>
          </a:prstGeom>
          <a:solidFill>
            <a:srgbClr val="F8FAFC"/>
          </a:solidFill>
          <a:ln/>
        </p:spPr>
      </p:sp>
      <p:sp>
        <p:nvSpPr>
          <p:cNvPr id="6" name="Shape 3"/>
          <p:cNvSpPr/>
          <p:nvPr/>
        </p:nvSpPr>
        <p:spPr>
          <a:xfrm>
            <a:off x="457200" y="3657600"/>
            <a:ext cx="2606040" cy="54864"/>
          </a:xfrm>
          <a:prstGeom prst="rect">
            <a:avLst/>
          </a:prstGeom>
          <a:solidFill>
            <a:srgbClr val="DC2626"/>
          </a:solidFill>
          <a:ln/>
        </p:spPr>
      </p:sp>
      <p:sp>
        <p:nvSpPr>
          <p:cNvPr id="7" name="Text 4"/>
          <p:cNvSpPr/>
          <p:nvPr/>
        </p:nvSpPr>
        <p:spPr>
          <a:xfrm>
            <a:off x="594360" y="3749040"/>
            <a:ext cx="2331720" cy="32004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Agent tax</a:t>
            </a:r>
            <a:endParaRPr lang="en-US" sz="1100" dirty="0"/>
          </a:p>
        </p:txBody>
      </p:sp>
      <p:sp>
        <p:nvSpPr>
          <p:cNvPr id="8" name="Text 5"/>
          <p:cNvSpPr/>
          <p:nvPr/>
        </p:nvSpPr>
        <p:spPr>
          <a:xfrm>
            <a:off x="594360" y="4023360"/>
            <a:ext cx="2331720" cy="502920"/>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~750 ms — runtime instrumentation cost</a:t>
            </a:r>
            <a:endParaRPr lang="en-US" sz="1300" dirty="0"/>
          </a:p>
        </p:txBody>
      </p:sp>
      <p:sp>
        <p:nvSpPr>
          <p:cNvPr id="9" name="Shape 6"/>
          <p:cNvSpPr/>
          <p:nvPr/>
        </p:nvSpPr>
        <p:spPr>
          <a:xfrm>
            <a:off x="3246120" y="3657600"/>
            <a:ext cx="2606040" cy="868680"/>
          </a:xfrm>
          <a:prstGeom prst="rect">
            <a:avLst/>
          </a:prstGeom>
          <a:solidFill>
            <a:srgbClr val="F8FAFC"/>
          </a:solidFill>
          <a:ln/>
        </p:spPr>
      </p:sp>
      <p:sp>
        <p:nvSpPr>
          <p:cNvPr id="10" name="Shape 7"/>
          <p:cNvSpPr/>
          <p:nvPr/>
        </p:nvSpPr>
        <p:spPr>
          <a:xfrm>
            <a:off x="3246120" y="3657600"/>
            <a:ext cx="2606040" cy="54864"/>
          </a:xfrm>
          <a:prstGeom prst="rect">
            <a:avLst/>
          </a:prstGeom>
          <a:solidFill>
            <a:srgbClr val="EAB308"/>
          </a:solidFill>
          <a:ln/>
        </p:spPr>
      </p:sp>
      <p:sp>
        <p:nvSpPr>
          <p:cNvPr id="11" name="Text 8"/>
          <p:cNvSpPr/>
          <p:nvPr/>
        </p:nvSpPr>
        <p:spPr>
          <a:xfrm>
            <a:off x="3383280" y="3749040"/>
            <a:ext cx="2331720" cy="320040"/>
          </a:xfrm>
          <a:prstGeom prst="rect">
            <a:avLst/>
          </a:prstGeom>
          <a:noFill/>
          <a:ln/>
        </p:spPr>
        <p:txBody>
          <a:bodyPr wrap="square" lIns="0" tIns="0" rIns="0" bIns="0" rtlCol="0" anchor="ctr"/>
          <a:lstStyle/>
          <a:p>
            <a:pPr indent="0" marL="0">
              <a:buNone/>
            </a:pPr>
            <a:r>
              <a:rPr lang="en-US" sz="1100" b="1" dirty="0">
                <a:solidFill>
                  <a:srgbClr val="EAB308"/>
                </a:solidFill>
                <a:latin typeface="Calibri" pitchFamily="34" charset="0"/>
                <a:ea typeface="Calibri" pitchFamily="34" charset="-122"/>
                <a:cs typeface="Calibri" pitchFamily="34" charset="-120"/>
              </a:rPr>
              <a:t>SDK tax</a:t>
            </a:r>
            <a:endParaRPr lang="en-US" sz="1100" dirty="0"/>
          </a:p>
        </p:txBody>
      </p:sp>
      <p:sp>
        <p:nvSpPr>
          <p:cNvPr id="12" name="Text 9"/>
          <p:cNvSpPr/>
          <p:nvPr/>
        </p:nvSpPr>
        <p:spPr>
          <a:xfrm>
            <a:off x="3383280" y="4023360"/>
            <a:ext cx="2331720" cy="502920"/>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~30 ms — basically free</a:t>
            </a:r>
            <a:endParaRPr lang="en-US" sz="1300" dirty="0"/>
          </a:p>
        </p:txBody>
      </p:sp>
      <p:sp>
        <p:nvSpPr>
          <p:cNvPr id="13" name="Shape 10"/>
          <p:cNvSpPr/>
          <p:nvPr/>
        </p:nvSpPr>
        <p:spPr>
          <a:xfrm>
            <a:off x="6035040" y="3657600"/>
            <a:ext cx="2606040" cy="868680"/>
          </a:xfrm>
          <a:prstGeom prst="rect">
            <a:avLst/>
          </a:prstGeom>
          <a:solidFill>
            <a:srgbClr val="F8FAFC"/>
          </a:solidFill>
          <a:ln/>
        </p:spPr>
      </p:sp>
      <p:sp>
        <p:nvSpPr>
          <p:cNvPr id="14" name="Shape 11"/>
          <p:cNvSpPr/>
          <p:nvPr/>
        </p:nvSpPr>
        <p:spPr>
          <a:xfrm>
            <a:off x="6035040" y="3657600"/>
            <a:ext cx="2606040" cy="54864"/>
          </a:xfrm>
          <a:prstGeom prst="rect">
            <a:avLst/>
          </a:prstGeom>
          <a:solidFill>
            <a:srgbClr val="0D9488"/>
          </a:solidFill>
          <a:ln/>
        </p:spPr>
      </p:sp>
      <p:sp>
        <p:nvSpPr>
          <p:cNvPr id="15" name="Text 12"/>
          <p:cNvSpPr/>
          <p:nvPr/>
        </p:nvSpPr>
        <p:spPr>
          <a:xfrm>
            <a:off x="6172200" y="3749040"/>
            <a:ext cx="2331720" cy="32004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AOT savings</a:t>
            </a:r>
            <a:endParaRPr lang="en-US" sz="1100" dirty="0"/>
          </a:p>
        </p:txBody>
      </p:sp>
      <p:sp>
        <p:nvSpPr>
          <p:cNvPr id="16" name="Text 13"/>
          <p:cNvSpPr/>
          <p:nvPr/>
        </p:nvSpPr>
        <p:spPr>
          <a:xfrm>
            <a:off x="6172200" y="4023360"/>
            <a:ext cx="2331720" cy="502920"/>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~700 ms (~18%) regardless of telemetry</a:t>
            </a:r>
            <a:endParaRPr lang="en-US" sz="1300" dirty="0"/>
          </a:p>
        </p:txBody>
      </p:sp>
      <p:sp>
        <p:nvSpPr>
          <p:cNvPr id="17" name="Text 14"/>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18" name="Text 15"/>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indent="0" marL="0">
              <a:buNone/>
            </a:pPr>
            <a:r>
              <a:rPr lang="en-US" sz="2800" b="1" dirty="0">
                <a:solidFill>
                  <a:srgbClr val="0F172A"/>
                </a:solidFill>
                <a:latin typeface="Calibri" pitchFamily="34" charset="0"/>
                <a:ea typeface="Calibri" pitchFamily="34" charset="-122"/>
                <a:cs typeface="Calibri" pitchFamily="34" charset="-120"/>
              </a:rPr>
              <a:t>Same JDK. Same Leyden. Different Framework.</a:t>
            </a:r>
            <a:endParaRPr lang="en-US" sz="2800" dirty="0"/>
          </a:p>
        </p:txBody>
      </p:sp>
      <p:sp>
        <p:nvSpPr>
          <p:cNvPr id="3" name="Text 1"/>
          <p:cNvSpPr/>
          <p:nvPr/>
        </p:nvSpPr>
        <p:spPr>
          <a:xfrm>
            <a:off x="457200" y="914400"/>
            <a:ext cx="8229600" cy="32004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No-telemetry baseline — apples-to-apples cold start</a:t>
            </a:r>
            <a:endParaRPr lang="en-US" sz="1300" dirty="0"/>
          </a:p>
        </p:txBody>
      </p:sp>
      <p:sp>
        <p:nvSpPr>
          <p:cNvPr id="4" name="Shape 2"/>
          <p:cNvSpPr/>
          <p:nvPr/>
        </p:nvSpPr>
        <p:spPr>
          <a:xfrm>
            <a:off x="457200" y="1463040"/>
            <a:ext cx="4023360" cy="457200"/>
          </a:xfrm>
          <a:prstGeom prst="rect">
            <a:avLst/>
          </a:prstGeom>
          <a:solidFill>
            <a:srgbClr val="DC2626"/>
          </a:solidFill>
          <a:ln/>
        </p:spPr>
      </p:sp>
      <p:sp>
        <p:nvSpPr>
          <p:cNvPr id="5" name="Text 3"/>
          <p:cNvSpPr/>
          <p:nvPr/>
        </p:nvSpPr>
        <p:spPr>
          <a:xfrm>
            <a:off x="640080" y="1508760"/>
            <a:ext cx="365760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Spring Boot 4</a:t>
            </a:r>
            <a:endParaRPr lang="en-US" sz="1800" dirty="0"/>
          </a:p>
        </p:txBody>
      </p:sp>
      <p:sp>
        <p:nvSpPr>
          <p:cNvPr id="6" name="Shape 4"/>
          <p:cNvSpPr/>
          <p:nvPr/>
        </p:nvSpPr>
        <p:spPr>
          <a:xfrm>
            <a:off x="457200" y="1920240"/>
            <a:ext cx="4023360" cy="1737360"/>
          </a:xfrm>
          <a:prstGeom prst="rect">
            <a:avLst/>
          </a:prstGeom>
          <a:solidFill>
            <a:srgbClr val="F8FAFC"/>
          </a:solidFill>
          <a:ln/>
        </p:spPr>
      </p:sp>
      <p:sp>
        <p:nvSpPr>
          <p:cNvPr id="7" name="Text 5"/>
          <p:cNvSpPr/>
          <p:nvPr/>
        </p:nvSpPr>
        <p:spPr>
          <a:xfrm>
            <a:off x="640080" y="2057400"/>
            <a:ext cx="3657600" cy="32004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Classic</a:t>
            </a:r>
            <a:endParaRPr lang="en-US" sz="1300" dirty="0"/>
          </a:p>
        </p:txBody>
      </p:sp>
      <p:sp>
        <p:nvSpPr>
          <p:cNvPr id="8" name="Text 6"/>
          <p:cNvSpPr/>
          <p:nvPr/>
        </p:nvSpPr>
        <p:spPr>
          <a:xfrm>
            <a:off x="640080" y="2377440"/>
            <a:ext cx="3657600" cy="457200"/>
          </a:xfrm>
          <a:prstGeom prst="rect">
            <a:avLst/>
          </a:prstGeom>
          <a:noFill/>
          <a:ln/>
        </p:spPr>
        <p:txBody>
          <a:bodyPr wrap="square" lIns="0" tIns="0" rIns="0" bIns="0" rtlCol="0" anchor="ctr"/>
          <a:lstStyle/>
          <a:p>
            <a:pPr indent="0" marL="0">
              <a:buNone/>
            </a:pPr>
            <a:r>
              <a:rPr lang="en-US" sz="2800" b="1" dirty="0">
                <a:solidFill>
                  <a:srgbClr val="0F172A"/>
                </a:solidFill>
                <a:latin typeface="Consolas" pitchFamily="34" charset="0"/>
                <a:ea typeface="Consolas" pitchFamily="34" charset="-122"/>
                <a:cs typeface="Consolas" pitchFamily="34" charset="-120"/>
              </a:rPr>
              <a:t>3954 ms</a:t>
            </a:r>
            <a:endParaRPr lang="en-US" sz="2800" dirty="0"/>
          </a:p>
        </p:txBody>
      </p:sp>
      <p:sp>
        <p:nvSpPr>
          <p:cNvPr id="9" name="Text 7"/>
          <p:cNvSpPr/>
          <p:nvPr/>
        </p:nvSpPr>
        <p:spPr>
          <a:xfrm>
            <a:off x="640080" y="2880360"/>
            <a:ext cx="3657600" cy="32004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 AOT cache</a:t>
            </a:r>
            <a:endParaRPr lang="en-US" sz="1300" dirty="0"/>
          </a:p>
        </p:txBody>
      </p:sp>
      <p:sp>
        <p:nvSpPr>
          <p:cNvPr id="10" name="Text 8"/>
          <p:cNvSpPr/>
          <p:nvPr/>
        </p:nvSpPr>
        <p:spPr>
          <a:xfrm>
            <a:off x="640080" y="3200400"/>
            <a:ext cx="3657600" cy="457200"/>
          </a:xfrm>
          <a:prstGeom prst="rect">
            <a:avLst/>
          </a:prstGeom>
          <a:noFill/>
          <a:ln/>
        </p:spPr>
        <p:txBody>
          <a:bodyPr wrap="square" lIns="0" tIns="0" rIns="0" bIns="0" rtlCol="0" anchor="ctr"/>
          <a:lstStyle/>
          <a:p>
            <a:pPr indent="0" marL="0">
              <a:buNone/>
            </a:pPr>
            <a:r>
              <a:rPr lang="en-US" sz="2800" b="1" dirty="0">
                <a:solidFill>
                  <a:srgbClr val="0D9488"/>
                </a:solidFill>
                <a:latin typeface="Consolas" pitchFamily="34" charset="0"/>
                <a:ea typeface="Consolas" pitchFamily="34" charset="-122"/>
                <a:cs typeface="Consolas" pitchFamily="34" charset="-120"/>
              </a:rPr>
              <a:t>3252 ms</a:t>
            </a:r>
            <a:endParaRPr lang="en-US" sz="2800" dirty="0"/>
          </a:p>
        </p:txBody>
      </p:sp>
      <p:sp>
        <p:nvSpPr>
          <p:cNvPr id="11" name="Shape 9"/>
          <p:cNvSpPr/>
          <p:nvPr/>
        </p:nvSpPr>
        <p:spPr>
          <a:xfrm>
            <a:off x="4663440" y="1463040"/>
            <a:ext cx="4023360" cy="457200"/>
          </a:xfrm>
          <a:prstGeom prst="rect">
            <a:avLst/>
          </a:prstGeom>
          <a:solidFill>
            <a:srgbClr val="4695EB"/>
          </a:solidFill>
          <a:ln/>
        </p:spPr>
      </p:sp>
      <p:sp>
        <p:nvSpPr>
          <p:cNvPr id="12" name="Text 10"/>
          <p:cNvSpPr/>
          <p:nvPr/>
        </p:nvSpPr>
        <p:spPr>
          <a:xfrm>
            <a:off x="4846320" y="1508760"/>
            <a:ext cx="365760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Quarkus 3.33</a:t>
            </a:r>
            <a:endParaRPr lang="en-US" sz="1800" dirty="0"/>
          </a:p>
        </p:txBody>
      </p:sp>
      <p:sp>
        <p:nvSpPr>
          <p:cNvPr id="13" name="Shape 11"/>
          <p:cNvSpPr/>
          <p:nvPr/>
        </p:nvSpPr>
        <p:spPr>
          <a:xfrm>
            <a:off x="4663440" y="1920240"/>
            <a:ext cx="4023360" cy="1737360"/>
          </a:xfrm>
          <a:prstGeom prst="rect">
            <a:avLst/>
          </a:prstGeom>
          <a:solidFill>
            <a:srgbClr val="F8FAFC"/>
          </a:solidFill>
          <a:ln/>
        </p:spPr>
      </p:sp>
      <p:sp>
        <p:nvSpPr>
          <p:cNvPr id="14" name="Text 12"/>
          <p:cNvSpPr/>
          <p:nvPr/>
        </p:nvSpPr>
        <p:spPr>
          <a:xfrm>
            <a:off x="4846320" y="2057400"/>
            <a:ext cx="3657600" cy="32004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Classic</a:t>
            </a:r>
            <a:endParaRPr lang="en-US" sz="1300" dirty="0"/>
          </a:p>
        </p:txBody>
      </p:sp>
      <p:sp>
        <p:nvSpPr>
          <p:cNvPr id="15" name="Text 13"/>
          <p:cNvSpPr/>
          <p:nvPr/>
        </p:nvSpPr>
        <p:spPr>
          <a:xfrm>
            <a:off x="4846320" y="2377440"/>
            <a:ext cx="3657600" cy="457200"/>
          </a:xfrm>
          <a:prstGeom prst="rect">
            <a:avLst/>
          </a:prstGeom>
          <a:noFill/>
          <a:ln/>
        </p:spPr>
        <p:txBody>
          <a:bodyPr wrap="square" lIns="0" tIns="0" rIns="0" bIns="0" rtlCol="0" anchor="ctr"/>
          <a:lstStyle/>
          <a:p>
            <a:pPr indent="0" marL="0">
              <a:buNone/>
            </a:pPr>
            <a:r>
              <a:rPr lang="en-US" sz="2800" b="1" dirty="0">
                <a:solidFill>
                  <a:srgbClr val="0F172A"/>
                </a:solidFill>
                <a:latin typeface="Consolas" pitchFamily="34" charset="0"/>
                <a:ea typeface="Consolas" pitchFamily="34" charset="-122"/>
                <a:cs typeface="Consolas" pitchFamily="34" charset="-120"/>
              </a:rPr>
              <a:t>787 ms</a:t>
            </a:r>
            <a:endParaRPr lang="en-US" sz="2800" dirty="0"/>
          </a:p>
        </p:txBody>
      </p:sp>
      <p:sp>
        <p:nvSpPr>
          <p:cNvPr id="16" name="Text 14"/>
          <p:cNvSpPr/>
          <p:nvPr/>
        </p:nvSpPr>
        <p:spPr>
          <a:xfrm>
            <a:off x="4846320" y="2880360"/>
            <a:ext cx="3657600" cy="320040"/>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 Leyden AOT</a:t>
            </a:r>
            <a:endParaRPr lang="en-US" sz="1300" dirty="0"/>
          </a:p>
        </p:txBody>
      </p:sp>
      <p:sp>
        <p:nvSpPr>
          <p:cNvPr id="17" name="Text 15"/>
          <p:cNvSpPr/>
          <p:nvPr/>
        </p:nvSpPr>
        <p:spPr>
          <a:xfrm>
            <a:off x="4846320" y="3200400"/>
            <a:ext cx="3657600" cy="457200"/>
          </a:xfrm>
          <a:prstGeom prst="rect">
            <a:avLst/>
          </a:prstGeom>
          <a:noFill/>
          <a:ln/>
        </p:spPr>
        <p:txBody>
          <a:bodyPr wrap="square" lIns="0" tIns="0" rIns="0" bIns="0" rtlCol="0" anchor="ctr"/>
          <a:lstStyle/>
          <a:p>
            <a:pPr indent="0" marL="0">
              <a:buNone/>
            </a:pPr>
            <a:r>
              <a:rPr lang="en-US" sz="2800" b="1" dirty="0">
                <a:solidFill>
                  <a:srgbClr val="4695EB"/>
                </a:solidFill>
                <a:latin typeface="Consolas" pitchFamily="34" charset="0"/>
                <a:ea typeface="Consolas" pitchFamily="34" charset="-122"/>
                <a:cs typeface="Consolas" pitchFamily="34" charset="-120"/>
              </a:rPr>
              <a:t>181 ms</a:t>
            </a:r>
            <a:endParaRPr lang="en-US" sz="2800" dirty="0"/>
          </a:p>
        </p:txBody>
      </p:sp>
      <p:sp>
        <p:nvSpPr>
          <p:cNvPr id="18" name="Shape 16"/>
          <p:cNvSpPr/>
          <p:nvPr/>
        </p:nvSpPr>
        <p:spPr>
          <a:xfrm>
            <a:off x="457200" y="3840480"/>
            <a:ext cx="8229600" cy="640080"/>
          </a:xfrm>
          <a:prstGeom prst="rect">
            <a:avLst/>
          </a:prstGeom>
          <a:solidFill>
            <a:srgbClr val="0F172A"/>
          </a:solidFill>
          <a:ln/>
        </p:spPr>
      </p:sp>
      <p:sp>
        <p:nvSpPr>
          <p:cNvPr id="19" name="Text 17"/>
          <p:cNvSpPr/>
          <p:nvPr/>
        </p:nvSpPr>
        <p:spPr>
          <a:xfrm>
            <a:off x="457200" y="3840480"/>
            <a:ext cx="8229600" cy="640080"/>
          </a:xfrm>
          <a:prstGeom prst="rect">
            <a:avLst/>
          </a:prstGeom>
          <a:noFill/>
          <a:ln/>
        </p:spPr>
        <p:txBody>
          <a:bodyPr wrap="square" lIns="0" tIns="0" rIns="0" bIns="0" rtlCol="0" anchor="ctr"/>
          <a:lstStyle/>
          <a:p>
            <a:pPr algn="ctr" indent="0" marL="0">
              <a:buNone/>
            </a:pPr>
            <a:r>
              <a:rPr lang="en-US" sz="1800" b="1" dirty="0">
                <a:solidFill>
                  <a:srgbClr val="14B8A6"/>
                </a:solidFill>
                <a:latin typeface="Calibri" pitchFamily="34" charset="0"/>
                <a:ea typeface="Calibri" pitchFamily="34" charset="-122"/>
                <a:cs typeface="Calibri" pitchFamily="34" charset="-120"/>
              </a:rPr>
              <a:t>Spring Boot saves ~18% with AOT.   Quarkus saves ~77%.   Same flag. Same JDK.</a:t>
            </a:r>
            <a:endParaRPr lang="en-US" sz="1800" dirty="0"/>
          </a:p>
        </p:txBody>
      </p:sp>
      <p:sp>
        <p:nvSpPr>
          <p:cNvPr id="20" name="Text 18"/>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21" name="Text 19"/>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1371600"/>
            <a:ext cx="8229600" cy="1097280"/>
          </a:xfrm>
          <a:prstGeom prst="rect">
            <a:avLst/>
          </a:prstGeom>
          <a:noFill/>
          <a:ln/>
        </p:spPr>
        <p:txBody>
          <a:bodyPr wrap="square" lIns="0" tIns="0" rIns="0" bIns="0" rtlCol="0" anchor="ctr"/>
          <a:lstStyle/>
          <a:p>
            <a:pPr algn="ctr" indent="0" marL="0">
              <a:buNone/>
            </a:pPr>
            <a:r>
              <a:rPr lang="en-US" sz="3600" b="1" dirty="0">
                <a:solidFill>
                  <a:srgbClr val="F8FAFC"/>
                </a:solidFill>
                <a:latin typeface="Calibri" pitchFamily="34" charset="0"/>
                <a:ea typeface="Calibri" pitchFamily="34" charset="-122"/>
                <a:cs typeface="Calibri" pitchFamily="34" charset="-120"/>
              </a:rPr>
              <a:t>The agent tax doesn't amortize on cold scale.</a:t>
            </a:r>
            <a:endParaRPr lang="en-US" sz="3600" dirty="0"/>
          </a:p>
        </p:txBody>
      </p:sp>
      <p:sp>
        <p:nvSpPr>
          <p:cNvPr id="3" name="Text 1"/>
          <p:cNvSpPr/>
          <p:nvPr/>
        </p:nvSpPr>
        <p:spPr>
          <a:xfrm>
            <a:off x="457200" y="2926080"/>
            <a:ext cx="8229600" cy="1371600"/>
          </a:xfrm>
          <a:prstGeom prst="rect">
            <a:avLst/>
          </a:prstGeom>
          <a:noFill/>
          <a:ln/>
        </p:spPr>
        <p:txBody>
          <a:bodyPr wrap="square" lIns="0" tIns="0" rIns="0" bIns="0" rtlCol="0" anchor="ctr"/>
          <a:lstStyle/>
          <a:p>
            <a:pPr algn="ctr" indent="0" marL="0">
              <a:buNone/>
            </a:pPr>
            <a:r>
              <a:rPr lang="en-US" sz="1800" i="1" dirty="0">
                <a:solidFill>
                  <a:srgbClr val="64748B"/>
                </a:solidFill>
                <a:latin typeface="Calibri" pitchFamily="34" charset="0"/>
                <a:ea typeface="Calibri" pitchFamily="34" charset="-122"/>
                <a:cs typeface="Calibri" pitchFamily="34" charset="-120"/>
              </a:rPr>
              <a:t>Long-running services? </a:t>
            </a:r>
            <a:pPr algn="ctr" indent="0" marL="0">
              <a:buNone/>
            </a:pPr>
            <a:r>
              <a:rPr lang="en-US" sz="1800" i="1" dirty="0">
                <a:solidFill>
                  <a:srgbClr val="F8FAFC"/>
                </a:solidFill>
                <a:latin typeface="Calibri" pitchFamily="34" charset="0"/>
                <a:ea typeface="Calibri" pitchFamily="34" charset="-122"/>
                <a:cs typeface="Calibri" pitchFamily="34" charset="-120"/>
              </a:rPr>
              <a:t>Agent tax disappears in 5 minutes. Use the agent.</a:t>
            </a:r>
            <a:endParaRPr lang="en-US" sz="1800" dirty="0"/>
          </a:p>
          <a:p>
            <a:pPr algn="ctr" indent="0" marL="0">
              <a:buNone/>
            </a:pPr>
            <a:r>
              <a:rPr lang="en-US" sz="1800" i="1" dirty="0">
                <a:solidFill>
                  <a:srgbClr val="000000"/>
                </a:solidFill>
                <a:latin typeface="Calibri" pitchFamily="34" charset="0"/>
                <a:ea typeface="Calibri" pitchFamily="34" charset="-122"/>
                <a:cs typeface="Calibri" pitchFamily="34" charset="-120"/>
              </a:rPr>
              <a:t> </a:t>
            </a:r>
            <a:endParaRPr lang="en-US" sz="1800" dirty="0"/>
          </a:p>
          <a:p>
            <a:pPr algn="ctr" indent="0" marL="0">
              <a:buNone/>
            </a:pPr>
            <a:r>
              <a:rPr lang="en-US" sz="1800" i="1" dirty="0">
                <a:solidFill>
                  <a:srgbClr val="64748B"/>
                </a:solidFill>
                <a:latin typeface="Calibri" pitchFamily="34" charset="0"/>
                <a:ea typeface="Calibri" pitchFamily="34" charset="-122"/>
                <a:cs typeface="Calibri" pitchFamily="34" charset="-120"/>
              </a:rPr>
              <a:t>Serverless / scale-from-zero? </a:t>
            </a:r>
            <a:pPr algn="ctr" indent="0" marL="0">
              <a:buNone/>
            </a:pPr>
            <a:r>
              <a:rPr lang="en-US" sz="1800" i="1" dirty="0">
                <a:solidFill>
                  <a:srgbClr val="14B8A6"/>
                </a:solidFill>
                <a:latin typeface="Calibri" pitchFamily="34" charset="0"/>
                <a:ea typeface="Calibri" pitchFamily="34" charset="-122"/>
                <a:cs typeface="Calibri" pitchFamily="34" charset="-120"/>
              </a:rPr>
              <a:t>750ms is your entire startup budget. Use the SDK starter.</a:t>
            </a:r>
            <a:endParaRPr lang="en-US" sz="1800" dirty="0"/>
          </a:p>
        </p:txBody>
      </p:sp>
      <p:sp>
        <p:nvSpPr>
          <p:cNvPr id="4" name="Text 2"/>
          <p:cNvSpPr/>
          <p:nvPr/>
        </p:nvSpPr>
        <p:spPr>
          <a:xfrm>
            <a:off x="457200" y="4297680"/>
            <a:ext cx="8229600" cy="365760"/>
          </a:xfrm>
          <a:prstGeom prst="rect">
            <a:avLst/>
          </a:prstGeom>
          <a:noFill/>
          <a:ln/>
        </p:spPr>
        <p:txBody>
          <a:bodyPr wrap="square" lIns="0" tIns="0" rIns="0" bIns="0" rtlCol="0" anchor="ctr"/>
          <a:lstStyle/>
          <a:p>
            <a:pPr algn="ctr" indent="0" marL="0">
              <a:buNone/>
            </a:pPr>
            <a:r>
              <a:rPr lang="en-US" sz="1400" i="1" dirty="0">
                <a:solidFill>
                  <a:srgbClr val="0D9488"/>
                </a:solidFill>
                <a:latin typeface="Calibri" pitchFamily="34" charset="0"/>
                <a:ea typeface="Calibri" pitchFamily="34" charset="-122"/>
                <a:cs typeface="Calibri" pitchFamily="34" charset="-120"/>
              </a:rPr>
              <a:t>Match your telemetry to your workload's startup sensitivity.</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indent="0" marL="0">
              <a:buNone/>
            </a:pPr>
            <a:r>
              <a:rPr lang="en-US" sz="3600" b="1" dirty="0">
                <a:solidFill>
                  <a:srgbClr val="0F172A"/>
                </a:solidFill>
                <a:latin typeface="Calibri" pitchFamily="34" charset="0"/>
                <a:ea typeface="Calibri" pitchFamily="34" charset="-122"/>
                <a:cs typeface="Calibri" pitchFamily="34" charset="-120"/>
              </a:rPr>
              <a:t>Three Things to Take Home</a:t>
            </a:r>
            <a:endParaRPr lang="en-US" sz="3600" dirty="0"/>
          </a:p>
        </p:txBody>
      </p:sp>
      <p:sp>
        <p:nvSpPr>
          <p:cNvPr id="3" name="Shape 1"/>
          <p:cNvSpPr/>
          <p:nvPr/>
        </p:nvSpPr>
        <p:spPr>
          <a:xfrm>
            <a:off x="457200" y="1325880"/>
            <a:ext cx="731520" cy="731520"/>
          </a:xfrm>
          <a:prstGeom prst="ellipse">
            <a:avLst/>
          </a:prstGeom>
          <a:solidFill>
            <a:srgbClr val="8B5CF6"/>
          </a:solidFill>
          <a:ln/>
        </p:spPr>
      </p:sp>
      <p:sp>
        <p:nvSpPr>
          <p:cNvPr id="4" name="Text 2"/>
          <p:cNvSpPr/>
          <p:nvPr/>
        </p:nvSpPr>
        <p:spPr>
          <a:xfrm>
            <a:off x="457200" y="1325880"/>
            <a:ext cx="731520" cy="731520"/>
          </a:xfrm>
          <a:prstGeom prst="rect">
            <a:avLst/>
          </a:prstGeom>
          <a:noFill/>
          <a:ln/>
        </p:spPr>
        <p:txBody>
          <a:bodyPr wrap="square" lIns="0" tIns="0" rIns="0" bIns="0"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1</a:t>
            </a:r>
            <a:endParaRPr lang="en-US" sz="3200" dirty="0"/>
          </a:p>
        </p:txBody>
      </p:sp>
      <p:sp>
        <p:nvSpPr>
          <p:cNvPr id="5" name="Text 3"/>
          <p:cNvSpPr/>
          <p:nvPr/>
        </p:nvSpPr>
        <p:spPr>
          <a:xfrm>
            <a:off x="1371600" y="1234440"/>
            <a:ext cx="7040880" cy="41148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Correlation is a feature, not a query.</a:t>
            </a:r>
            <a:endParaRPr lang="en-US" sz="1800" dirty="0"/>
          </a:p>
        </p:txBody>
      </p:sp>
      <p:sp>
        <p:nvSpPr>
          <p:cNvPr id="6" name="Text 4"/>
          <p:cNvSpPr/>
          <p:nvPr/>
        </p:nvSpPr>
        <p:spPr>
          <a:xfrm>
            <a:off x="1371600" y="1645920"/>
            <a:ext cx="7040880" cy="59436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Build trace_id propagation into your platform. Across signals, across services, across processes. Without it, every observability question becomes archaeology.</a:t>
            </a:r>
            <a:endParaRPr lang="en-US" sz="1200" dirty="0"/>
          </a:p>
        </p:txBody>
      </p:sp>
      <p:sp>
        <p:nvSpPr>
          <p:cNvPr id="7" name="Shape 5"/>
          <p:cNvSpPr/>
          <p:nvPr/>
        </p:nvSpPr>
        <p:spPr>
          <a:xfrm>
            <a:off x="457200" y="2514600"/>
            <a:ext cx="731520" cy="731520"/>
          </a:xfrm>
          <a:prstGeom prst="ellipse">
            <a:avLst/>
          </a:prstGeom>
          <a:solidFill>
            <a:srgbClr val="F59E0B"/>
          </a:solidFill>
          <a:ln/>
        </p:spPr>
      </p:sp>
      <p:sp>
        <p:nvSpPr>
          <p:cNvPr id="8" name="Text 6"/>
          <p:cNvSpPr/>
          <p:nvPr/>
        </p:nvSpPr>
        <p:spPr>
          <a:xfrm>
            <a:off x="457200" y="2514600"/>
            <a:ext cx="731520" cy="731520"/>
          </a:xfrm>
          <a:prstGeom prst="rect">
            <a:avLst/>
          </a:prstGeom>
          <a:noFill/>
          <a:ln/>
        </p:spPr>
        <p:txBody>
          <a:bodyPr wrap="square" lIns="0" tIns="0" rIns="0" bIns="0"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2</a:t>
            </a:r>
            <a:endParaRPr lang="en-US" sz="3200" dirty="0"/>
          </a:p>
        </p:txBody>
      </p:sp>
      <p:sp>
        <p:nvSpPr>
          <p:cNvPr id="9" name="Text 7"/>
          <p:cNvSpPr/>
          <p:nvPr/>
        </p:nvSpPr>
        <p:spPr>
          <a:xfrm>
            <a:off x="1371600" y="2423160"/>
            <a:ext cx="7040880" cy="41148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Cardinality is an ops cost. Budget it.</a:t>
            </a:r>
            <a:endParaRPr lang="en-US" sz="1800" dirty="0"/>
          </a:p>
        </p:txBody>
      </p:sp>
      <p:sp>
        <p:nvSpPr>
          <p:cNvPr id="10" name="Text 8"/>
          <p:cNvSpPr/>
          <p:nvPr/>
        </p:nvSpPr>
        <p:spPr>
          <a:xfrm>
            <a:off x="1371600" y="2834640"/>
            <a:ext cx="7040880" cy="59436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User IDs go in traces. Latency goes in histograms. Continuous values get bucketed. The Collector is where you enforce the budget at the edge — not the TSDB at 3am.</a:t>
            </a:r>
            <a:endParaRPr lang="en-US" sz="1200" dirty="0"/>
          </a:p>
        </p:txBody>
      </p:sp>
      <p:sp>
        <p:nvSpPr>
          <p:cNvPr id="11" name="Shape 9"/>
          <p:cNvSpPr/>
          <p:nvPr/>
        </p:nvSpPr>
        <p:spPr>
          <a:xfrm>
            <a:off x="457200" y="3703320"/>
            <a:ext cx="731520" cy="731520"/>
          </a:xfrm>
          <a:prstGeom prst="ellipse">
            <a:avLst/>
          </a:prstGeom>
          <a:solidFill>
            <a:srgbClr val="DC2626"/>
          </a:solidFill>
          <a:ln/>
        </p:spPr>
      </p:sp>
      <p:sp>
        <p:nvSpPr>
          <p:cNvPr id="12" name="Text 10"/>
          <p:cNvSpPr/>
          <p:nvPr/>
        </p:nvSpPr>
        <p:spPr>
          <a:xfrm>
            <a:off x="457200" y="3703320"/>
            <a:ext cx="731520" cy="731520"/>
          </a:xfrm>
          <a:prstGeom prst="rect">
            <a:avLst/>
          </a:prstGeom>
          <a:noFill/>
          <a:ln/>
        </p:spPr>
        <p:txBody>
          <a:bodyPr wrap="square" lIns="0" tIns="0" rIns="0" bIns="0"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3</a:t>
            </a:r>
            <a:endParaRPr lang="en-US" sz="3200" dirty="0"/>
          </a:p>
        </p:txBody>
      </p:sp>
      <p:sp>
        <p:nvSpPr>
          <p:cNvPr id="13" name="Text 11"/>
          <p:cNvSpPr/>
          <p:nvPr/>
        </p:nvSpPr>
        <p:spPr>
          <a:xfrm>
            <a:off x="1371600" y="3611880"/>
            <a:ext cx="7040880" cy="41148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Match telemetry to workload sensitivity.</a:t>
            </a:r>
            <a:endParaRPr lang="en-US" sz="1800" dirty="0"/>
          </a:p>
        </p:txBody>
      </p:sp>
      <p:sp>
        <p:nvSpPr>
          <p:cNvPr id="14" name="Text 12"/>
          <p:cNvSpPr/>
          <p:nvPr/>
        </p:nvSpPr>
        <p:spPr>
          <a:xfrm>
            <a:off x="1371600" y="4023360"/>
            <a:ext cx="7040880" cy="59436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OTel agent for long-running services where the 750ms tax amortizes. SDK starter for cold-scale and serverless. Framework choice matters more than vendor.</a:t>
            </a:r>
            <a:endParaRPr lang="en-US" sz="1200" dirty="0"/>
          </a:p>
        </p:txBody>
      </p:sp>
      <p:sp>
        <p:nvSpPr>
          <p:cNvPr id="15" name="Text 13"/>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16" name="Text 14"/>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indent="0" marL="0">
              <a:buNone/>
            </a:pPr>
            <a:r>
              <a:rPr lang="en-US" sz="3600" b="1" dirty="0">
                <a:solidFill>
                  <a:srgbClr val="0F172A"/>
                </a:solidFill>
                <a:latin typeface="Calibri" pitchFamily="34" charset="0"/>
                <a:ea typeface="Calibri" pitchFamily="34" charset="-122"/>
                <a:cs typeface="Calibri" pitchFamily="34" charset="-120"/>
              </a:rPr>
              <a:t>Resources &amp; References</a:t>
            </a:r>
            <a:endParaRPr lang="en-US" sz="3600" dirty="0"/>
          </a:p>
        </p:txBody>
      </p:sp>
      <p:sp>
        <p:nvSpPr>
          <p:cNvPr id="3" name="Text 1"/>
          <p:cNvSpPr/>
          <p:nvPr/>
        </p:nvSpPr>
        <p:spPr>
          <a:xfrm>
            <a:off x="640080" y="1280160"/>
            <a:ext cx="3200400" cy="50292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This talk's code</a:t>
            </a:r>
            <a:endParaRPr lang="en-US" sz="1500" dirty="0"/>
          </a:p>
        </p:txBody>
      </p:sp>
      <p:sp>
        <p:nvSpPr>
          <p:cNvPr id="4" name="Text 2"/>
          <p:cNvSpPr/>
          <p:nvPr/>
        </p:nvSpPr>
        <p:spPr>
          <a:xfrm>
            <a:off x="3931920" y="1280160"/>
            <a:ext cx="4572000" cy="502920"/>
          </a:xfrm>
          <a:prstGeom prst="rect">
            <a:avLst/>
          </a:prstGeom>
          <a:noFill/>
          <a:ln/>
        </p:spPr>
        <p:txBody>
          <a:bodyPr wrap="square" lIns="0" tIns="0" rIns="0" bIns="0" rtlCol="0" anchor="ctr"/>
          <a:lstStyle/>
          <a:p>
            <a:pPr indent="0" marL="0">
              <a:buNone/>
            </a:pPr>
            <a:r>
              <a:rPr lang="en-US" sz="1300" dirty="0">
                <a:solidFill>
                  <a:srgbClr val="0D9488"/>
                </a:solidFill>
                <a:latin typeface="Consolas" pitchFamily="34" charset="0"/>
                <a:ea typeface="Consolas" pitchFamily="34" charset="-122"/>
                <a:cs typeface="Consolas" pitchFamily="34" charset="-120"/>
              </a:rPr>
              <a:t>github.com/patterncatalyst/otel-observability-demos</a:t>
            </a:r>
            <a:endParaRPr lang="en-US" sz="1300" dirty="0"/>
          </a:p>
        </p:txBody>
      </p:sp>
      <p:sp>
        <p:nvSpPr>
          <p:cNvPr id="5" name="Text 3"/>
          <p:cNvSpPr/>
          <p:nvPr/>
        </p:nvSpPr>
        <p:spPr>
          <a:xfrm>
            <a:off x="640080" y="1828800"/>
            <a:ext cx="3200400" cy="50292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OpenTelemetry</a:t>
            </a:r>
            <a:endParaRPr lang="en-US" sz="1500" dirty="0"/>
          </a:p>
        </p:txBody>
      </p:sp>
      <p:sp>
        <p:nvSpPr>
          <p:cNvPr id="6" name="Text 4"/>
          <p:cNvSpPr/>
          <p:nvPr/>
        </p:nvSpPr>
        <p:spPr>
          <a:xfrm>
            <a:off x="3931920" y="1828800"/>
            <a:ext cx="4572000" cy="502920"/>
          </a:xfrm>
          <a:prstGeom prst="rect">
            <a:avLst/>
          </a:prstGeom>
          <a:noFill/>
          <a:ln/>
        </p:spPr>
        <p:txBody>
          <a:bodyPr wrap="square" lIns="0" tIns="0" rIns="0" bIns="0" rtlCol="0" anchor="ctr"/>
          <a:lstStyle/>
          <a:p>
            <a:pPr indent="0" marL="0">
              <a:buNone/>
            </a:pPr>
            <a:r>
              <a:rPr lang="en-US" sz="1300" dirty="0">
                <a:solidFill>
                  <a:srgbClr val="0D9488"/>
                </a:solidFill>
                <a:latin typeface="Consolas" pitchFamily="34" charset="0"/>
                <a:ea typeface="Consolas" pitchFamily="34" charset="-122"/>
                <a:cs typeface="Consolas" pitchFamily="34" charset="-120"/>
              </a:rPr>
              <a:t>opentelemetry.io</a:t>
            </a:r>
            <a:endParaRPr lang="en-US" sz="1300" dirty="0"/>
          </a:p>
        </p:txBody>
      </p:sp>
      <p:sp>
        <p:nvSpPr>
          <p:cNvPr id="7" name="Text 5"/>
          <p:cNvSpPr/>
          <p:nvPr/>
        </p:nvSpPr>
        <p:spPr>
          <a:xfrm>
            <a:off x="640080" y="2377440"/>
            <a:ext cx="3200400" cy="50292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Spring Boot 4 OTel</a:t>
            </a:r>
            <a:endParaRPr lang="en-US" sz="1500" dirty="0"/>
          </a:p>
        </p:txBody>
      </p:sp>
      <p:sp>
        <p:nvSpPr>
          <p:cNvPr id="8" name="Text 6"/>
          <p:cNvSpPr/>
          <p:nvPr/>
        </p:nvSpPr>
        <p:spPr>
          <a:xfrm>
            <a:off x="3931920" y="2377440"/>
            <a:ext cx="4572000" cy="502920"/>
          </a:xfrm>
          <a:prstGeom prst="rect">
            <a:avLst/>
          </a:prstGeom>
          <a:noFill/>
          <a:ln/>
        </p:spPr>
        <p:txBody>
          <a:bodyPr wrap="square" lIns="0" tIns="0" rIns="0" bIns="0" rtlCol="0" anchor="ctr"/>
          <a:lstStyle/>
          <a:p>
            <a:pPr indent="0" marL="0">
              <a:buNone/>
            </a:pPr>
            <a:r>
              <a:rPr lang="en-US" sz="1300" dirty="0">
                <a:solidFill>
                  <a:srgbClr val="0D9488"/>
                </a:solidFill>
                <a:latin typeface="Consolas" pitchFamily="34" charset="0"/>
                <a:ea typeface="Consolas" pitchFamily="34" charset="-122"/>
                <a:cs typeface="Consolas" pitchFamily="34" charset="-120"/>
              </a:rPr>
              <a:t>spring.io/blog/2025/11/18/opentelemetry-with-spring-boot</a:t>
            </a:r>
            <a:endParaRPr lang="en-US" sz="1300" dirty="0"/>
          </a:p>
        </p:txBody>
      </p:sp>
      <p:sp>
        <p:nvSpPr>
          <p:cNvPr id="9" name="Text 7"/>
          <p:cNvSpPr/>
          <p:nvPr/>
        </p:nvSpPr>
        <p:spPr>
          <a:xfrm>
            <a:off x="640080" y="2926080"/>
            <a:ext cx="3200400" cy="50292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Project Leyden</a:t>
            </a:r>
            <a:endParaRPr lang="en-US" sz="1500" dirty="0"/>
          </a:p>
        </p:txBody>
      </p:sp>
      <p:sp>
        <p:nvSpPr>
          <p:cNvPr id="10" name="Text 8"/>
          <p:cNvSpPr/>
          <p:nvPr/>
        </p:nvSpPr>
        <p:spPr>
          <a:xfrm>
            <a:off x="3931920" y="2926080"/>
            <a:ext cx="4572000" cy="502920"/>
          </a:xfrm>
          <a:prstGeom prst="rect">
            <a:avLst/>
          </a:prstGeom>
          <a:noFill/>
          <a:ln/>
        </p:spPr>
        <p:txBody>
          <a:bodyPr wrap="square" lIns="0" tIns="0" rIns="0" bIns="0" rtlCol="0" anchor="ctr"/>
          <a:lstStyle/>
          <a:p>
            <a:pPr indent="0" marL="0">
              <a:buNone/>
            </a:pPr>
            <a:r>
              <a:rPr lang="en-US" sz="1300" dirty="0">
                <a:solidFill>
                  <a:srgbClr val="0D9488"/>
                </a:solidFill>
                <a:latin typeface="Consolas" pitchFamily="34" charset="0"/>
                <a:ea typeface="Consolas" pitchFamily="34" charset="-122"/>
                <a:cs typeface="Consolas" pitchFamily="34" charset="-120"/>
              </a:rPr>
              <a:t>openjdk.org/projects/leyden</a:t>
            </a:r>
            <a:endParaRPr lang="en-US" sz="1300" dirty="0"/>
          </a:p>
        </p:txBody>
      </p:sp>
      <p:sp>
        <p:nvSpPr>
          <p:cNvPr id="11" name="Text 9"/>
          <p:cNvSpPr/>
          <p:nvPr/>
        </p:nvSpPr>
        <p:spPr>
          <a:xfrm>
            <a:off x="640080" y="3474720"/>
            <a:ext cx="3200400" cy="50292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Grafana LGTM</a:t>
            </a:r>
            <a:endParaRPr lang="en-US" sz="1500" dirty="0"/>
          </a:p>
        </p:txBody>
      </p:sp>
      <p:sp>
        <p:nvSpPr>
          <p:cNvPr id="12" name="Text 10"/>
          <p:cNvSpPr/>
          <p:nvPr/>
        </p:nvSpPr>
        <p:spPr>
          <a:xfrm>
            <a:off x="3931920" y="3474720"/>
            <a:ext cx="4572000" cy="502920"/>
          </a:xfrm>
          <a:prstGeom prst="rect">
            <a:avLst/>
          </a:prstGeom>
          <a:noFill/>
          <a:ln/>
        </p:spPr>
        <p:txBody>
          <a:bodyPr wrap="square" lIns="0" tIns="0" rIns="0" bIns="0" rtlCol="0" anchor="ctr"/>
          <a:lstStyle/>
          <a:p>
            <a:pPr indent="0" marL="0">
              <a:buNone/>
            </a:pPr>
            <a:r>
              <a:rPr lang="en-US" sz="1300" dirty="0">
                <a:solidFill>
                  <a:srgbClr val="0D9488"/>
                </a:solidFill>
                <a:latin typeface="Consolas" pitchFamily="34" charset="0"/>
                <a:ea typeface="Consolas" pitchFamily="34" charset="-122"/>
                <a:cs typeface="Consolas" pitchFamily="34" charset="-120"/>
              </a:rPr>
              <a:t>github.com/grafana/docker-otel-lgtm</a:t>
            </a:r>
            <a:endParaRPr lang="en-US" sz="1300" dirty="0"/>
          </a:p>
        </p:txBody>
      </p:sp>
      <p:sp>
        <p:nvSpPr>
          <p:cNvPr id="13" name="Text 11"/>
          <p:cNvSpPr/>
          <p:nvPr/>
        </p:nvSpPr>
        <p:spPr>
          <a:xfrm>
            <a:off x="640080" y="4023360"/>
            <a:ext cx="3200400" cy="50292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OTel Collector</a:t>
            </a:r>
            <a:endParaRPr lang="en-US" sz="1500" dirty="0"/>
          </a:p>
        </p:txBody>
      </p:sp>
      <p:sp>
        <p:nvSpPr>
          <p:cNvPr id="14" name="Text 12"/>
          <p:cNvSpPr/>
          <p:nvPr/>
        </p:nvSpPr>
        <p:spPr>
          <a:xfrm>
            <a:off x="3931920" y="4023360"/>
            <a:ext cx="4572000" cy="502920"/>
          </a:xfrm>
          <a:prstGeom prst="rect">
            <a:avLst/>
          </a:prstGeom>
          <a:noFill/>
          <a:ln/>
        </p:spPr>
        <p:txBody>
          <a:bodyPr wrap="square" lIns="0" tIns="0" rIns="0" bIns="0" rtlCol="0" anchor="ctr"/>
          <a:lstStyle/>
          <a:p>
            <a:pPr indent="0" marL="0">
              <a:buNone/>
            </a:pPr>
            <a:r>
              <a:rPr lang="en-US" sz="1300" dirty="0">
                <a:solidFill>
                  <a:srgbClr val="0D9488"/>
                </a:solidFill>
                <a:latin typeface="Consolas" pitchFamily="34" charset="0"/>
                <a:ea typeface="Consolas" pitchFamily="34" charset="-122"/>
                <a:cs typeface="Consolas" pitchFamily="34" charset="-120"/>
              </a:rPr>
              <a:t>github.com/open-telemetry/opentelemetry-collector</a:t>
            </a:r>
            <a:endParaRPr lang="en-US" sz="1300" dirty="0"/>
          </a:p>
        </p:txBody>
      </p:sp>
      <p:sp>
        <p:nvSpPr>
          <p:cNvPr id="15" name="Text 13"/>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16" name="Text 14"/>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114800" y="914400"/>
            <a:ext cx="365760" cy="365760"/>
          </a:xfrm>
          <a:prstGeom prst="ellipse">
            <a:avLst/>
          </a:prstGeom>
          <a:solidFill>
            <a:srgbClr val="8B5CF6"/>
          </a:solidFill>
          <a:ln/>
        </p:spPr>
      </p:sp>
      <p:sp>
        <p:nvSpPr>
          <p:cNvPr id="3" name="Shape 1"/>
          <p:cNvSpPr/>
          <p:nvPr/>
        </p:nvSpPr>
        <p:spPr>
          <a:xfrm>
            <a:off x="4572000" y="914400"/>
            <a:ext cx="365760" cy="365760"/>
          </a:xfrm>
          <a:prstGeom prst="ellipse">
            <a:avLst/>
          </a:prstGeom>
          <a:solidFill>
            <a:srgbClr val="F59E0B"/>
          </a:solidFill>
          <a:ln/>
        </p:spPr>
      </p:sp>
      <p:sp>
        <p:nvSpPr>
          <p:cNvPr id="4" name="Shape 2"/>
          <p:cNvSpPr/>
          <p:nvPr/>
        </p:nvSpPr>
        <p:spPr>
          <a:xfrm>
            <a:off x="5029200" y="914400"/>
            <a:ext cx="365760" cy="365760"/>
          </a:xfrm>
          <a:prstGeom prst="ellipse">
            <a:avLst/>
          </a:prstGeom>
          <a:solidFill>
            <a:srgbClr val="06B6D4"/>
          </a:solidFill>
          <a:ln/>
        </p:spPr>
      </p:sp>
      <p:sp>
        <p:nvSpPr>
          <p:cNvPr id="5" name="Text 3"/>
          <p:cNvSpPr/>
          <p:nvPr/>
        </p:nvSpPr>
        <p:spPr>
          <a:xfrm>
            <a:off x="457200" y="1737360"/>
            <a:ext cx="8229600" cy="1097280"/>
          </a:xfrm>
          <a:prstGeom prst="rect">
            <a:avLst/>
          </a:prstGeom>
          <a:noFill/>
          <a:ln/>
        </p:spPr>
        <p:txBody>
          <a:bodyPr wrap="square" lIns="0" tIns="0" rIns="0" bIns="0" rtlCol="0" anchor="ctr"/>
          <a:lstStyle/>
          <a:p>
            <a:pPr algn="ctr" indent="0" marL="0">
              <a:buNone/>
            </a:pPr>
            <a:r>
              <a:rPr lang="en-US" sz="7200" b="1" dirty="0">
                <a:solidFill>
                  <a:srgbClr val="14B8A6"/>
                </a:solidFill>
                <a:latin typeface="Calibri" pitchFamily="34" charset="0"/>
                <a:ea typeface="Calibri" pitchFamily="34" charset="-122"/>
                <a:cs typeface="Calibri" pitchFamily="34" charset="-120"/>
              </a:rPr>
              <a:t>Questions?</a:t>
            </a:r>
            <a:endParaRPr lang="en-US" sz="7200" dirty="0"/>
          </a:p>
        </p:txBody>
      </p:sp>
      <p:sp>
        <p:nvSpPr>
          <p:cNvPr id="6" name="Text 4"/>
          <p:cNvSpPr/>
          <p:nvPr/>
        </p:nvSpPr>
        <p:spPr>
          <a:xfrm>
            <a:off x="457200" y="3017520"/>
            <a:ext cx="8229600" cy="548640"/>
          </a:xfrm>
          <a:prstGeom prst="rect">
            <a:avLst/>
          </a:prstGeom>
          <a:noFill/>
          <a:ln/>
        </p:spPr>
        <p:txBody>
          <a:bodyPr wrap="square" lIns="0" tIns="0" rIns="0" bIns="0" rtlCol="0" anchor="ctr"/>
          <a:lstStyle/>
          <a:p>
            <a:pPr algn="ctr" indent="0" marL="0">
              <a:buNone/>
            </a:pPr>
            <a:r>
              <a:rPr lang="en-US" sz="2800" i="1" dirty="0">
                <a:solidFill>
                  <a:srgbClr val="F8FAFC"/>
                </a:solidFill>
                <a:latin typeface="Calibri" pitchFamily="34" charset="0"/>
                <a:ea typeface="Calibri" pitchFamily="34" charset="-122"/>
                <a:cs typeface="Calibri" pitchFamily="34" charset="-120"/>
              </a:rPr>
              <a:t>Thank you.</a:t>
            </a:r>
            <a:endParaRPr lang="en-US" sz="2800" dirty="0"/>
          </a:p>
        </p:txBody>
      </p:sp>
      <p:sp>
        <p:nvSpPr>
          <p:cNvPr id="7" name="Text 5"/>
          <p:cNvSpPr/>
          <p:nvPr/>
        </p:nvSpPr>
        <p:spPr>
          <a:xfrm>
            <a:off x="457200" y="4206240"/>
            <a:ext cx="8229600" cy="365760"/>
          </a:xfrm>
          <a:prstGeom prst="rect">
            <a:avLst/>
          </a:prstGeom>
          <a:noFill/>
          <a:ln/>
        </p:spPr>
        <p:txBody>
          <a:bodyPr wrap="square" lIns="0" tIns="0" rIns="0" bIns="0" rtlCol="0" anchor="ctr"/>
          <a:lstStyle/>
          <a:p>
            <a:pPr algn="ctr" indent="0" marL="0">
              <a:buNone/>
            </a:pPr>
            <a:r>
              <a:rPr lang="en-US" sz="1400" dirty="0">
                <a:solidFill>
                  <a:srgbClr val="64748B"/>
                </a:solidFill>
                <a:latin typeface="Calibri" pitchFamily="34" charset="0"/>
                <a:ea typeface="Calibri" pitchFamily="34" charset="-122"/>
                <a:cs typeface="Calibri" pitchFamily="34" charset="-120"/>
              </a:rPr>
              <a:t>[Speaker]  ·  [Twitter/X · GitHub · email]</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1188720" cy="548640"/>
          </a:xfrm>
          <a:prstGeom prst="rect">
            <a:avLst/>
          </a:prstGeom>
          <a:solidFill>
            <a:srgbClr val="14B8A6"/>
          </a:solidFill>
          <a:ln/>
        </p:spPr>
      </p:sp>
      <p:sp>
        <p:nvSpPr>
          <p:cNvPr id="3" name="Text 1"/>
          <p:cNvSpPr/>
          <p:nvPr/>
        </p:nvSpPr>
        <p:spPr>
          <a:xfrm>
            <a:off x="457200" y="457200"/>
            <a:ext cx="118872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Bonus</a:t>
            </a:r>
            <a:endParaRPr lang="en-US" sz="1600" dirty="0"/>
          </a:p>
        </p:txBody>
      </p:sp>
      <p:sp>
        <p:nvSpPr>
          <p:cNvPr id="4" name="Text 2"/>
          <p:cNvSpPr/>
          <p:nvPr/>
        </p:nvSpPr>
        <p:spPr>
          <a:xfrm>
            <a:off x="1828800" y="365760"/>
            <a:ext cx="6858000" cy="731520"/>
          </a:xfrm>
          <a:prstGeom prst="rect">
            <a:avLst/>
          </a:prstGeom>
          <a:noFill/>
          <a:ln/>
        </p:spPr>
        <p:txBody>
          <a:bodyPr wrap="square" lIns="0" tIns="0" rIns="0" bIns="0" rtlCol="0" anchor="ctr"/>
          <a:lstStyle/>
          <a:p>
            <a:pPr indent="0" marL="0">
              <a:buNone/>
            </a:pPr>
            <a:r>
              <a:rPr lang="en-US" sz="2600" b="1" dirty="0">
                <a:solidFill>
                  <a:srgbClr val="0F172A"/>
                </a:solidFill>
                <a:latin typeface="Calibri" pitchFamily="34" charset="0"/>
                <a:ea typeface="Calibri" pitchFamily="34" charset="-122"/>
                <a:cs typeface="Calibri" pitchFamily="34" charset="-120"/>
              </a:rPr>
              <a:t>Shenandoah is one flag away on UBI</a:t>
            </a:r>
            <a:endParaRPr lang="en-US" sz="2600" dirty="0"/>
          </a:p>
        </p:txBody>
      </p:sp>
      <p:sp>
        <p:nvSpPr>
          <p:cNvPr id="5" name="Shape 3"/>
          <p:cNvSpPr/>
          <p:nvPr/>
        </p:nvSpPr>
        <p:spPr>
          <a:xfrm>
            <a:off x="457200" y="1371600"/>
            <a:ext cx="4023360" cy="3200400"/>
          </a:xfrm>
          <a:prstGeom prst="rect">
            <a:avLst/>
          </a:prstGeom>
          <a:solidFill>
            <a:srgbClr val="F8FAFC"/>
          </a:solidFill>
          <a:ln/>
        </p:spPr>
      </p:sp>
      <p:sp>
        <p:nvSpPr>
          <p:cNvPr id="6" name="Text 4"/>
          <p:cNvSpPr/>
          <p:nvPr/>
        </p:nvSpPr>
        <p:spPr>
          <a:xfrm>
            <a:off x="640080" y="1508760"/>
            <a:ext cx="3657600" cy="365760"/>
          </a:xfrm>
          <a:prstGeom prst="rect">
            <a:avLst/>
          </a:prstGeom>
          <a:noFill/>
          <a:ln/>
        </p:spPr>
        <p:txBody>
          <a:bodyPr wrap="square" lIns="0" tIns="0" rIns="0" bIns="0" rtlCol="0" anchor="ctr"/>
          <a:lstStyle/>
          <a:p>
            <a:pPr indent="0" marL="0">
              <a:buNone/>
            </a:pPr>
            <a:r>
              <a:rPr lang="en-US" sz="1600" b="1" dirty="0">
                <a:solidFill>
                  <a:srgbClr val="0D9488"/>
                </a:solidFill>
                <a:latin typeface="Calibri" pitchFamily="34" charset="0"/>
                <a:ea typeface="Calibri" pitchFamily="34" charset="-122"/>
                <a:cs typeface="Calibri" pitchFamily="34" charset="-120"/>
              </a:rPr>
              <a:t>The story</a:t>
            </a:r>
            <a:endParaRPr lang="en-US" sz="1600" dirty="0"/>
          </a:p>
        </p:txBody>
      </p:sp>
      <p:sp>
        <p:nvSpPr>
          <p:cNvPr id="7" name="Text 5"/>
          <p:cNvSpPr/>
          <p:nvPr/>
        </p:nvSpPr>
        <p:spPr>
          <a:xfrm>
            <a:off x="640080" y="1920240"/>
            <a:ext cx="3657600" cy="2560320"/>
          </a:xfrm>
          <a:prstGeom prst="rect">
            <a:avLst/>
          </a:prstGeom>
          <a:noFill/>
          <a:ln/>
        </p:spPr>
        <p:txBody>
          <a:bodyPr wrap="square" rtlCol="0" anchor="ctr"/>
          <a:lstStyle/>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Red Hat develops &amp; maintains Shenandoah</a:t>
            </a:r>
            <a:endParaRPr lang="en-US" sz="1300" dirty="0"/>
          </a:p>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Generational since JDK 21</a:t>
            </a:r>
            <a:endParaRPr lang="en-US" sz="1300" dirty="0"/>
          </a:p>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Sub-10ms pauses on multi-GB heaps</a:t>
            </a:r>
            <a:endParaRPr lang="en-US" sz="1300" dirty="0"/>
          </a:p>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Built into UBI9 OpenJDK — already there</a:t>
            </a:r>
            <a:endParaRPr lang="en-US" sz="1300" dirty="0"/>
          </a:p>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JVM ergonomically picks G1 (we verified)</a:t>
            </a:r>
            <a:endParaRPr lang="en-US" sz="1300" dirty="0"/>
          </a:p>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Switch with one JVM flag, no rebuild</a:t>
            </a:r>
            <a:endParaRPr lang="en-US" sz="1300" dirty="0"/>
          </a:p>
        </p:txBody>
      </p:sp>
      <p:sp>
        <p:nvSpPr>
          <p:cNvPr id="8" name="Shape 6"/>
          <p:cNvSpPr/>
          <p:nvPr/>
        </p:nvSpPr>
        <p:spPr>
          <a:xfrm>
            <a:off x="4663440" y="1371600"/>
            <a:ext cx="4023360" cy="3200400"/>
          </a:xfrm>
          <a:prstGeom prst="rect">
            <a:avLst/>
          </a:prstGeom>
          <a:solidFill>
            <a:srgbClr val="0F172A"/>
          </a:solidFill>
          <a:ln/>
        </p:spPr>
      </p:sp>
      <p:sp>
        <p:nvSpPr>
          <p:cNvPr id="9" name="Text 7"/>
          <p:cNvSpPr/>
          <p:nvPr/>
        </p:nvSpPr>
        <p:spPr>
          <a:xfrm>
            <a:off x="4846320" y="1508760"/>
            <a:ext cx="3657600" cy="365760"/>
          </a:xfrm>
          <a:prstGeom prst="rect">
            <a:avLst/>
          </a:prstGeom>
          <a:noFill/>
          <a:ln/>
        </p:spPr>
        <p:txBody>
          <a:bodyPr wrap="square" lIns="0" tIns="0" rIns="0" bIns="0" rtlCol="0" anchor="ctr"/>
          <a:lstStyle/>
          <a:p>
            <a:pPr indent="0" marL="0">
              <a:buNone/>
            </a:pPr>
            <a:r>
              <a:rPr lang="en-US" sz="1600" b="1" dirty="0">
                <a:solidFill>
                  <a:srgbClr val="14B8A6"/>
                </a:solidFill>
                <a:latin typeface="Calibri" pitchFamily="34" charset="0"/>
                <a:ea typeface="Calibri" pitchFamily="34" charset="-122"/>
                <a:cs typeface="Calibri" pitchFamily="34" charset="-120"/>
              </a:rPr>
              <a:t>How</a:t>
            </a:r>
            <a:endParaRPr lang="en-US" sz="1600" dirty="0"/>
          </a:p>
        </p:txBody>
      </p:sp>
      <p:sp>
        <p:nvSpPr>
          <p:cNvPr id="10" name="Text 8"/>
          <p:cNvSpPr/>
          <p:nvPr/>
        </p:nvSpPr>
        <p:spPr>
          <a:xfrm>
            <a:off x="4846320" y="1965960"/>
            <a:ext cx="3657600" cy="274320"/>
          </a:xfrm>
          <a:prstGeom prst="rect">
            <a:avLst/>
          </a:prstGeom>
          <a:noFill/>
          <a:ln/>
        </p:spPr>
        <p:txBody>
          <a:bodyPr wrap="square" lIns="0" tIns="0" rIns="0" bIns="0" rtlCol="0" anchor="ctr"/>
          <a:lstStyle/>
          <a:p>
            <a:pPr indent="0" marL="0">
              <a:buNone/>
            </a:pPr>
            <a:r>
              <a:rPr lang="en-US" sz="1100" dirty="0">
                <a:solidFill>
                  <a:srgbClr val="64748B"/>
                </a:solidFill>
                <a:latin typeface="Consolas" pitchFamily="34" charset="0"/>
                <a:ea typeface="Consolas" pitchFamily="34" charset="-122"/>
                <a:cs typeface="Consolas" pitchFamily="34" charset="-120"/>
              </a:rPr>
              <a:t># Shenandoah</a:t>
            </a:r>
            <a:endParaRPr lang="en-US" sz="1100" dirty="0"/>
          </a:p>
        </p:txBody>
      </p:sp>
      <p:sp>
        <p:nvSpPr>
          <p:cNvPr id="11" name="Text 9"/>
          <p:cNvSpPr/>
          <p:nvPr/>
        </p:nvSpPr>
        <p:spPr>
          <a:xfrm>
            <a:off x="4846320" y="2240280"/>
            <a:ext cx="3657600" cy="365760"/>
          </a:xfrm>
          <a:prstGeom prst="rect">
            <a:avLst/>
          </a:prstGeom>
          <a:noFill/>
          <a:ln/>
        </p:spPr>
        <p:txBody>
          <a:bodyPr wrap="square" lIns="0" tIns="0" rIns="0" bIns="0" rtlCol="0" anchor="ctr"/>
          <a:lstStyle/>
          <a:p>
            <a:pPr indent="0" marL="0">
              <a:buNone/>
            </a:pPr>
            <a:r>
              <a:rPr lang="en-US" sz="1400" dirty="0">
                <a:solidFill>
                  <a:srgbClr val="14B8A6"/>
                </a:solidFill>
                <a:latin typeface="Consolas" pitchFamily="34" charset="0"/>
                <a:ea typeface="Consolas" pitchFamily="34" charset="-122"/>
                <a:cs typeface="Consolas" pitchFamily="34" charset="-120"/>
              </a:rPr>
              <a:t>-XX:+UseShenandoahGC</a:t>
            </a:r>
            <a:endParaRPr lang="en-US" sz="1400" dirty="0"/>
          </a:p>
        </p:txBody>
      </p:sp>
      <p:sp>
        <p:nvSpPr>
          <p:cNvPr id="12" name="Text 10"/>
          <p:cNvSpPr/>
          <p:nvPr/>
        </p:nvSpPr>
        <p:spPr>
          <a:xfrm>
            <a:off x="4846320" y="2788920"/>
            <a:ext cx="3657600" cy="274320"/>
          </a:xfrm>
          <a:prstGeom prst="rect">
            <a:avLst/>
          </a:prstGeom>
          <a:noFill/>
          <a:ln/>
        </p:spPr>
        <p:txBody>
          <a:bodyPr wrap="square" lIns="0" tIns="0" rIns="0" bIns="0" rtlCol="0" anchor="ctr"/>
          <a:lstStyle/>
          <a:p>
            <a:pPr indent="0" marL="0">
              <a:buNone/>
            </a:pPr>
            <a:r>
              <a:rPr lang="en-US" sz="1100" dirty="0">
                <a:solidFill>
                  <a:srgbClr val="64748B"/>
                </a:solidFill>
                <a:latin typeface="Consolas" pitchFamily="34" charset="0"/>
                <a:ea typeface="Consolas" pitchFamily="34" charset="-122"/>
                <a:cs typeface="Consolas" pitchFamily="34" charset="-120"/>
              </a:rPr>
              <a:t># G1 (default)</a:t>
            </a:r>
            <a:endParaRPr lang="en-US" sz="1100" dirty="0"/>
          </a:p>
        </p:txBody>
      </p:sp>
      <p:sp>
        <p:nvSpPr>
          <p:cNvPr id="13" name="Text 11"/>
          <p:cNvSpPr/>
          <p:nvPr/>
        </p:nvSpPr>
        <p:spPr>
          <a:xfrm>
            <a:off x="4846320" y="3063240"/>
            <a:ext cx="3657600" cy="365760"/>
          </a:xfrm>
          <a:prstGeom prst="rect">
            <a:avLst/>
          </a:prstGeom>
          <a:noFill/>
          <a:ln/>
        </p:spPr>
        <p:txBody>
          <a:bodyPr wrap="square" lIns="0" tIns="0" rIns="0" bIns="0" rtlCol="0" anchor="ctr"/>
          <a:lstStyle/>
          <a:p>
            <a:pPr indent="0" marL="0">
              <a:buNone/>
            </a:pPr>
            <a:r>
              <a:rPr lang="en-US" sz="1400" dirty="0">
                <a:solidFill>
                  <a:srgbClr val="F8FAFC"/>
                </a:solidFill>
                <a:latin typeface="Consolas" pitchFamily="34" charset="0"/>
                <a:ea typeface="Consolas" pitchFamily="34" charset="-122"/>
                <a:cs typeface="Consolas" pitchFamily="34" charset="-120"/>
              </a:rPr>
              <a:t>-XX:+UseG1GC</a:t>
            </a:r>
            <a:endParaRPr lang="en-US" sz="1400" dirty="0"/>
          </a:p>
        </p:txBody>
      </p:sp>
      <p:sp>
        <p:nvSpPr>
          <p:cNvPr id="14" name="Text 12"/>
          <p:cNvSpPr/>
          <p:nvPr/>
        </p:nvSpPr>
        <p:spPr>
          <a:xfrm>
            <a:off x="4846320" y="3611880"/>
            <a:ext cx="3657600" cy="274320"/>
          </a:xfrm>
          <a:prstGeom prst="rect">
            <a:avLst/>
          </a:prstGeom>
          <a:noFill/>
          <a:ln/>
        </p:spPr>
        <p:txBody>
          <a:bodyPr wrap="square" lIns="0" tIns="0" rIns="0" bIns="0" rtlCol="0" anchor="ctr"/>
          <a:lstStyle/>
          <a:p>
            <a:pPr indent="0" marL="0">
              <a:buNone/>
            </a:pPr>
            <a:r>
              <a:rPr lang="en-US" sz="1100" dirty="0">
                <a:solidFill>
                  <a:srgbClr val="64748B"/>
                </a:solidFill>
                <a:latin typeface="Consolas" pitchFamily="34" charset="0"/>
                <a:ea typeface="Consolas" pitchFamily="34" charset="-122"/>
                <a:cs typeface="Consolas" pitchFamily="34" charset="-120"/>
              </a:rPr>
              <a:t># ZGC (low-pause alt)</a:t>
            </a:r>
            <a:endParaRPr lang="en-US" sz="1100" dirty="0"/>
          </a:p>
        </p:txBody>
      </p:sp>
      <p:sp>
        <p:nvSpPr>
          <p:cNvPr id="15" name="Text 13"/>
          <p:cNvSpPr/>
          <p:nvPr/>
        </p:nvSpPr>
        <p:spPr>
          <a:xfrm>
            <a:off x="4846320" y="3886200"/>
            <a:ext cx="3657600" cy="365760"/>
          </a:xfrm>
          <a:prstGeom prst="rect">
            <a:avLst/>
          </a:prstGeom>
          <a:noFill/>
          <a:ln/>
        </p:spPr>
        <p:txBody>
          <a:bodyPr wrap="square" lIns="0" tIns="0" rIns="0" bIns="0" rtlCol="0" anchor="ctr"/>
          <a:lstStyle/>
          <a:p>
            <a:pPr indent="0" marL="0">
              <a:buNone/>
            </a:pPr>
            <a:r>
              <a:rPr lang="en-US" sz="1400" dirty="0">
                <a:solidFill>
                  <a:srgbClr val="F8FAFC"/>
                </a:solidFill>
                <a:latin typeface="Consolas" pitchFamily="34" charset="0"/>
                <a:ea typeface="Consolas" pitchFamily="34" charset="-122"/>
                <a:cs typeface="Consolas" pitchFamily="34" charset="-120"/>
              </a:rPr>
              <a:t>-XX:+UseZGC</a:t>
            </a:r>
            <a:endParaRPr lang="en-US" sz="1400" dirty="0"/>
          </a:p>
        </p:txBody>
      </p:sp>
      <p:sp>
        <p:nvSpPr>
          <p:cNvPr id="16" name="Text 14"/>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17" name="Text 15"/>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1188720" cy="548640"/>
          </a:xfrm>
          <a:prstGeom prst="rect">
            <a:avLst/>
          </a:prstGeom>
          <a:solidFill>
            <a:srgbClr val="14B8A6"/>
          </a:solidFill>
          <a:ln/>
        </p:spPr>
      </p:sp>
      <p:sp>
        <p:nvSpPr>
          <p:cNvPr id="3" name="Text 1"/>
          <p:cNvSpPr/>
          <p:nvPr/>
        </p:nvSpPr>
        <p:spPr>
          <a:xfrm>
            <a:off x="457200" y="457200"/>
            <a:ext cx="118872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Bonus</a:t>
            </a:r>
            <a:endParaRPr lang="en-US" sz="1600" dirty="0"/>
          </a:p>
        </p:txBody>
      </p:sp>
      <p:sp>
        <p:nvSpPr>
          <p:cNvPr id="4" name="Text 2"/>
          <p:cNvSpPr/>
          <p:nvPr/>
        </p:nvSpPr>
        <p:spPr>
          <a:xfrm>
            <a:off x="1828800" y="365760"/>
            <a:ext cx="6858000" cy="731520"/>
          </a:xfrm>
          <a:prstGeom prst="rect">
            <a:avLst/>
          </a:prstGeom>
          <a:noFill/>
          <a:ln/>
        </p:spPr>
        <p:txBody>
          <a:bodyPr wrap="square" lIns="0" tIns="0" rIns="0" bIns="0" rtlCol="0" anchor="ctr"/>
          <a:lstStyle/>
          <a:p>
            <a:pPr indent="0" marL="0">
              <a:buNone/>
            </a:pPr>
            <a:r>
              <a:rPr lang="en-US" sz="2600" b="1" dirty="0">
                <a:solidFill>
                  <a:srgbClr val="0F172A"/>
                </a:solidFill>
                <a:latin typeface="Calibri" pitchFamily="34" charset="0"/>
                <a:ea typeface="Calibri" pitchFamily="34" charset="-122"/>
                <a:cs typeface="Calibri" pitchFamily="34" charset="-120"/>
              </a:rPr>
              <a:t>Reproduce on your laptop</a:t>
            </a:r>
            <a:endParaRPr lang="en-US" sz="2600" dirty="0"/>
          </a:p>
        </p:txBody>
      </p:sp>
      <p:sp>
        <p:nvSpPr>
          <p:cNvPr id="5" name="Shape 3"/>
          <p:cNvSpPr/>
          <p:nvPr/>
        </p:nvSpPr>
        <p:spPr>
          <a:xfrm>
            <a:off x="457200" y="1371600"/>
            <a:ext cx="8229600" cy="3200400"/>
          </a:xfrm>
          <a:prstGeom prst="rect">
            <a:avLst/>
          </a:prstGeom>
          <a:solidFill>
            <a:srgbClr val="0F172A"/>
          </a:solidFill>
          <a:ln/>
        </p:spPr>
      </p:sp>
      <p:sp>
        <p:nvSpPr>
          <p:cNvPr id="6" name="Text 4"/>
          <p:cNvSpPr/>
          <p:nvPr/>
        </p:nvSpPr>
        <p:spPr>
          <a:xfrm>
            <a:off x="731520" y="1508760"/>
            <a:ext cx="7680960" cy="2926080"/>
          </a:xfrm>
          <a:prstGeom prst="rect">
            <a:avLst/>
          </a:prstGeom>
          <a:noFill/>
          <a:ln/>
        </p:spPr>
        <p:txBody>
          <a:bodyPr wrap="square" rtlCol="0" anchor="ctr"/>
          <a:lstStyle/>
          <a:p>
            <a:pPr indent="0" marL="0">
              <a:buNone/>
            </a:pPr>
            <a:r>
              <a:rPr lang="en-US" sz="1300" i="1" dirty="0">
                <a:solidFill>
                  <a:srgbClr val="14B8A6"/>
                </a:solidFill>
                <a:latin typeface="Consolas" pitchFamily="34" charset="0"/>
                <a:ea typeface="Consolas" pitchFamily="34" charset="-122"/>
                <a:cs typeface="Consolas" pitchFamily="34" charset="-120"/>
              </a:rPr>
              <a:t># Prereqs</a:t>
            </a:r>
            <a:endParaRPr lang="en-US" sz="1300" dirty="0"/>
          </a:p>
          <a:p>
            <a:pPr indent="0" marL="0">
              <a:buNone/>
            </a:pPr>
            <a:r>
              <a:rPr lang="en-US" sz="1300" dirty="0">
                <a:solidFill>
                  <a:srgbClr val="F8FAFC"/>
                </a:solidFill>
                <a:latin typeface="Consolas" pitchFamily="34" charset="0"/>
                <a:ea typeface="Consolas" pitchFamily="34" charset="-122"/>
                <a:cs typeface="Consolas" pitchFamily="34" charset="-120"/>
              </a:rPr>
              <a:t>Fedora 43+ / Ubuntu 24+, podman 5.x, JDK 25 (Temurin)</a:t>
            </a:r>
            <a:endParaRPr lang="en-US" sz="1300" dirty="0"/>
          </a:p>
          <a:p>
            <a:pPr indent="0" marL="0">
              <a:buNone/>
            </a:pPr>
            <a:endParaRPr lang="en-US" sz="1300" dirty="0"/>
          </a:p>
          <a:p>
            <a:pPr indent="0" marL="0">
              <a:buNone/>
            </a:pPr>
            <a:r>
              <a:rPr lang="en-US" sz="1300" dirty="0">
                <a:solidFill>
                  <a:srgbClr val="F8FAFC"/>
                </a:solidFill>
                <a:latin typeface="Consolas" pitchFamily="34" charset="0"/>
                <a:ea typeface="Consolas" pitchFamily="34" charset="-122"/>
                <a:cs typeface="Consolas" pitchFamily="34" charset="-120"/>
              </a:rPr>
              <a:t>git clone github.com/patterncatalyst/otel-observability-demos</a:t>
            </a:r>
            <a:endParaRPr lang="en-US" sz="1300" dirty="0"/>
          </a:p>
          <a:p>
            <a:pPr indent="0" marL="0">
              <a:buNone/>
            </a:pPr>
            <a:r>
              <a:rPr lang="en-US" sz="1300" dirty="0">
                <a:solidFill>
                  <a:srgbClr val="F8FAFC"/>
                </a:solidFill>
                <a:latin typeface="Consolas" pitchFamily="34" charset="0"/>
                <a:ea typeface="Consolas" pitchFamily="34" charset="-122"/>
                <a:cs typeface="Consolas" pitchFamily="34" charset="-120"/>
              </a:rPr>
              <a:t>cd otel-observability-demos</a:t>
            </a:r>
            <a:endParaRPr lang="en-US" sz="1300" dirty="0"/>
          </a:p>
          <a:p>
            <a:pPr indent="0" marL="0">
              <a:buNone/>
            </a:pPr>
            <a:endParaRPr lang="en-US" sz="1300" dirty="0"/>
          </a:p>
          <a:p>
            <a:pPr indent="0" marL="0">
              <a:buNone/>
            </a:pPr>
            <a:r>
              <a:rPr lang="en-US" sz="1300" i="1" dirty="0">
                <a:solidFill>
                  <a:srgbClr val="14B8A6"/>
                </a:solidFill>
                <a:latin typeface="Consolas" pitchFamily="34" charset="0"/>
                <a:ea typeface="Consolas" pitchFamily="34" charset="-122"/>
                <a:cs typeface="Consolas" pitchFamily="34" charset="-120"/>
              </a:rPr>
              <a:t># Run any demo end-to-end</a:t>
            </a:r>
            <a:endParaRPr lang="en-US" sz="1300" dirty="0"/>
          </a:p>
          <a:p>
            <a:pPr indent="0" marL="0">
              <a:buNone/>
            </a:pPr>
            <a:r>
              <a:rPr lang="en-US" sz="1300" dirty="0">
                <a:solidFill>
                  <a:srgbClr val="F8FAFC"/>
                </a:solidFill>
                <a:latin typeface="Consolas" pitchFamily="34" charset="0"/>
                <a:ea typeface="Consolas" pitchFamily="34" charset="-122"/>
                <a:cs typeface="Consolas" pitchFamily="34" charset="-120"/>
              </a:rPr>
              <a:t>cd demo-01-three-signals &amp;&amp; ./demo.sh</a:t>
            </a:r>
            <a:endParaRPr lang="en-US" sz="1300" dirty="0"/>
          </a:p>
          <a:p>
            <a:pPr indent="0" marL="0">
              <a:buNone/>
            </a:pPr>
            <a:r>
              <a:rPr lang="en-US" sz="1300" dirty="0">
                <a:solidFill>
                  <a:srgbClr val="F8FAFC"/>
                </a:solidFill>
                <a:latin typeface="Consolas" pitchFamily="34" charset="0"/>
                <a:ea typeface="Consolas" pitchFamily="34" charset="-122"/>
                <a:cs typeface="Consolas" pitchFamily="34" charset="-120"/>
              </a:rPr>
              <a:t>cd demo-02-cardinality &amp;&amp; ./demo.sh</a:t>
            </a:r>
            <a:endParaRPr lang="en-US" sz="1300" dirty="0"/>
          </a:p>
          <a:p>
            <a:pPr indent="0" marL="0">
              <a:buNone/>
            </a:pPr>
            <a:r>
              <a:rPr lang="en-US" sz="1300" dirty="0">
                <a:solidFill>
                  <a:srgbClr val="F8FAFC"/>
                </a:solidFill>
                <a:latin typeface="Consolas" pitchFamily="34" charset="0"/>
                <a:ea typeface="Consolas" pitchFamily="34" charset="-122"/>
                <a:cs typeface="Consolas" pitchFamily="34" charset="-120"/>
              </a:rPr>
              <a:t>cd demo-03-tail-sampling &amp;&amp; ./demo.sh</a:t>
            </a:r>
            <a:endParaRPr lang="en-US" sz="1300" dirty="0"/>
          </a:p>
          <a:p>
            <a:pPr indent="0" marL="0">
              <a:buNone/>
            </a:pPr>
            <a:r>
              <a:rPr lang="en-US" sz="1300" dirty="0">
                <a:solidFill>
                  <a:srgbClr val="F8FAFC"/>
                </a:solidFill>
                <a:latin typeface="Consolas" pitchFamily="34" charset="0"/>
                <a:ea typeface="Consolas" pitchFamily="34" charset="-122"/>
                <a:cs typeface="Consolas" pitchFamily="34" charset="-120"/>
              </a:rPr>
              <a:t>cd demo-04-jvm-metrics-shenandoah &amp;&amp; ./demo.sh</a:t>
            </a:r>
            <a:endParaRPr lang="en-US" sz="1300" dirty="0"/>
          </a:p>
          <a:p>
            <a:pPr indent="0" marL="0">
              <a:buNone/>
            </a:pPr>
            <a:endParaRPr lang="en-US" sz="1300" dirty="0"/>
          </a:p>
          <a:p>
            <a:pPr indent="0" marL="0">
              <a:buNone/>
            </a:pPr>
            <a:r>
              <a:rPr lang="en-US" sz="1300" i="1" dirty="0">
                <a:solidFill>
                  <a:srgbClr val="14B8A6"/>
                </a:solidFill>
                <a:latin typeface="Consolas" pitchFamily="34" charset="0"/>
                <a:ea typeface="Consolas" pitchFamily="34" charset="-122"/>
                <a:cs typeface="Consolas" pitchFamily="34" charset="-120"/>
              </a:rPr>
              <a:t># The headline: 8-way cold start comparison (~10 minutes)</a:t>
            </a:r>
            <a:endParaRPr lang="en-US" sz="1300" dirty="0"/>
          </a:p>
          <a:p>
            <a:pPr indent="0" marL="0">
              <a:buNone/>
            </a:pPr>
            <a:r>
              <a:rPr lang="en-US" sz="1300" dirty="0">
                <a:solidFill>
                  <a:srgbClr val="F8FAFC"/>
                </a:solidFill>
                <a:latin typeface="Consolas" pitchFamily="34" charset="0"/>
                <a:ea typeface="Consolas" pitchFamily="34" charset="-122"/>
                <a:cs typeface="Consolas" pitchFamily="34" charset="-120"/>
              </a:rPr>
              <a:t>cd demo-05-aot-coldstart &amp;&amp; ./demo.sh time-all</a:t>
            </a:r>
            <a:endParaRPr lang="en-US" sz="1300" dirty="0"/>
          </a:p>
        </p:txBody>
      </p:sp>
      <p:sp>
        <p:nvSpPr>
          <p:cNvPr id="7" name="Text 5"/>
          <p:cNvSpPr/>
          <p:nvPr/>
        </p:nvSpPr>
        <p:spPr>
          <a:xfrm>
            <a:off x="457200" y="4754880"/>
            <a:ext cx="5486400" cy="27432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Three Signals, One Story</a:t>
            </a:r>
            <a:endParaRPr lang="en-US" sz="900" dirty="0"/>
          </a:p>
        </p:txBody>
      </p:sp>
      <p:sp>
        <p:nvSpPr>
          <p:cNvPr id="8" name="Text 6"/>
          <p:cNvSpPr/>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Three Signals, One Story</dc:title>
  <dc:subject>PptxGenJS Presentation</dc:subject>
  <dc:creator>OTel Observability Demos</dc:creator>
  <cp:lastModifiedBy>OTel Observability Demos</cp:lastModifiedBy>
  <cp:revision>1</cp:revision>
  <dcterms:created xsi:type="dcterms:W3CDTF">2026-04-30T15:14:33Z</dcterms:created>
  <dcterms:modified xsi:type="dcterms:W3CDTF">2026-04-30T15:14:33Z</dcterms:modified>
</cp:coreProperties>
</file>